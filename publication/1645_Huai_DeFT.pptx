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autoCompressPictures="0">
  <p:sldMasterIdLst>
    <p:sldMasterId id="2147483648" r:id="rId1"/>
  </p:sldMasterIdLst>
  <p:notesMasterIdLst>
    <p:notesMasterId r:id="rId53"/>
  </p:notesMasterIdLst>
  <p:sldIdLst>
    <p:sldId id="267" r:id="rId2"/>
    <p:sldId id="265" r:id="rId3"/>
    <p:sldId id="306" r:id="rId4"/>
    <p:sldId id="308" r:id="rId5"/>
    <p:sldId id="309" r:id="rId6"/>
    <p:sldId id="376" r:id="rId7"/>
    <p:sldId id="379" r:id="rId8"/>
    <p:sldId id="380" r:id="rId9"/>
    <p:sldId id="313" r:id="rId10"/>
    <p:sldId id="314" r:id="rId11"/>
    <p:sldId id="315" r:id="rId12"/>
    <p:sldId id="400" r:id="rId13"/>
    <p:sldId id="261" r:id="rId14"/>
    <p:sldId id="324" r:id="rId15"/>
    <p:sldId id="366" r:id="rId16"/>
    <p:sldId id="323" r:id="rId17"/>
    <p:sldId id="352" r:id="rId18"/>
    <p:sldId id="353" r:id="rId19"/>
    <p:sldId id="351" r:id="rId20"/>
    <p:sldId id="326" r:id="rId21"/>
    <p:sldId id="335" r:id="rId22"/>
    <p:sldId id="401" r:id="rId23"/>
    <p:sldId id="332" r:id="rId24"/>
    <p:sldId id="334" r:id="rId25"/>
    <p:sldId id="336" r:id="rId26"/>
    <p:sldId id="318" r:id="rId27"/>
    <p:sldId id="363" r:id="rId28"/>
    <p:sldId id="364" r:id="rId29"/>
    <p:sldId id="369" r:id="rId30"/>
    <p:sldId id="370" r:id="rId31"/>
    <p:sldId id="371" r:id="rId32"/>
    <p:sldId id="372" r:id="rId33"/>
    <p:sldId id="395" r:id="rId34"/>
    <p:sldId id="365" r:id="rId35"/>
    <p:sldId id="393" r:id="rId36"/>
    <p:sldId id="397" r:id="rId37"/>
    <p:sldId id="398" r:id="rId38"/>
    <p:sldId id="399" r:id="rId39"/>
    <p:sldId id="375" r:id="rId40"/>
    <p:sldId id="384" r:id="rId41"/>
    <p:sldId id="373" r:id="rId42"/>
    <p:sldId id="385" r:id="rId43"/>
    <p:sldId id="361" r:id="rId44"/>
    <p:sldId id="386" r:id="rId45"/>
    <p:sldId id="362" r:id="rId46"/>
    <p:sldId id="374" r:id="rId47"/>
    <p:sldId id="394" r:id="rId48"/>
    <p:sldId id="368" r:id="rId49"/>
    <p:sldId id="396" r:id="rId50"/>
    <p:sldId id="383" r:id="rId51"/>
    <p:sldId id="390" r:id="rId52"/>
  </p:sldIdLst>
  <p:sldSz cx="12192000" cy="6858000"/>
  <p:notesSz cx="6858000" cy="9144000"/>
  <p:embeddedFontLst>
    <p:embeddedFont>
      <p:font typeface="Berkeley Mono" pitchFamily="49" charset="77"/>
      <p:regular r:id="rId54"/>
      <p:bold r:id="rId55"/>
      <p:italic r:id="rId56"/>
      <p:boldItalic r:id="rId57"/>
    </p:embeddedFont>
    <p:embeddedFont>
      <p:font typeface="Cambria Math" panose="02040503050406030204" pitchFamily="18" charset="0"/>
      <p:regular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9ED5"/>
    <a:srgbClr val="009193"/>
    <a:srgbClr val="6492BE"/>
    <a:srgbClr val="E4A352"/>
    <a:srgbClr val="D3F8E2"/>
    <a:srgbClr val="C04F15"/>
    <a:srgbClr val="FF4635"/>
    <a:srgbClr val="E36773"/>
    <a:srgbClr val="05B0F0"/>
    <a:srgbClr val="336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3"/>
    <p:restoredTop sz="77483"/>
  </p:normalViewPr>
  <p:slideViewPr>
    <p:cSldViewPr snapToGrid="0">
      <p:cViewPr varScale="1">
        <p:scale>
          <a:sx n="97" d="100"/>
          <a:sy n="97" d="100"/>
        </p:scale>
        <p:origin x="1640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Module-Level Frame Tests</c:v>
                </c:pt>
              </c:strCache>
            </c:strRef>
          </c:tx>
          <c:spPr>
            <a:solidFill>
              <a:schemeClr val="tx1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erkeley Mono" pitchFamily="49" charset="77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Run 1</c:v>
                </c:pt>
                <c:pt idx="1">
                  <c:v>Run 2</c:v>
                </c:pt>
                <c:pt idx="2">
                  <c:v>Run 3</c:v>
                </c:pt>
                <c:pt idx="3">
                  <c:v>Run 4</c:v>
                </c:pt>
                <c:pt idx="4">
                  <c:v>Run 5</c:v>
                </c:pt>
                <c:pt idx="5">
                  <c:v>Run 6</c:v>
                </c:pt>
                <c:pt idx="6">
                  <c:v>Run 7</c:v>
                </c:pt>
                <c:pt idx="7">
                  <c:v>Run 8</c:v>
                </c:pt>
                <c:pt idx="8">
                  <c:v>Run 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658</c:v>
                </c:pt>
                <c:pt idx="1">
                  <c:v>658</c:v>
                </c:pt>
                <c:pt idx="2">
                  <c:v>658</c:v>
                </c:pt>
                <c:pt idx="3">
                  <c:v>658</c:v>
                </c:pt>
                <c:pt idx="4">
                  <c:v>658</c:v>
                </c:pt>
                <c:pt idx="5">
                  <c:v>658</c:v>
                </c:pt>
                <c:pt idx="6">
                  <c:v>658</c:v>
                </c:pt>
                <c:pt idx="7">
                  <c:v>658</c:v>
                </c:pt>
                <c:pt idx="8">
                  <c:v>658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77-834A-A151-4A8E2BF09F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System-Level Scenario Tests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erkeley Mono" pitchFamily="49" charset="77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Run 1</c:v>
                </c:pt>
                <c:pt idx="1">
                  <c:v>Run 2</c:v>
                </c:pt>
                <c:pt idx="2">
                  <c:v>Run 3</c:v>
                </c:pt>
                <c:pt idx="3">
                  <c:v>Run 4</c:v>
                </c:pt>
                <c:pt idx="4">
                  <c:v>Run 5</c:v>
                </c:pt>
                <c:pt idx="5">
                  <c:v>Run 6</c:v>
                </c:pt>
                <c:pt idx="6">
                  <c:v>Run 7</c:v>
                </c:pt>
                <c:pt idx="7">
                  <c:v>Run 8</c:v>
                </c:pt>
                <c:pt idx="8">
                  <c:v>Run 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564</c:v>
                </c:pt>
                <c:pt idx="1">
                  <c:v>598</c:v>
                </c:pt>
                <c:pt idx="2">
                  <c:v>589</c:v>
                </c:pt>
                <c:pt idx="3">
                  <c:v>593</c:v>
                </c:pt>
                <c:pt idx="4">
                  <c:v>589</c:v>
                </c:pt>
                <c:pt idx="5">
                  <c:v>582</c:v>
                </c:pt>
                <c:pt idx="6">
                  <c:v>579</c:v>
                </c:pt>
                <c:pt idx="7">
                  <c:v>576</c:v>
                </c:pt>
                <c:pt idx="8">
                  <c:v>570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77-834A-A151-4A8E2BF09F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1168383"/>
        <c:axId val="1006000543"/>
      </c:barChart>
      <c:catAx>
        <c:axId val="781168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erkeley Mono" pitchFamily="49" charset="77"/>
                <a:ea typeface="+mn-ea"/>
                <a:cs typeface="+mn-cs"/>
              </a:defRPr>
            </a:pPr>
            <a:endParaRPr lang="en-US"/>
          </a:p>
        </c:txPr>
        <c:crossAx val="1006000543"/>
        <c:crosses val="autoZero"/>
        <c:auto val="1"/>
        <c:lblAlgn val="ctr"/>
        <c:lblOffset val="100"/>
        <c:noMultiLvlLbl val="0"/>
      </c:catAx>
      <c:valAx>
        <c:axId val="1006000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erkeley Mono" pitchFamily="49" charset="77"/>
                <a:ea typeface="+mn-ea"/>
                <a:cs typeface="+mn-cs"/>
              </a:defRPr>
            </a:pPr>
            <a:endParaRPr lang="en-US"/>
          </a:p>
        </c:txPr>
        <c:crossAx val="781168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erkeley Mono" pitchFamily="49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8CF1CA-6B27-8F42-A9EC-E22EA0750A6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E3426-681F-0D4A-BB8E-5D266ABA2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3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understand if non-determinism persists across other test scenarios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78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research suggests that flaky tests reduce the reliability of scenario-based testing.</a:t>
            </a:r>
            <a:br>
              <a:rPr lang="en-US" dirty="0"/>
            </a:br>
            <a:r>
              <a:rPr lang="en-US" dirty="0"/>
              <a:t>There’s also survey evidence showing that developers choose to ignore flaky tests, especially when the flakiness rate is low.</a:t>
            </a:r>
          </a:p>
          <a:p>
            <a:r>
              <a:rPr lang="en-US" dirty="0"/>
              <a:t>However, other work frames ADS testing as a </a:t>
            </a:r>
            <a:r>
              <a:rPr lang="en-US" i="1" dirty="0"/>
              <a:t>long-tail problem</a:t>
            </a:r>
            <a:r>
              <a:rPr lang="en-US" dirty="0"/>
              <a:t>—where the goal is to uncover rare but meaningful edge cases.</a:t>
            </a:r>
          </a:p>
          <a:p>
            <a:r>
              <a:rPr lang="en-US" dirty="0"/>
              <a:t>So, the question becomes, after all the effort spent finding these edge cases, are we now ignoring them simply because they appear rare in simulation?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81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2C988-CF20-A8F3-5079-642BCD2A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401222-C72A-F147-F01F-1BAA77C5A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133C7-5183-8659-B5AC-66037AA23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63F4E-606C-0B08-6A06-24478BCF6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97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2233E-6709-FAB5-CF3E-61E92A6E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03AF7-A926-3AF5-E13D-B207D157C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71676-ACB6-421F-D2F1-51CB539EB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86871-320E-D1DB-7F5D-E02640C3C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79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74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90AAE-95D7-D7C9-EE67-5856D9BB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349CC-E011-9054-AD18-FC8C9BC09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EF035-EC1D-7D76-00B1-F4E1F244F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D508F-CF67-1AC6-356C-8F381C754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1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791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31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89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BB127-8DC1-9822-4D71-FAA57B2FC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A60D0-2630-5293-AC11-ED5E661C7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D3A97-9F9F-5AE2-C6B1-22034FD5B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Berkeley Mono" pitchFamily="49" charset="77"/>
              </a:rPr>
              <a:t>Each planning module execution observed during simulation can be mapped to a single frame-based test case, effectively reverse engineering the planning module’s behavior into discrete, frame-level representations.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B9225-C16A-F498-43DA-AF68B5BA3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548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98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61FAD-C6E2-16B1-A695-16FAD8982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A455A-5765-7B46-AAC8-956280ABF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E4444-B361-B82C-895C-F6ED61324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CE098-C682-02EC-BA9E-C1E01F74D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96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65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7F6F1-CFAB-7E7B-DD11-43DF2079E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5A85C-FC97-8372-B01C-2EB69B4D0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E38D1-C6E9-39D1-AC59-E6484E90B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8D582-BD22-A09B-2D2F-316027E36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94819-B4CE-2301-DCB2-35B797B71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871A5-6C2D-13F3-BD9A-8E6B57DD6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46F3AE-040F-AA78-785B-190D1B3FE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72F03-AB6D-824C-6294-117BC4AF9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199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574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causes of remaining non-reproduced</a:t>
            </a:r>
          </a:p>
          <a:p>
            <a:r>
              <a:rPr lang="en-US" dirty="0"/>
              <a:t>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30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BBB38-C7FC-397A-C333-2613961B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F801E-5282-C9E9-E239-8148168D3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06EEA-B2F2-2CF9-31B3-19CA0DFEF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reproducibility 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302B4-BEC3-BFDE-6D1C-C399E0EB0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505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reproducibility 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650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991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02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547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5DCAA-EBE0-4821-C136-E69FCCEA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51E64-B082-2F82-0B52-6786A5942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CAAF7-6255-D655-CE8A-F4C94D400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15540-DAB9-B505-A86D-962F8CCF4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537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8EDB1-4067-1235-5A38-43413D714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E87F3-5F29-8C24-6CF5-0F720FF9D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E36AB-7C27-A71F-A4FC-417A3DB00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7A44C-BE59-F9F7-09DC-C1B968BBA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35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B9031-0AC9-1817-ECAF-5487350A4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986DA-7663-A861-939C-E93DAAC8A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C7ADE-4339-D768-65EA-15EBBDE41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42C48-79EA-4279-F3C5-7D600DDED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800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359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86A2B-F1D4-0F2D-F6DE-0A36849F8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F02BF-FDFF-3D28-AEF5-AB9B6C193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74D67-467F-8AF2-5CE6-6E1B7C45C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B4849-2DB8-0B3E-DE2D-96CE737A8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E3426-681F-0D4A-BB8E-5D266ABA2E7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88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642A-4600-24E1-FDD4-1CD005B3E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2B53C-BEE1-8C1A-E60C-CCBA39514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0924A-612E-7142-921B-F4188AE8E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E36BF-E89E-9343-8D74-47D71BF53ED2}" type="datetime1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8F30C-3BA0-5A1D-ED26-CD9408869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AF5EC-CE47-04FC-DEF1-A2BCBAC1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1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B49-EEAF-8AD5-47AC-D449DBE8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565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9413B-9649-AA11-C5FA-BC41245BB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95D30-09D4-3546-DEFB-407E5B351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4835-15DD-6D45-A0F7-01F719BE6ABF}" type="datetime1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054AD-0CF5-BF54-7B28-01DADC3B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D1C80-40B2-A1C6-DCF0-2B436980D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69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9DED2-3087-49AB-78B4-A5DC3CB63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709738"/>
            <a:ext cx="1182624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16D6E-A253-C768-D4E5-B5E8B40EC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4589463"/>
            <a:ext cx="1182624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6179-ECBD-F1F5-0C28-CEBDA1F4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FD8D-CC92-A144-B2F9-E92AC9910CD5}" type="datetime1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AB5CC-6930-F390-0980-BD543605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7A75C-E443-B8FF-833E-FE5018ED0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2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8200F-0092-A045-5AD6-E41F60F32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DF656-3B07-53D2-A17C-7D6C9BB2A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2880" y="1825625"/>
            <a:ext cx="583692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FEC05-60E2-8A0D-7841-3D7FBB772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36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52E43-A7CA-3755-A96F-FCF5DA8A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031C3-2771-C84F-8329-B14F3CE95026}" type="datetime1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FBF70-E8C3-DE07-1CAE-B0F8782B5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87DEF-9F23-9D66-ACD5-088504E7E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0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4AA4D-BB6A-94DC-E999-12ADC19E8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82880"/>
            <a:ext cx="1182624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8309E-9CD8-E414-1632-20DC42657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575594"/>
            <a:ext cx="581469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9C457-1439-870A-F8BE-E6F86D99E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2880" y="2399506"/>
            <a:ext cx="5814695" cy="37901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59054-85B1-1382-CB67-8D8B589AE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75594"/>
            <a:ext cx="5836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AC5D1A-67F9-63D8-3A3E-9B896025A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99506"/>
            <a:ext cx="5836920" cy="37901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4C5C26-780D-84DC-3DE2-AAD3C1F63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9A1B-4ED6-8B48-B59B-57BBD701E5CA}" type="datetime1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B18B98-5A00-1F6D-7516-E14EAEF33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FB0FF-BE04-4966-A192-3766F3C1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48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6025-97F9-FEED-C79C-0BBB595C7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565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7C8861-C8D5-7277-749C-DA300A37B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84F11-1961-3B47-81BD-D9B091620FBB}" type="datetime1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502BA-C0EF-E1C7-69C8-5955A962E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36AA2E-52E0-FA9F-488E-916C434A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87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28531C-6006-0D55-D718-AA962B68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B7C4-C743-CB4C-9F5F-4D7103DE3780}" type="datetime1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AECFE-CEA5-F62F-1437-FA998E60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CDB86-61B8-7E06-3FAE-4232CD2F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32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ADD83-A279-0889-6779-762253D9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82880"/>
            <a:ext cx="458596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1DD17-4270-40EC-FAAC-2F4F574EC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82881"/>
            <a:ext cx="6172200" cy="56781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68509-BA48-19B6-0A8E-EB4CA7843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2880" y="1965960"/>
            <a:ext cx="4589145" cy="390302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FC2D7-2F9A-161A-686B-B1011D523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AE700-29A4-B547-88B9-6AD3ED22E151}" type="datetime1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0C003-C3E8-4507-F69C-A0496E20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D35A5-9562-4062-7CCD-207E4DE6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19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1093-A806-A544-ED16-1884258F3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87325"/>
            <a:ext cx="458914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84BEE4-5493-2E00-3036-E3C3765004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82881"/>
            <a:ext cx="6825932" cy="56781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4753D-F323-9BA2-CCFC-2CD15602A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2880" y="1970405"/>
            <a:ext cx="4589145" cy="389858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4879D-2241-4864-72C5-590781AC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27983-4101-384F-9321-C62584F7B3F8}" type="datetime1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44E04-29E0-3321-D885-21309F39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814A8-FDA0-427F-CA85-C797511A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38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7B42C-E718-1DB3-1266-9D77BB13D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565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05176-4602-F332-23AA-BAF13268B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382D7-CE4E-AB84-B349-9819CF259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03FB-1E2D-3E4C-8A4F-B9FA289F1C49}" type="datetime1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6F742-9BEA-CA8B-E1E6-BC350DF4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BD6E4-EA56-4B59-0E14-9E0D549FA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B5E5B2-2574-7D60-3DB9-D0D2161A4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F8B07C-3CF4-68EE-2479-D3BDBBC41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3FAB7-9C50-BA42-7E58-F55C60AD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E31F-63B7-A64F-AF27-325468FA40F9}" type="datetime1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2E9A8-8B96-AE22-CA70-25E0EACE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4CFDE-B33C-F2F3-4405-1AD9C201E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DC7C45-191D-1B92-3A91-C354D6B9F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56529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71A9C-B395-C507-16FF-F1C09AAC9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825625"/>
            <a:ext cx="118262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5274B-0B72-5ED4-C7F0-9CC66F853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28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Berkeley Mono" pitchFamily="49" charset="77"/>
              </a:defRPr>
            </a:lvl1pPr>
          </a:lstStyle>
          <a:p>
            <a:fld id="{4FBE2216-7843-6341-B936-89555C715D8B}" type="datetime1">
              <a:rPr lang="en-US" smtClean="0"/>
              <a:t>4/15/26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C44BC-41C7-6C4C-B8A1-CBF0A03D5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Berkeley Mono" pitchFamily="49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CE59D-1919-121F-C69F-61F18E44A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592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Berkeley Mono" pitchFamily="49" charset="77"/>
              </a:defRPr>
            </a:lvl1pPr>
          </a:lstStyle>
          <a:p>
            <a:fld id="{38F855C4-D458-A544-894F-A9CF082132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896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bg1"/>
          </a:solidFill>
          <a:latin typeface="Berkeley Mono" pitchFamily="49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erkeley Mono" pitchFamily="49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erkeley Mono" pitchFamily="49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erkeley Mono" pitchFamily="49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erkeley Mono" pitchFamily="49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erkeley Mono" pitchFamily="49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6148A-454A-75D4-DB97-9EF57FCC8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345F3-B414-733D-7C10-39882235D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dirty="0"/>
              <a:t>Deterministic Frame-based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41F07-328D-9656-3CCB-8642CF0DC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4589463"/>
            <a:ext cx="11826240" cy="755473"/>
          </a:xfrm>
        </p:spPr>
        <p:txBody>
          <a:bodyPr lIns="0" tIns="0" rIns="0" bIns="0"/>
          <a:lstStyle/>
          <a:p>
            <a:r>
              <a:rPr lang="en-US" dirty="0"/>
              <a:t>Maintaining determinism and extracting module-tests for autonomous driving planning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D33E0-633A-9846-9558-5CE71D71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0</a:t>
            </a:fld>
            <a:endParaRPr lang="en-US"/>
          </a:p>
        </p:txBody>
      </p:sp>
      <p:pic>
        <p:nvPicPr>
          <p:cNvPr id="5" name="Picture 16" descr="Profile photo for Yuqi Huai">
            <a:extLst>
              <a:ext uri="{FF2B5EF4-FFF2-40B4-BE49-F238E27FC236}">
                <a16:creationId xmlns:a16="http://schemas.microsoft.com/office/drawing/2014/main" id="{2BCC7970-7FFA-C7DC-682D-5584419F5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57" y="5593133"/>
            <a:ext cx="228600" cy="22860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1CB165-296D-6859-AB14-A6A9AB6CF259}"/>
              </a:ext>
            </a:extLst>
          </p:cNvPr>
          <p:cNvSpPr txBox="1"/>
          <p:nvPr/>
        </p:nvSpPr>
        <p:spPr>
          <a:xfrm>
            <a:off x="422057" y="5593133"/>
            <a:ext cx="8771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Yuqi Huai</a:t>
            </a:r>
          </a:p>
        </p:txBody>
      </p:sp>
      <p:pic>
        <p:nvPicPr>
          <p:cNvPr id="7" name="Picture 2" descr="Profile photo for Yuntianyi Chen">
            <a:extLst>
              <a:ext uri="{FF2B5EF4-FFF2-40B4-BE49-F238E27FC236}">
                <a16:creationId xmlns:a16="http://schemas.microsoft.com/office/drawing/2014/main" id="{A1BD77BA-3EF6-4199-50F0-AC2E73EC8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220" y="5593133"/>
            <a:ext cx="228600" cy="2286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0DD5E0-5AA5-7379-3E37-32E55C890401}"/>
              </a:ext>
            </a:extLst>
          </p:cNvPr>
          <p:cNvSpPr txBox="1"/>
          <p:nvPr/>
        </p:nvSpPr>
        <p:spPr>
          <a:xfrm>
            <a:off x="1538397" y="5593133"/>
            <a:ext cx="12618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Berkeley Mono" pitchFamily="49" charset="77"/>
              </a:rPr>
              <a:t>Yuntianyi</a:t>
            </a:r>
            <a:r>
              <a:rPr lang="en-US" sz="1000" dirty="0">
                <a:latin typeface="Berkeley Mono" pitchFamily="49" charset="77"/>
              </a:rPr>
              <a:t> Chen</a:t>
            </a:r>
          </a:p>
        </p:txBody>
      </p:sp>
      <p:pic>
        <p:nvPicPr>
          <p:cNvPr id="15" name="Picture 10">
            <a:extLst>
              <a:ext uri="{FF2B5EF4-FFF2-40B4-BE49-F238E27FC236}">
                <a16:creationId xmlns:a16="http://schemas.microsoft.com/office/drawing/2014/main" id="{F32862C5-1E3F-6B07-47C1-0E6E81924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858" y="5593133"/>
            <a:ext cx="228600" cy="2286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A75F52D-2FA1-3E17-023B-21ACC87BAC68}"/>
              </a:ext>
            </a:extLst>
          </p:cNvPr>
          <p:cNvSpPr txBox="1"/>
          <p:nvPr/>
        </p:nvSpPr>
        <p:spPr>
          <a:xfrm>
            <a:off x="3039458" y="5593133"/>
            <a:ext cx="8771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Berkeley Mono" pitchFamily="49" charset="77"/>
              </a:rPr>
              <a:t>Ziwen</a:t>
            </a:r>
            <a:r>
              <a:rPr lang="en-US" sz="1000" dirty="0">
                <a:latin typeface="Berkeley Mono" pitchFamily="49" charset="77"/>
              </a:rPr>
              <a:t> Wan</a:t>
            </a:r>
          </a:p>
        </p:txBody>
      </p:sp>
      <p:pic>
        <p:nvPicPr>
          <p:cNvPr id="17" name="Picture 2" descr="Profile photo for Josh">
            <a:extLst>
              <a:ext uri="{FF2B5EF4-FFF2-40B4-BE49-F238E27FC236}">
                <a16:creationId xmlns:a16="http://schemas.microsoft.com/office/drawing/2014/main" id="{652C1649-C19C-ADFE-F079-5468A53AF9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8" t="6253" r="8315" b="15492"/>
          <a:stretch>
            <a:fillRect/>
          </a:stretch>
        </p:blipFill>
        <p:spPr bwMode="auto">
          <a:xfrm>
            <a:off x="5428259" y="559313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D62D6353-32D9-873F-DD5C-98DFE931BC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1" t="8400" r="10042" b="9386"/>
          <a:stretch>
            <a:fillRect/>
          </a:stretch>
        </p:blipFill>
        <p:spPr bwMode="auto">
          <a:xfrm>
            <a:off x="3927198" y="559313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FA75A4-4AF2-5D50-C7BF-A74449298F9E}"/>
              </a:ext>
            </a:extLst>
          </p:cNvPr>
          <p:cNvSpPr txBox="1"/>
          <p:nvPr/>
        </p:nvSpPr>
        <p:spPr>
          <a:xfrm>
            <a:off x="5672538" y="5593133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Joshua Garcia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601677-FCDE-6E64-23C5-E16C66C01411}"/>
              </a:ext>
            </a:extLst>
          </p:cNvPr>
          <p:cNvSpPr txBox="1"/>
          <p:nvPr/>
        </p:nvSpPr>
        <p:spPr>
          <a:xfrm>
            <a:off x="4166375" y="5593133"/>
            <a:ext cx="12618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Qi Alfred Chen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7CCC1C2-D971-1560-6D3F-9998120CDD1B}"/>
              </a:ext>
            </a:extLst>
          </p:cNvPr>
          <p:cNvSpPr txBox="1">
            <a:spLocks/>
          </p:cNvSpPr>
          <p:nvPr/>
        </p:nvSpPr>
        <p:spPr>
          <a:xfrm>
            <a:off x="7391400" y="0"/>
            <a:ext cx="4800600" cy="9144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Berkeley Mono" pitchFamily="49" charset="77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2" name="Picture 2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E3DF3367-3FE5-C961-5E92-DA2A02591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9836" y="22860"/>
            <a:ext cx="4763729" cy="8686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5C35382-6D23-06C3-007A-43F615A552E5}"/>
              </a:ext>
            </a:extLst>
          </p:cNvPr>
          <p:cNvSpPr txBox="1"/>
          <p:nvPr/>
        </p:nvSpPr>
        <p:spPr>
          <a:xfrm>
            <a:off x="182880" y="6043811"/>
            <a:ext cx="8771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ICSE 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477EAC-68BD-5F50-EF5D-D6C1FC6C28C6}"/>
              </a:ext>
            </a:extLst>
          </p:cNvPr>
          <p:cNvSpPr txBox="1"/>
          <p:nvPr/>
        </p:nvSpPr>
        <p:spPr>
          <a:xfrm>
            <a:off x="1060043" y="6043810"/>
            <a:ext cx="1261884" cy="24622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Research Track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8E36E8-3E72-7C08-C201-E205F7140A01}"/>
              </a:ext>
            </a:extLst>
          </p:cNvPr>
          <p:cNvSpPr txBox="1"/>
          <p:nvPr/>
        </p:nvSpPr>
        <p:spPr>
          <a:xfrm>
            <a:off x="2412401" y="6043810"/>
            <a:ext cx="8771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Paper DOI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BFC855-9A45-58A5-3924-DAD5F2694C3B}"/>
              </a:ext>
            </a:extLst>
          </p:cNvPr>
          <p:cNvSpPr txBox="1"/>
          <p:nvPr/>
        </p:nvSpPr>
        <p:spPr>
          <a:xfrm>
            <a:off x="3289564" y="6043809"/>
            <a:ext cx="1954381" cy="24622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10.1145/3744916.3773252</a:t>
            </a:r>
          </a:p>
        </p:txBody>
      </p:sp>
    </p:spTree>
    <p:extLst>
      <p:ext uri="{BB962C8B-B14F-4D97-AF65-F5344CB8AC3E}">
        <p14:creationId xmlns:p14="http://schemas.microsoft.com/office/powerpoint/2010/main" val="89719510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B7980-E81D-A4F7-4F25-1AC464ED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// Motivation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18771-F048-9D9B-5017-57607157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4BE8E-7DDA-476B-8173-EC64383B2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25559"/>
            <a:ext cx="2949525" cy="42473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B578AF-9FE8-9D93-0DE1-646E85830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79" y="1325557"/>
            <a:ext cx="2949524" cy="42473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A44C4E-A15D-3CBD-5CA6-F99CD8769E9C}"/>
              </a:ext>
            </a:extLst>
          </p:cNvPr>
          <p:cNvSpPr txBox="1"/>
          <p:nvPr/>
        </p:nvSpPr>
        <p:spPr>
          <a:xfrm>
            <a:off x="163124" y="1325558"/>
            <a:ext cx="5455477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“Types of automated technologies, such as advanced driver assistance system technologies already in use on the roads and future automated driving systems at their mature state, have the potential to </a:t>
            </a:r>
            <a:r>
              <a:rPr lang="en-US" sz="2500" b="1" u="sng" dirty="0">
                <a:latin typeface="Berkeley Mono" pitchFamily="49" charset="77"/>
              </a:rPr>
              <a:t>reduce crashes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2500" b="1" u="sng" dirty="0">
                <a:latin typeface="Berkeley Mono" pitchFamily="49" charset="77"/>
              </a:rPr>
              <a:t>prevent injuries</a:t>
            </a:r>
            <a:r>
              <a:rPr lang="en-US" sz="1500" dirty="0">
                <a:latin typeface="Berkeley Mono" pitchFamily="49" charset="77"/>
              </a:rPr>
              <a:t>, and </a:t>
            </a:r>
            <a:r>
              <a:rPr lang="en-US" sz="2500" b="1" u="sng" dirty="0">
                <a:latin typeface="Berkeley Mono" pitchFamily="49" charset="77"/>
              </a:rPr>
              <a:t>save lives</a:t>
            </a:r>
            <a:r>
              <a:rPr lang="en-US" sz="1500" dirty="0">
                <a:latin typeface="Berkeley Mono" pitchFamily="49" charset="77"/>
              </a:rPr>
              <a:t>. In some circumstances, automated technologies may be able to </a:t>
            </a:r>
            <a:r>
              <a:rPr lang="en-US" sz="2500" b="1" u="sng" dirty="0">
                <a:latin typeface="Berkeley Mono" pitchFamily="49" charset="77"/>
              </a:rPr>
              <a:t>detect the threat of a crash and act faster than drivers</a:t>
            </a:r>
            <a:r>
              <a:rPr lang="en-US" sz="1500" dirty="0">
                <a:latin typeface="Berkeley Mono" pitchFamily="49" charset="77"/>
              </a:rPr>
              <a:t>. These technologies could greatly support drivers and reduce human errors and the resulting crashes, injuries, and economic tolls.”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0DB82E-914E-6805-6D4D-1054735E081A}"/>
              </a:ext>
            </a:extLst>
          </p:cNvPr>
          <p:cNvSpPr txBox="1"/>
          <p:nvPr/>
        </p:nvSpPr>
        <p:spPr>
          <a:xfrm>
            <a:off x="163125" y="771560"/>
            <a:ext cx="5455476" cy="55399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The National Highway Traffic Safety Administration (NHTSA)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B3364D-5770-97FE-EF15-5AD182D1E881}"/>
              </a:ext>
            </a:extLst>
          </p:cNvPr>
          <p:cNvSpPr txBox="1"/>
          <p:nvPr/>
        </p:nvSpPr>
        <p:spPr>
          <a:xfrm>
            <a:off x="6096000" y="771558"/>
            <a:ext cx="5932877" cy="5539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In reality ...</a:t>
            </a:r>
            <a:br>
              <a:rPr lang="en-US" sz="1500" dirty="0">
                <a:solidFill>
                  <a:schemeClr val="bg1"/>
                </a:solidFill>
                <a:latin typeface="Berkeley Mono" pitchFamily="49" charset="77"/>
              </a:rPr>
            </a:b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CFE6B4-CF6F-4AB8-F790-1F9349047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957" y="1325556"/>
            <a:ext cx="2951525" cy="42473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5BAC51-6C77-5D33-6CB0-B6AB8A2BDC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0437" y="1325556"/>
            <a:ext cx="2951525" cy="424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963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74C5C-6808-962E-9E63-D44955BB9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015543-65D9-D39E-5FF9-8C957617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2</a:t>
            </a:fld>
            <a:endParaRPr lang="en-US"/>
          </a:p>
        </p:txBody>
      </p:sp>
      <p:pic>
        <p:nvPicPr>
          <p:cNvPr id="4" name="dt_g26s6_trimmed">
            <a:hlinkClick r:id="" action="ppaction://media"/>
            <a:extLst>
              <a:ext uri="{FF2B5EF4-FFF2-40B4-BE49-F238E27FC236}">
                <a16:creationId xmlns:a16="http://schemas.microsoft.com/office/drawing/2014/main" id="{C01BEE5E-0C12-5347-0A80-9D2E0338291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463906"/>
            <a:ext cx="8275320" cy="639409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72FC75-C88B-50FF-6158-EB76C9183359}"/>
              </a:ext>
            </a:extLst>
          </p:cNvPr>
          <p:cNvSpPr>
            <a:spLocks noChangeAspect="1"/>
          </p:cNvSpPr>
          <p:nvPr/>
        </p:nvSpPr>
        <p:spPr>
          <a:xfrm>
            <a:off x="3672840" y="3124200"/>
            <a:ext cx="1371600" cy="1371600"/>
          </a:xfrm>
          <a:prstGeom prst="rect">
            <a:avLst/>
          </a:prstGeom>
          <a:noFill/>
          <a:ln w="38100">
            <a:solidFill>
              <a:srgbClr val="FF46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6D6E77-0FA3-83A7-FD5C-15D4496D800A}"/>
              </a:ext>
            </a:extLst>
          </p:cNvPr>
          <p:cNvSpPr txBox="1"/>
          <p:nvPr/>
        </p:nvSpPr>
        <p:spPr>
          <a:xfrm>
            <a:off x="8361224" y="634997"/>
            <a:ext cx="3724096" cy="400110"/>
          </a:xfrm>
          <a:prstGeom prst="rect">
            <a:avLst/>
          </a:prstGeom>
          <a:solidFill>
            <a:srgbClr val="FF4635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Bug Revealing Scenario!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ADB7E4-B710-9379-4310-35F0EF5DECC3}"/>
              </a:ext>
            </a:extLst>
          </p:cNvPr>
          <p:cNvSpPr txBox="1"/>
          <p:nvPr/>
        </p:nvSpPr>
        <p:spPr>
          <a:xfrm>
            <a:off x="9207609" y="2633863"/>
            <a:ext cx="203132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Berkeley Mono" pitchFamily="49" charset="77"/>
              </a:rPr>
              <a:t>20%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56662B-4736-3BEC-5222-E80ACECC9AA0}"/>
              </a:ext>
            </a:extLst>
          </p:cNvPr>
          <p:cNvSpPr txBox="1"/>
          <p:nvPr/>
        </p:nvSpPr>
        <p:spPr>
          <a:xfrm>
            <a:off x="8929568" y="3957302"/>
            <a:ext cx="28007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REPRODUCTION RATE</a:t>
            </a:r>
          </a:p>
        </p:txBody>
      </p:sp>
    </p:spTree>
    <p:extLst>
      <p:ext uri="{BB962C8B-B14F-4D97-AF65-F5344CB8AC3E}">
        <p14:creationId xmlns:p14="http://schemas.microsoft.com/office/powerpoint/2010/main" val="37054175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1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830E6-3F7B-75C4-B4E6-4A74214FF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AA7048-C8F8-DA43-6DC9-3E2AB8C3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464560-F8AB-62C0-8250-39CBA8901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60" y="1653838"/>
            <a:ext cx="2470522" cy="4702512"/>
          </a:xfrm>
          <a:prstGeom prst="rect">
            <a:avLst/>
          </a:prstGeom>
        </p:spPr>
      </p:pic>
      <p:pic>
        <p:nvPicPr>
          <p:cNvPr id="7" name="Picture 6" descr="A screenshot of a game&#10;&#10;AI-generated content may be incorrect.">
            <a:extLst>
              <a:ext uri="{FF2B5EF4-FFF2-40B4-BE49-F238E27FC236}">
                <a16:creationId xmlns:a16="http://schemas.microsoft.com/office/drawing/2014/main" id="{215FBCA6-B6D0-644A-5E93-EBB306F3D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297" y="1653835"/>
            <a:ext cx="2470521" cy="4702509"/>
          </a:xfrm>
          <a:prstGeom prst="rect">
            <a:avLst/>
          </a:prstGeom>
        </p:spPr>
      </p:pic>
      <p:pic>
        <p:nvPicPr>
          <p:cNvPr id="9" name="Picture 8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7D78C39-D931-1027-A637-915335A78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933" y="1653835"/>
            <a:ext cx="2470520" cy="4702507"/>
          </a:xfrm>
          <a:prstGeom prst="rect">
            <a:avLst/>
          </a:prstGeom>
        </p:spPr>
      </p:pic>
      <p:pic>
        <p:nvPicPr>
          <p:cNvPr id="13" name="Picture 12" descr="A screenshot of a game&#10;&#10;AI-generated content may be incorrect.">
            <a:extLst>
              <a:ext uri="{FF2B5EF4-FFF2-40B4-BE49-F238E27FC236}">
                <a16:creationId xmlns:a16="http://schemas.microsoft.com/office/drawing/2014/main" id="{7E1034B4-50AF-3196-8CE1-3866862EC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5920" y="1653834"/>
            <a:ext cx="2470520" cy="47025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3B2884C-7C33-0C0E-BF32-B41197D428B5}"/>
              </a:ext>
            </a:extLst>
          </p:cNvPr>
          <p:cNvSpPr txBox="1"/>
          <p:nvPr/>
        </p:nvSpPr>
        <p:spPr>
          <a:xfrm>
            <a:off x="506660" y="1073608"/>
            <a:ext cx="4801314" cy="400110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Failing Test Executions (4/20)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BF1F51-3B52-36A4-A985-36C8A5043115}"/>
              </a:ext>
            </a:extLst>
          </p:cNvPr>
          <p:cNvSpPr txBox="1"/>
          <p:nvPr/>
        </p:nvSpPr>
        <p:spPr>
          <a:xfrm>
            <a:off x="3028986" y="3805036"/>
            <a:ext cx="338554" cy="4001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8749C5-DC13-CC58-85F2-3F04CE6E37A0}"/>
              </a:ext>
            </a:extLst>
          </p:cNvPr>
          <p:cNvSpPr txBox="1"/>
          <p:nvPr/>
        </p:nvSpPr>
        <p:spPr>
          <a:xfrm>
            <a:off x="5952274" y="3820954"/>
            <a:ext cx="338554" cy="4001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AB783A-462D-7375-2D39-B4E2AB058E20}"/>
              </a:ext>
            </a:extLst>
          </p:cNvPr>
          <p:cNvSpPr txBox="1"/>
          <p:nvPr/>
        </p:nvSpPr>
        <p:spPr>
          <a:xfrm>
            <a:off x="8867558" y="3820954"/>
            <a:ext cx="338554" cy="4001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1B6A97-D578-478F-099A-3C747719C9DA}"/>
              </a:ext>
            </a:extLst>
          </p:cNvPr>
          <p:cNvSpPr txBox="1"/>
          <p:nvPr/>
        </p:nvSpPr>
        <p:spPr>
          <a:xfrm>
            <a:off x="5467366" y="1073608"/>
            <a:ext cx="4339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Berkeley Mono" pitchFamily="49" charset="77"/>
              </a:rPr>
              <a:t>AV</a:t>
            </a:r>
            <a:r>
              <a:rPr lang="en-US" sz="2000" dirty="0">
                <a:latin typeface="Berkeley Mono" pitchFamily="49" charset="77"/>
              </a:rPr>
              <a:t> Cuts off </a:t>
            </a:r>
            <a:r>
              <a:rPr lang="en-US" sz="2000" b="1" dirty="0">
                <a:solidFill>
                  <a:srgbClr val="00B050"/>
                </a:solidFill>
                <a:latin typeface="Berkeley Mono" pitchFamily="49" charset="77"/>
              </a:rPr>
              <a:t>another vehicle</a:t>
            </a:r>
          </a:p>
        </p:txBody>
      </p:sp>
    </p:spTree>
    <p:extLst>
      <p:ext uri="{BB962C8B-B14F-4D97-AF65-F5344CB8AC3E}">
        <p14:creationId xmlns:p14="http://schemas.microsoft.com/office/powerpoint/2010/main" val="402097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0544E-DE09-1736-08A7-B64AB373C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9F42-14D3-46D8-58F9-348FBDFF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FD4101-AAAB-C147-933D-17336C8D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5E3FA-A2D9-B728-9839-4C85AAEDD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61" y="1319636"/>
            <a:ext cx="480391" cy="914400"/>
          </a:xfrm>
          <a:prstGeom prst="rect">
            <a:avLst/>
          </a:prstGeom>
        </p:spPr>
      </p:pic>
      <p:pic>
        <p:nvPicPr>
          <p:cNvPr id="6" name="Picture 5" descr="A screenshot of a game&#10;&#10;AI-generated content may be incorrect.">
            <a:extLst>
              <a:ext uri="{FF2B5EF4-FFF2-40B4-BE49-F238E27FC236}">
                <a16:creationId xmlns:a16="http://schemas.microsoft.com/office/drawing/2014/main" id="{10C9CB07-93F0-86F0-4975-C3BE4A10A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83" y="1318124"/>
            <a:ext cx="480391" cy="914400"/>
          </a:xfrm>
          <a:prstGeom prst="rect">
            <a:avLst/>
          </a:prstGeom>
        </p:spPr>
      </p:pic>
      <p:pic>
        <p:nvPicPr>
          <p:cNvPr id="8" name="Picture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281247C-389A-F798-C593-B8ED327926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905" y="1318124"/>
            <a:ext cx="480391" cy="914400"/>
          </a:xfrm>
          <a:prstGeom prst="rect">
            <a:avLst/>
          </a:prstGeom>
        </p:spPr>
      </p:pic>
      <p:pic>
        <p:nvPicPr>
          <p:cNvPr id="10" name="Picture 9" descr="A screenshot of a game&#10;&#10;AI-generated content may be incorrect.">
            <a:extLst>
              <a:ext uri="{FF2B5EF4-FFF2-40B4-BE49-F238E27FC236}">
                <a16:creationId xmlns:a16="http://schemas.microsoft.com/office/drawing/2014/main" id="{0F2789AB-E847-6735-0850-DE92C23345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1971" y="1318124"/>
            <a:ext cx="480391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C97047-D878-F9A0-8287-9AB333196839}"/>
              </a:ext>
            </a:extLst>
          </p:cNvPr>
          <p:cNvSpPr txBox="1"/>
          <p:nvPr/>
        </p:nvSpPr>
        <p:spPr>
          <a:xfrm>
            <a:off x="506660" y="1073608"/>
            <a:ext cx="1338828" cy="169277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</a:rPr>
              <a:t>Failing Test Executions (4/20)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C906C7-B662-28B2-FE40-837BAE5B7EAE}"/>
              </a:ext>
            </a:extLst>
          </p:cNvPr>
          <p:cNvSpPr txBox="1"/>
          <p:nvPr/>
        </p:nvSpPr>
        <p:spPr>
          <a:xfrm>
            <a:off x="506660" y="2393254"/>
            <a:ext cx="4955203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Passing Test Executions (16/20)</a:t>
            </a:r>
          </a:p>
        </p:txBody>
      </p:sp>
      <p:pic>
        <p:nvPicPr>
          <p:cNvPr id="16" name="Picture 15" descr="A screenshot of a game&#10;&#10;AI-generated content may be incorrect.">
            <a:extLst>
              <a:ext uri="{FF2B5EF4-FFF2-40B4-BE49-F238E27FC236}">
                <a16:creationId xmlns:a16="http://schemas.microsoft.com/office/drawing/2014/main" id="{FA51551A-B606-6C29-60E1-7BAF38A20F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7004" y="2900627"/>
            <a:ext cx="1841500" cy="3505200"/>
          </a:xfrm>
          <a:prstGeom prst="rect">
            <a:avLst/>
          </a:prstGeom>
        </p:spPr>
      </p:pic>
      <p:pic>
        <p:nvPicPr>
          <p:cNvPr id="18" name="Picture 1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CEFF2B41-1C9F-0527-BAE1-DBD85E3267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7348" y="2900627"/>
            <a:ext cx="1841500" cy="3505200"/>
          </a:xfrm>
          <a:prstGeom prst="rect">
            <a:avLst/>
          </a:prstGeom>
        </p:spPr>
      </p:pic>
      <p:pic>
        <p:nvPicPr>
          <p:cNvPr id="20" name="Picture 19" descr="A screenshot of a game&#10;&#10;AI-generated content may be incorrect.">
            <a:extLst>
              <a:ext uri="{FF2B5EF4-FFF2-40B4-BE49-F238E27FC236}">
                <a16:creationId xmlns:a16="http://schemas.microsoft.com/office/drawing/2014/main" id="{90CC0C65-979A-D983-78AC-99091FE19D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7692" y="2900627"/>
            <a:ext cx="1841500" cy="3505200"/>
          </a:xfrm>
          <a:prstGeom prst="rect">
            <a:avLst/>
          </a:prstGeom>
        </p:spPr>
      </p:pic>
      <p:pic>
        <p:nvPicPr>
          <p:cNvPr id="22" name="Picture 21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E872814-FDD8-15AF-4B6E-ED2D012602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6660" y="2900627"/>
            <a:ext cx="1841500" cy="35052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5226DC5-95A0-67AC-D783-1616D330D6E1}"/>
              </a:ext>
            </a:extLst>
          </p:cNvPr>
          <p:cNvSpPr txBox="1"/>
          <p:nvPr/>
        </p:nvSpPr>
        <p:spPr>
          <a:xfrm>
            <a:off x="1021198" y="1690687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36B199-B6A2-195B-C19B-ED1C690BA34E}"/>
              </a:ext>
            </a:extLst>
          </p:cNvPr>
          <p:cNvSpPr txBox="1"/>
          <p:nvPr/>
        </p:nvSpPr>
        <p:spPr>
          <a:xfrm>
            <a:off x="1626820" y="1692433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E7288D-1595-221B-82A3-C79B6C88B410}"/>
              </a:ext>
            </a:extLst>
          </p:cNvPr>
          <p:cNvSpPr txBox="1"/>
          <p:nvPr/>
        </p:nvSpPr>
        <p:spPr>
          <a:xfrm>
            <a:off x="2232442" y="1689441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ED650A-DE01-B708-37BC-74F472164EB9}"/>
              </a:ext>
            </a:extLst>
          </p:cNvPr>
          <p:cNvSpPr txBox="1"/>
          <p:nvPr/>
        </p:nvSpPr>
        <p:spPr>
          <a:xfrm>
            <a:off x="2513953" y="4492904"/>
            <a:ext cx="300082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979660-4904-66ED-8DE0-F00193939575}"/>
              </a:ext>
            </a:extLst>
          </p:cNvPr>
          <p:cNvSpPr txBox="1"/>
          <p:nvPr/>
        </p:nvSpPr>
        <p:spPr>
          <a:xfrm>
            <a:off x="4974297" y="4491644"/>
            <a:ext cx="300082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DE7CDC-1B62-00AE-CFE6-EDD33DBBE760}"/>
              </a:ext>
            </a:extLst>
          </p:cNvPr>
          <p:cNvSpPr txBox="1"/>
          <p:nvPr/>
        </p:nvSpPr>
        <p:spPr>
          <a:xfrm>
            <a:off x="7434641" y="4491644"/>
            <a:ext cx="300082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1282AB-E22C-DF47-4F86-4033D9E19F8C}"/>
              </a:ext>
            </a:extLst>
          </p:cNvPr>
          <p:cNvSpPr txBox="1"/>
          <p:nvPr/>
        </p:nvSpPr>
        <p:spPr>
          <a:xfrm>
            <a:off x="1845488" y="1073608"/>
            <a:ext cx="1223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b="1" dirty="0">
                <a:solidFill>
                  <a:srgbClr val="FF0000"/>
                </a:solidFill>
                <a:latin typeface="Berkeley Mono" pitchFamily="49" charset="77"/>
              </a:rPr>
              <a:t>AV</a:t>
            </a:r>
            <a:r>
              <a:rPr lang="en-US" sz="500" dirty="0">
                <a:latin typeface="Berkeley Mono" pitchFamily="49" charset="77"/>
              </a:rPr>
              <a:t> Cuts off </a:t>
            </a:r>
            <a:r>
              <a:rPr lang="en-US" sz="500" b="1" dirty="0">
                <a:solidFill>
                  <a:srgbClr val="00B050"/>
                </a:solidFill>
                <a:latin typeface="Berkeley Mono" pitchFamily="49" charset="77"/>
              </a:rPr>
              <a:t>another vehicle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EED88E-E435-BFF8-F10D-8132C89E0E1B}"/>
              </a:ext>
            </a:extLst>
          </p:cNvPr>
          <p:cNvSpPr txBox="1"/>
          <p:nvPr/>
        </p:nvSpPr>
        <p:spPr>
          <a:xfrm>
            <a:off x="5616193" y="2384924"/>
            <a:ext cx="49552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Berkeley Mono" pitchFamily="49" charset="77"/>
              </a:rPr>
              <a:t>AV</a:t>
            </a:r>
            <a:r>
              <a:rPr lang="en-US" sz="2000" dirty="0">
                <a:latin typeface="Berkeley Mono" pitchFamily="49" charset="77"/>
              </a:rPr>
              <a:t> Returns to its original lane</a:t>
            </a:r>
          </a:p>
        </p:txBody>
      </p:sp>
    </p:spTree>
    <p:extLst>
      <p:ext uri="{BB962C8B-B14F-4D97-AF65-F5344CB8AC3E}">
        <p14:creationId xmlns:p14="http://schemas.microsoft.com/office/powerpoint/2010/main" val="3199438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0" grpId="0" animBg="1"/>
      <p:bldP spid="31" grpId="0" animBg="1"/>
      <p:bldP spid="32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DED27-3589-BA4D-891C-5436262E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CA6F-7E20-D336-4D6B-3F2AB30DE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2F4A9F-A928-5F49-3BE8-AAF658B8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254F9-71A3-4A45-3E22-1F71AB213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61" y="1319636"/>
            <a:ext cx="480391" cy="914400"/>
          </a:xfrm>
          <a:prstGeom prst="rect">
            <a:avLst/>
          </a:prstGeom>
        </p:spPr>
      </p:pic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F2193117-AB66-9B51-E482-B4BBEF1A9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3" y="1318124"/>
            <a:ext cx="480391" cy="914400"/>
          </a:xfrm>
          <a:prstGeom prst="rect">
            <a:avLst/>
          </a:prstGeom>
        </p:spPr>
      </p:pic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46388D6-EB35-2772-2DCA-D0C346FB4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905" y="1318124"/>
            <a:ext cx="480391" cy="914400"/>
          </a:xfrm>
          <a:prstGeom prst="rect">
            <a:avLst/>
          </a:prstGeom>
        </p:spPr>
      </p:pic>
      <p:pic>
        <p:nvPicPr>
          <p:cNvPr id="7" name="Picture 6" descr="A screenshot of a game&#10;&#10;AI-generated content may be incorrect.">
            <a:extLst>
              <a:ext uri="{FF2B5EF4-FFF2-40B4-BE49-F238E27FC236}">
                <a16:creationId xmlns:a16="http://schemas.microsoft.com/office/drawing/2014/main" id="{62710767-C206-C186-F3DD-C63FD1F68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1971" y="1318124"/>
            <a:ext cx="480391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3F4D71-9F7D-5123-DD56-BA958434F276}"/>
              </a:ext>
            </a:extLst>
          </p:cNvPr>
          <p:cNvSpPr txBox="1"/>
          <p:nvPr/>
        </p:nvSpPr>
        <p:spPr>
          <a:xfrm>
            <a:off x="506660" y="1073608"/>
            <a:ext cx="1338828" cy="169277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</a:rPr>
              <a:t>Failing Test Executions (4/20)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970FEB-7E71-DB0C-8DF8-210E7EAE7993}"/>
              </a:ext>
            </a:extLst>
          </p:cNvPr>
          <p:cNvSpPr txBox="1"/>
          <p:nvPr/>
        </p:nvSpPr>
        <p:spPr>
          <a:xfrm>
            <a:off x="1021198" y="1690687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890737-6B69-1F67-956F-D4DC5CB52F97}"/>
              </a:ext>
            </a:extLst>
          </p:cNvPr>
          <p:cNvSpPr txBox="1"/>
          <p:nvPr/>
        </p:nvSpPr>
        <p:spPr>
          <a:xfrm>
            <a:off x="1626820" y="1692433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51C711-B063-7C39-E53D-CE6530629282}"/>
              </a:ext>
            </a:extLst>
          </p:cNvPr>
          <p:cNvSpPr txBox="1"/>
          <p:nvPr/>
        </p:nvSpPr>
        <p:spPr>
          <a:xfrm>
            <a:off x="2232442" y="1689441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5E8E90-8473-1CBC-0D43-BD6E06141020}"/>
              </a:ext>
            </a:extLst>
          </p:cNvPr>
          <p:cNvSpPr txBox="1"/>
          <p:nvPr/>
        </p:nvSpPr>
        <p:spPr>
          <a:xfrm>
            <a:off x="1845488" y="1073608"/>
            <a:ext cx="1223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b="1" dirty="0">
                <a:solidFill>
                  <a:srgbClr val="FF0000"/>
                </a:solidFill>
                <a:latin typeface="Berkeley Mono" pitchFamily="49" charset="77"/>
              </a:rPr>
              <a:t>AV</a:t>
            </a:r>
            <a:r>
              <a:rPr lang="en-US" sz="500" dirty="0">
                <a:latin typeface="Berkeley Mono" pitchFamily="49" charset="77"/>
              </a:rPr>
              <a:t> Cuts off </a:t>
            </a:r>
            <a:r>
              <a:rPr lang="en-US" sz="500" b="1" dirty="0">
                <a:solidFill>
                  <a:srgbClr val="00B050"/>
                </a:solidFill>
                <a:latin typeface="Berkeley Mono" pitchFamily="49" charset="77"/>
              </a:rPr>
              <a:t>another vehicle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5FCC8D-9AA0-9516-E915-4F708F3B09D6}"/>
              </a:ext>
            </a:extLst>
          </p:cNvPr>
          <p:cNvSpPr txBox="1"/>
          <p:nvPr/>
        </p:nvSpPr>
        <p:spPr>
          <a:xfrm>
            <a:off x="3407644" y="1073608"/>
            <a:ext cx="1377300" cy="169277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</a:rPr>
              <a:t>Passing Test Executions (16/20)</a:t>
            </a:r>
          </a:p>
        </p:txBody>
      </p:sp>
      <p:pic>
        <p:nvPicPr>
          <p:cNvPr id="14" name="Picture 13" descr="A screenshot of a game&#10;&#10;AI-generated content may be incorrect.">
            <a:extLst>
              <a:ext uri="{FF2B5EF4-FFF2-40B4-BE49-F238E27FC236}">
                <a16:creationId xmlns:a16="http://schemas.microsoft.com/office/drawing/2014/main" id="{782B7CE6-4C16-CF40-ED26-DAD2D9702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7091" y="1318124"/>
            <a:ext cx="480391" cy="914400"/>
          </a:xfrm>
          <a:prstGeom prst="rect">
            <a:avLst/>
          </a:prstGeom>
        </p:spPr>
      </p:pic>
      <p:pic>
        <p:nvPicPr>
          <p:cNvPr id="15" name="Picture 1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244922BA-2271-64BF-8B7D-02F9573106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7926" y="1318124"/>
            <a:ext cx="480391" cy="914400"/>
          </a:xfrm>
          <a:prstGeom prst="rect">
            <a:avLst/>
          </a:prstGeom>
        </p:spPr>
      </p:pic>
      <p:pic>
        <p:nvPicPr>
          <p:cNvPr id="16" name="Picture 15" descr="A screenshot of a game&#10;&#10;AI-generated content may be incorrect.">
            <a:extLst>
              <a:ext uri="{FF2B5EF4-FFF2-40B4-BE49-F238E27FC236}">
                <a16:creationId xmlns:a16="http://schemas.microsoft.com/office/drawing/2014/main" id="{58ED2535-3E20-6369-C565-40935B39A5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8761" y="1318123"/>
            <a:ext cx="480391" cy="914400"/>
          </a:xfrm>
          <a:prstGeom prst="rect">
            <a:avLst/>
          </a:prstGeom>
        </p:spPr>
      </p:pic>
      <p:pic>
        <p:nvPicPr>
          <p:cNvPr id="17" name="Picture 1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E731F86-04C1-810A-A26D-F7CE0826E1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7644" y="1318124"/>
            <a:ext cx="480391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232EB84-7523-6DE0-FBDD-981CACE95B82}"/>
              </a:ext>
            </a:extLst>
          </p:cNvPr>
          <p:cNvSpPr txBox="1"/>
          <p:nvPr/>
        </p:nvSpPr>
        <p:spPr>
          <a:xfrm>
            <a:off x="3931498" y="1684940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</a:rPr>
              <a:t>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14D603-FC5D-6619-201A-361A4492C938}"/>
              </a:ext>
            </a:extLst>
          </p:cNvPr>
          <p:cNvSpPr txBox="1"/>
          <p:nvPr/>
        </p:nvSpPr>
        <p:spPr>
          <a:xfrm>
            <a:off x="4556639" y="1679913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</a:rPr>
              <a:t>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39CF1A-2C7A-1BC3-2E1A-1F77D7DE4FA7}"/>
              </a:ext>
            </a:extLst>
          </p:cNvPr>
          <p:cNvSpPr txBox="1"/>
          <p:nvPr/>
        </p:nvSpPr>
        <p:spPr>
          <a:xfrm>
            <a:off x="5183199" y="1679912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</a:rPr>
              <a:t>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D6CE96-CB1E-80A4-CC2E-BE18A34D621A}"/>
              </a:ext>
            </a:extLst>
          </p:cNvPr>
          <p:cNvSpPr txBox="1"/>
          <p:nvPr/>
        </p:nvSpPr>
        <p:spPr>
          <a:xfrm>
            <a:off x="4776847" y="1073607"/>
            <a:ext cx="137730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b="1" dirty="0">
                <a:solidFill>
                  <a:srgbClr val="FF0000"/>
                </a:solidFill>
                <a:latin typeface="Berkeley Mono" pitchFamily="49" charset="77"/>
              </a:rPr>
              <a:t>AV</a:t>
            </a:r>
            <a:r>
              <a:rPr lang="en-US" sz="500" dirty="0">
                <a:latin typeface="Berkeley Mono" pitchFamily="49" charset="77"/>
              </a:rPr>
              <a:t> Returns to its original lane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20B4BA-6A8C-1497-EAAD-9955514F8AB7}"/>
              </a:ext>
            </a:extLst>
          </p:cNvPr>
          <p:cNvSpPr txBox="1"/>
          <p:nvPr/>
        </p:nvSpPr>
        <p:spPr>
          <a:xfrm>
            <a:off x="521633" y="2974118"/>
            <a:ext cx="1682273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AV-FUZZER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92558D-4120-2992-B26B-9AD9EE598C7B}"/>
              </a:ext>
            </a:extLst>
          </p:cNvPr>
          <p:cNvSpPr txBox="1"/>
          <p:nvPr/>
        </p:nvSpPr>
        <p:spPr>
          <a:xfrm>
            <a:off x="518830" y="3411758"/>
            <a:ext cx="1682272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BehAVExplor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52099B-B12E-26D0-9EEB-3FDF6D1D4416}"/>
              </a:ext>
            </a:extLst>
          </p:cNvPr>
          <p:cNvSpPr txBox="1"/>
          <p:nvPr/>
        </p:nvSpPr>
        <p:spPr>
          <a:xfrm>
            <a:off x="518829" y="3848278"/>
            <a:ext cx="1682271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Decictor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B609DB-574B-2F4F-86D9-1A50393943EA}"/>
              </a:ext>
            </a:extLst>
          </p:cNvPr>
          <p:cNvSpPr txBox="1"/>
          <p:nvPr/>
        </p:nvSpPr>
        <p:spPr>
          <a:xfrm>
            <a:off x="518830" y="4287105"/>
            <a:ext cx="1685077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DeepCollision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51D04F-D9C6-B79D-B702-E9F6874F508A}"/>
              </a:ext>
            </a:extLst>
          </p:cNvPr>
          <p:cNvSpPr txBox="1"/>
          <p:nvPr/>
        </p:nvSpPr>
        <p:spPr>
          <a:xfrm>
            <a:off x="518830" y="4723625"/>
            <a:ext cx="1682270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DoppelTest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018F2E-5678-0C3B-1ECA-DD6F3B29E74F}"/>
              </a:ext>
            </a:extLst>
          </p:cNvPr>
          <p:cNvSpPr txBox="1"/>
          <p:nvPr/>
        </p:nvSpPr>
        <p:spPr>
          <a:xfrm>
            <a:off x="521634" y="5160145"/>
            <a:ext cx="1679466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DriveFuzz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7E7CBE-4A56-9499-8BCC-825E37C439C2}"/>
              </a:ext>
            </a:extLst>
          </p:cNvPr>
          <p:cNvSpPr txBox="1"/>
          <p:nvPr/>
        </p:nvSpPr>
        <p:spPr>
          <a:xfrm>
            <a:off x="518830" y="5596665"/>
            <a:ext cx="1679466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SAMOTA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34ACC0-17C9-8D65-6CE4-52C3261EADFC}"/>
              </a:ext>
            </a:extLst>
          </p:cNvPr>
          <p:cNvSpPr txBox="1"/>
          <p:nvPr/>
        </p:nvSpPr>
        <p:spPr>
          <a:xfrm>
            <a:off x="521634" y="6033185"/>
            <a:ext cx="1676662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scenoRITA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F1869F-6294-F795-C789-AD65C2D55EDE}"/>
              </a:ext>
            </a:extLst>
          </p:cNvPr>
          <p:cNvSpPr txBox="1"/>
          <p:nvPr/>
        </p:nvSpPr>
        <p:spPr>
          <a:xfrm>
            <a:off x="518829" y="2549350"/>
            <a:ext cx="254922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Extended Study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2C1975-3B27-1850-AD06-E42A56AFAE9A}"/>
              </a:ext>
            </a:extLst>
          </p:cNvPr>
          <p:cNvSpPr/>
          <p:nvPr/>
        </p:nvSpPr>
        <p:spPr>
          <a:xfrm>
            <a:off x="3407644" y="4397355"/>
            <a:ext cx="8054202" cy="6665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752EEF-2D81-9130-C6CF-8435D9515648}"/>
              </a:ext>
            </a:extLst>
          </p:cNvPr>
          <p:cNvSpPr txBox="1"/>
          <p:nvPr/>
        </p:nvSpPr>
        <p:spPr>
          <a:xfrm>
            <a:off x="3407644" y="3429000"/>
            <a:ext cx="749435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latin typeface="Berkeley Mono" pitchFamily="49" charset="77"/>
              </a:rPr>
              <a:t>6158 Scenario Tests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DA167F-C7A9-F688-327D-8F4E0BA598A1}"/>
              </a:ext>
            </a:extLst>
          </p:cNvPr>
          <p:cNvSpPr/>
          <p:nvPr/>
        </p:nvSpPr>
        <p:spPr>
          <a:xfrm>
            <a:off x="3404836" y="4397355"/>
            <a:ext cx="8054201" cy="6817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239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9D5B9-672E-AFED-CA32-B3B9D10CB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B9439-1DB6-0E18-6066-3423338D4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F45832-12EB-5179-7271-E8E3CE2F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692F44-8A3C-243F-EC46-94C4FDC24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61" y="1319636"/>
            <a:ext cx="480391" cy="914400"/>
          </a:xfrm>
          <a:prstGeom prst="rect">
            <a:avLst/>
          </a:prstGeom>
        </p:spPr>
      </p:pic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9398E451-894D-8E52-E10B-CC46B7797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3" y="1318124"/>
            <a:ext cx="480391" cy="914400"/>
          </a:xfrm>
          <a:prstGeom prst="rect">
            <a:avLst/>
          </a:prstGeom>
        </p:spPr>
      </p:pic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04B761B-D3B2-781C-2157-DF01519D3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905" y="1318124"/>
            <a:ext cx="480391" cy="914400"/>
          </a:xfrm>
          <a:prstGeom prst="rect">
            <a:avLst/>
          </a:prstGeom>
        </p:spPr>
      </p:pic>
      <p:pic>
        <p:nvPicPr>
          <p:cNvPr id="7" name="Picture 6" descr="A screenshot of a game&#10;&#10;AI-generated content may be incorrect.">
            <a:extLst>
              <a:ext uri="{FF2B5EF4-FFF2-40B4-BE49-F238E27FC236}">
                <a16:creationId xmlns:a16="http://schemas.microsoft.com/office/drawing/2014/main" id="{BCDBB643-15B1-7203-DA29-ADEB2D40B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1971" y="1318124"/>
            <a:ext cx="480391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ACE321-FA24-42B7-3574-3F0DDF753B6F}"/>
              </a:ext>
            </a:extLst>
          </p:cNvPr>
          <p:cNvSpPr txBox="1"/>
          <p:nvPr/>
        </p:nvSpPr>
        <p:spPr>
          <a:xfrm>
            <a:off x="506660" y="1073608"/>
            <a:ext cx="1338828" cy="169277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</a:rPr>
              <a:t>Failing Test Executions (4/20)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ED8F8-F52C-7D95-1744-7E80B6D4FE8F}"/>
              </a:ext>
            </a:extLst>
          </p:cNvPr>
          <p:cNvSpPr txBox="1"/>
          <p:nvPr/>
        </p:nvSpPr>
        <p:spPr>
          <a:xfrm>
            <a:off x="1021198" y="1690687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ADE1E-9D79-FFB7-1ABC-629C2261B237}"/>
              </a:ext>
            </a:extLst>
          </p:cNvPr>
          <p:cNvSpPr txBox="1"/>
          <p:nvPr/>
        </p:nvSpPr>
        <p:spPr>
          <a:xfrm>
            <a:off x="1626820" y="1692433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4A4EE8-8886-286B-9616-2E4DC949F406}"/>
              </a:ext>
            </a:extLst>
          </p:cNvPr>
          <p:cNvSpPr txBox="1"/>
          <p:nvPr/>
        </p:nvSpPr>
        <p:spPr>
          <a:xfrm>
            <a:off x="2232442" y="1689441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062A00-D887-C90D-4CA0-92F9839BC0E6}"/>
              </a:ext>
            </a:extLst>
          </p:cNvPr>
          <p:cNvSpPr txBox="1"/>
          <p:nvPr/>
        </p:nvSpPr>
        <p:spPr>
          <a:xfrm>
            <a:off x="1845488" y="1073608"/>
            <a:ext cx="1223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b="1" dirty="0">
                <a:solidFill>
                  <a:srgbClr val="FF0000"/>
                </a:solidFill>
                <a:latin typeface="Berkeley Mono" pitchFamily="49" charset="77"/>
              </a:rPr>
              <a:t>AV</a:t>
            </a:r>
            <a:r>
              <a:rPr lang="en-US" sz="500" dirty="0">
                <a:latin typeface="Berkeley Mono" pitchFamily="49" charset="77"/>
              </a:rPr>
              <a:t> Cuts off </a:t>
            </a:r>
            <a:r>
              <a:rPr lang="en-US" sz="500" b="1" dirty="0">
                <a:solidFill>
                  <a:srgbClr val="00B050"/>
                </a:solidFill>
                <a:latin typeface="Berkeley Mono" pitchFamily="49" charset="77"/>
              </a:rPr>
              <a:t>another vehicle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62B787-CAE4-3B8C-2EAA-ED40A0559654}"/>
              </a:ext>
            </a:extLst>
          </p:cNvPr>
          <p:cNvSpPr txBox="1"/>
          <p:nvPr/>
        </p:nvSpPr>
        <p:spPr>
          <a:xfrm>
            <a:off x="3407644" y="1073608"/>
            <a:ext cx="1377300" cy="169277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</a:rPr>
              <a:t>Passing Test Executions (16/20)</a:t>
            </a:r>
          </a:p>
        </p:txBody>
      </p:sp>
      <p:pic>
        <p:nvPicPr>
          <p:cNvPr id="14" name="Picture 13" descr="A screenshot of a game&#10;&#10;AI-generated content may be incorrect.">
            <a:extLst>
              <a:ext uri="{FF2B5EF4-FFF2-40B4-BE49-F238E27FC236}">
                <a16:creationId xmlns:a16="http://schemas.microsoft.com/office/drawing/2014/main" id="{63E48417-00F6-CFE8-E4A1-3D89189621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7091" y="1318124"/>
            <a:ext cx="480391" cy="914400"/>
          </a:xfrm>
          <a:prstGeom prst="rect">
            <a:avLst/>
          </a:prstGeom>
        </p:spPr>
      </p:pic>
      <p:pic>
        <p:nvPicPr>
          <p:cNvPr id="15" name="Picture 1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67BBAFD-CF95-95DA-0EEF-11D48E6CF3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7926" y="1318124"/>
            <a:ext cx="480391" cy="914400"/>
          </a:xfrm>
          <a:prstGeom prst="rect">
            <a:avLst/>
          </a:prstGeom>
        </p:spPr>
      </p:pic>
      <p:pic>
        <p:nvPicPr>
          <p:cNvPr id="16" name="Picture 15" descr="A screenshot of a game&#10;&#10;AI-generated content may be incorrect.">
            <a:extLst>
              <a:ext uri="{FF2B5EF4-FFF2-40B4-BE49-F238E27FC236}">
                <a16:creationId xmlns:a16="http://schemas.microsoft.com/office/drawing/2014/main" id="{E075357A-6F01-90ED-84CE-3F9FD1F285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8761" y="1318123"/>
            <a:ext cx="480391" cy="914400"/>
          </a:xfrm>
          <a:prstGeom prst="rect">
            <a:avLst/>
          </a:prstGeom>
        </p:spPr>
      </p:pic>
      <p:pic>
        <p:nvPicPr>
          <p:cNvPr id="17" name="Picture 1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43C89E46-3306-BA44-D125-46BE89B0C0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7644" y="1318124"/>
            <a:ext cx="480391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600A1DA-0678-5756-E926-12347F8B0025}"/>
              </a:ext>
            </a:extLst>
          </p:cNvPr>
          <p:cNvSpPr txBox="1"/>
          <p:nvPr/>
        </p:nvSpPr>
        <p:spPr>
          <a:xfrm>
            <a:off x="3931498" y="1684940"/>
            <a:ext cx="52130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</a:rPr>
              <a:t>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88F984-3301-358E-5629-B644DA08867A}"/>
              </a:ext>
            </a:extLst>
          </p:cNvPr>
          <p:cNvSpPr txBox="1"/>
          <p:nvPr/>
        </p:nvSpPr>
        <p:spPr>
          <a:xfrm>
            <a:off x="4556639" y="1679913"/>
            <a:ext cx="52130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</a:rPr>
              <a:t>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C316D2-D2B3-BF75-EAC7-453493C13FA9}"/>
              </a:ext>
            </a:extLst>
          </p:cNvPr>
          <p:cNvSpPr txBox="1"/>
          <p:nvPr/>
        </p:nvSpPr>
        <p:spPr>
          <a:xfrm>
            <a:off x="5183199" y="1679912"/>
            <a:ext cx="52130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</a:rPr>
              <a:t>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92947A-FB1E-5D36-B987-C332931054C1}"/>
              </a:ext>
            </a:extLst>
          </p:cNvPr>
          <p:cNvSpPr txBox="1"/>
          <p:nvPr/>
        </p:nvSpPr>
        <p:spPr>
          <a:xfrm>
            <a:off x="4776847" y="1073607"/>
            <a:ext cx="137730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b="1" dirty="0">
                <a:solidFill>
                  <a:srgbClr val="FF0000"/>
                </a:solidFill>
                <a:latin typeface="Berkeley Mono" pitchFamily="49" charset="77"/>
              </a:rPr>
              <a:t>AV</a:t>
            </a:r>
            <a:r>
              <a:rPr lang="en-US" sz="500" dirty="0">
                <a:latin typeface="Berkeley Mono" pitchFamily="49" charset="77"/>
              </a:rPr>
              <a:t> Returns to its original lane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BE6303-C353-B621-7AA4-991188B1F61D}"/>
              </a:ext>
            </a:extLst>
          </p:cNvPr>
          <p:cNvSpPr txBox="1"/>
          <p:nvPr/>
        </p:nvSpPr>
        <p:spPr>
          <a:xfrm>
            <a:off x="521633" y="2974118"/>
            <a:ext cx="1682273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AV-FUZZER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20C0B7-642F-853E-EA99-4ACB1C4F31F4}"/>
              </a:ext>
            </a:extLst>
          </p:cNvPr>
          <p:cNvSpPr txBox="1"/>
          <p:nvPr/>
        </p:nvSpPr>
        <p:spPr>
          <a:xfrm>
            <a:off x="518830" y="3411758"/>
            <a:ext cx="1682272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BehAVExplor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1599B4-A5EE-8720-4E76-2E94D341E6F6}"/>
              </a:ext>
            </a:extLst>
          </p:cNvPr>
          <p:cNvSpPr txBox="1"/>
          <p:nvPr/>
        </p:nvSpPr>
        <p:spPr>
          <a:xfrm>
            <a:off x="518829" y="3848278"/>
            <a:ext cx="1682271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Decictor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44A3CD-D7A7-F56C-D44A-0A1F5396203D}"/>
              </a:ext>
            </a:extLst>
          </p:cNvPr>
          <p:cNvSpPr txBox="1"/>
          <p:nvPr/>
        </p:nvSpPr>
        <p:spPr>
          <a:xfrm>
            <a:off x="518830" y="4287105"/>
            <a:ext cx="1685077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DeepCollision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9EB951-A645-E2F1-49AF-F07799A713E1}"/>
              </a:ext>
            </a:extLst>
          </p:cNvPr>
          <p:cNvSpPr txBox="1"/>
          <p:nvPr/>
        </p:nvSpPr>
        <p:spPr>
          <a:xfrm>
            <a:off x="518830" y="4723625"/>
            <a:ext cx="1682270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DoppelTest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818B55-1B14-FC6B-4851-A75136FE8C71}"/>
              </a:ext>
            </a:extLst>
          </p:cNvPr>
          <p:cNvSpPr txBox="1"/>
          <p:nvPr/>
        </p:nvSpPr>
        <p:spPr>
          <a:xfrm>
            <a:off x="521634" y="5160145"/>
            <a:ext cx="1679466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DriveFuzz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7F1C6E-3341-B20D-DD1D-F2C7AA824FDC}"/>
              </a:ext>
            </a:extLst>
          </p:cNvPr>
          <p:cNvSpPr txBox="1"/>
          <p:nvPr/>
        </p:nvSpPr>
        <p:spPr>
          <a:xfrm>
            <a:off x="518830" y="5596665"/>
            <a:ext cx="1679466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SAMOTA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31E264-F65A-A137-F6E1-FAA7B94C3BCF}"/>
              </a:ext>
            </a:extLst>
          </p:cNvPr>
          <p:cNvSpPr txBox="1"/>
          <p:nvPr/>
        </p:nvSpPr>
        <p:spPr>
          <a:xfrm>
            <a:off x="521634" y="6033185"/>
            <a:ext cx="1676662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scenoRITA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2458AE-0FC9-F816-BF4A-9442358010CD}"/>
              </a:ext>
            </a:extLst>
          </p:cNvPr>
          <p:cNvSpPr txBox="1"/>
          <p:nvPr/>
        </p:nvSpPr>
        <p:spPr>
          <a:xfrm>
            <a:off x="518829" y="2549350"/>
            <a:ext cx="254922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Extended Study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68441D-9DD3-597F-D0E6-3B0A417D9940}"/>
              </a:ext>
            </a:extLst>
          </p:cNvPr>
          <p:cNvSpPr/>
          <p:nvPr/>
        </p:nvSpPr>
        <p:spPr>
          <a:xfrm>
            <a:off x="3404656" y="3411758"/>
            <a:ext cx="8054202" cy="3231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70CF2B-BD47-6BA5-1A56-8F94012C5A29}"/>
              </a:ext>
            </a:extLst>
          </p:cNvPr>
          <p:cNvSpPr txBox="1"/>
          <p:nvPr/>
        </p:nvSpPr>
        <p:spPr>
          <a:xfrm>
            <a:off x="3407644" y="2974118"/>
            <a:ext cx="23775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6158 Scenario Tests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FAE4A0-22C1-BA01-6E12-5395B61EDA13}"/>
              </a:ext>
            </a:extLst>
          </p:cNvPr>
          <p:cNvSpPr txBox="1"/>
          <p:nvPr/>
        </p:nvSpPr>
        <p:spPr>
          <a:xfrm>
            <a:off x="3407644" y="4287105"/>
            <a:ext cx="557075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latin typeface="Berkeley Mono" pitchFamily="49" charset="77"/>
              </a:rPr>
              <a:t>658 Collisions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A0C1835-6546-FD13-2AAE-EF23C6F5CCE6}"/>
              </a:ext>
            </a:extLst>
          </p:cNvPr>
          <p:cNvCxnSpPr>
            <a:stCxn id="31" idx="2"/>
          </p:cNvCxnSpPr>
          <p:nvPr/>
        </p:nvCxnSpPr>
        <p:spPr>
          <a:xfrm>
            <a:off x="3801716" y="3734923"/>
            <a:ext cx="0" cy="55218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7AD7D50-C172-D136-1977-0D1C4AFD7F8D}"/>
              </a:ext>
            </a:extLst>
          </p:cNvPr>
          <p:cNvSpPr/>
          <p:nvPr/>
        </p:nvSpPr>
        <p:spPr>
          <a:xfrm>
            <a:off x="3399380" y="3411758"/>
            <a:ext cx="804672" cy="32316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588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871EC-15EB-0072-8E45-4C8369DB3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8FB232B-8863-589B-86C3-13C5493FE3C0}"/>
              </a:ext>
            </a:extLst>
          </p:cNvPr>
          <p:cNvCxnSpPr/>
          <p:nvPr/>
        </p:nvCxnSpPr>
        <p:spPr>
          <a:xfrm>
            <a:off x="3801716" y="3734923"/>
            <a:ext cx="0" cy="55218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5A55463-732E-68E0-3D40-28E0230B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F10FDB-02A7-C1BB-F740-480D73609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5FE8B9-E740-39D3-083C-58A2C0C85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61" y="1319636"/>
            <a:ext cx="480391" cy="914400"/>
          </a:xfrm>
          <a:prstGeom prst="rect">
            <a:avLst/>
          </a:prstGeom>
        </p:spPr>
      </p:pic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F9E1638D-C275-8416-4B24-2B696B78E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3" y="1318124"/>
            <a:ext cx="480391" cy="914400"/>
          </a:xfrm>
          <a:prstGeom prst="rect">
            <a:avLst/>
          </a:prstGeom>
        </p:spPr>
      </p:pic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CEC8768-6437-6FEC-61A3-DA5B47E07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905" y="1318124"/>
            <a:ext cx="480391" cy="914400"/>
          </a:xfrm>
          <a:prstGeom prst="rect">
            <a:avLst/>
          </a:prstGeom>
        </p:spPr>
      </p:pic>
      <p:pic>
        <p:nvPicPr>
          <p:cNvPr id="7" name="Picture 6" descr="A screenshot of a game&#10;&#10;AI-generated content may be incorrect.">
            <a:extLst>
              <a:ext uri="{FF2B5EF4-FFF2-40B4-BE49-F238E27FC236}">
                <a16:creationId xmlns:a16="http://schemas.microsoft.com/office/drawing/2014/main" id="{8FC63D0D-8ED2-C79A-FF99-0FBCB36AE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1971" y="1318124"/>
            <a:ext cx="480391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61FF5C-C5D7-5363-589C-6CB21D3F75AC}"/>
              </a:ext>
            </a:extLst>
          </p:cNvPr>
          <p:cNvSpPr txBox="1"/>
          <p:nvPr/>
        </p:nvSpPr>
        <p:spPr>
          <a:xfrm>
            <a:off x="506660" y="1073608"/>
            <a:ext cx="1338828" cy="169277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</a:rPr>
              <a:t>Failing Test Executions (4/20)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6308F9-D30E-3722-978D-35B80E7DFC61}"/>
              </a:ext>
            </a:extLst>
          </p:cNvPr>
          <p:cNvSpPr txBox="1"/>
          <p:nvPr/>
        </p:nvSpPr>
        <p:spPr>
          <a:xfrm>
            <a:off x="1021198" y="1690687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50D101-7052-D7F4-3186-A1A55C622A12}"/>
              </a:ext>
            </a:extLst>
          </p:cNvPr>
          <p:cNvSpPr txBox="1"/>
          <p:nvPr/>
        </p:nvSpPr>
        <p:spPr>
          <a:xfrm>
            <a:off x="1626820" y="1692433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97E1CF-0D89-4A04-3821-6419EF044EA0}"/>
              </a:ext>
            </a:extLst>
          </p:cNvPr>
          <p:cNvSpPr txBox="1"/>
          <p:nvPr/>
        </p:nvSpPr>
        <p:spPr>
          <a:xfrm>
            <a:off x="2232442" y="1689441"/>
            <a:ext cx="56939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9BD1B2-F585-C14B-B81A-C8F2FAD9D3C0}"/>
              </a:ext>
            </a:extLst>
          </p:cNvPr>
          <p:cNvSpPr txBox="1"/>
          <p:nvPr/>
        </p:nvSpPr>
        <p:spPr>
          <a:xfrm>
            <a:off x="1845488" y="1073608"/>
            <a:ext cx="1223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b="1" dirty="0">
                <a:solidFill>
                  <a:srgbClr val="FF0000"/>
                </a:solidFill>
                <a:latin typeface="Berkeley Mono" pitchFamily="49" charset="77"/>
              </a:rPr>
              <a:t>AV</a:t>
            </a:r>
            <a:r>
              <a:rPr lang="en-US" sz="500" dirty="0">
                <a:latin typeface="Berkeley Mono" pitchFamily="49" charset="77"/>
              </a:rPr>
              <a:t> Cuts off </a:t>
            </a:r>
            <a:r>
              <a:rPr lang="en-US" sz="500" b="1" dirty="0">
                <a:solidFill>
                  <a:srgbClr val="00B050"/>
                </a:solidFill>
                <a:latin typeface="Berkeley Mono" pitchFamily="49" charset="77"/>
              </a:rPr>
              <a:t>another vehicle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B7BC26-C68E-C43C-D6E3-3D3C540DF91C}"/>
              </a:ext>
            </a:extLst>
          </p:cNvPr>
          <p:cNvSpPr txBox="1"/>
          <p:nvPr/>
        </p:nvSpPr>
        <p:spPr>
          <a:xfrm>
            <a:off x="3407644" y="1073608"/>
            <a:ext cx="1377300" cy="169277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Berkeley Mono" pitchFamily="49" charset="77"/>
              </a:rPr>
              <a:t>Passing Test Executions (16/20)</a:t>
            </a:r>
          </a:p>
        </p:txBody>
      </p:sp>
      <p:pic>
        <p:nvPicPr>
          <p:cNvPr id="14" name="Picture 13" descr="A screenshot of a game&#10;&#10;AI-generated content may be incorrect.">
            <a:extLst>
              <a:ext uri="{FF2B5EF4-FFF2-40B4-BE49-F238E27FC236}">
                <a16:creationId xmlns:a16="http://schemas.microsoft.com/office/drawing/2014/main" id="{A1958C12-1181-ABA6-A32B-92E2B8FF4C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7091" y="1318124"/>
            <a:ext cx="480391" cy="914400"/>
          </a:xfrm>
          <a:prstGeom prst="rect">
            <a:avLst/>
          </a:prstGeom>
        </p:spPr>
      </p:pic>
      <p:pic>
        <p:nvPicPr>
          <p:cNvPr id="15" name="Picture 1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10C17A0-C7F5-1C2A-E7B7-08172D2E7E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7926" y="1318124"/>
            <a:ext cx="480391" cy="914400"/>
          </a:xfrm>
          <a:prstGeom prst="rect">
            <a:avLst/>
          </a:prstGeom>
        </p:spPr>
      </p:pic>
      <p:pic>
        <p:nvPicPr>
          <p:cNvPr id="16" name="Picture 15" descr="A screenshot of a game&#10;&#10;AI-generated content may be incorrect.">
            <a:extLst>
              <a:ext uri="{FF2B5EF4-FFF2-40B4-BE49-F238E27FC236}">
                <a16:creationId xmlns:a16="http://schemas.microsoft.com/office/drawing/2014/main" id="{1F66C577-8580-0147-A792-6D35EC76E3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8761" y="1318123"/>
            <a:ext cx="480391" cy="914400"/>
          </a:xfrm>
          <a:prstGeom prst="rect">
            <a:avLst/>
          </a:prstGeom>
        </p:spPr>
      </p:pic>
      <p:pic>
        <p:nvPicPr>
          <p:cNvPr id="17" name="Picture 1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27E9DAA-C0CA-5C69-2C31-4AA9336099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7644" y="1318124"/>
            <a:ext cx="480391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C0A82AC-EA61-5B5C-56C3-0C0D94DFDC05}"/>
              </a:ext>
            </a:extLst>
          </p:cNvPr>
          <p:cNvSpPr txBox="1"/>
          <p:nvPr/>
        </p:nvSpPr>
        <p:spPr>
          <a:xfrm>
            <a:off x="3931498" y="1684940"/>
            <a:ext cx="52130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</a:rPr>
              <a:t>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F6525D-B6D4-5CE1-110A-12EE9F9F0869}"/>
              </a:ext>
            </a:extLst>
          </p:cNvPr>
          <p:cNvSpPr txBox="1"/>
          <p:nvPr/>
        </p:nvSpPr>
        <p:spPr>
          <a:xfrm>
            <a:off x="4556639" y="1679913"/>
            <a:ext cx="52130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</a:rPr>
              <a:t>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963A10-3AD5-8538-F9A9-CB741C026848}"/>
              </a:ext>
            </a:extLst>
          </p:cNvPr>
          <p:cNvSpPr txBox="1"/>
          <p:nvPr/>
        </p:nvSpPr>
        <p:spPr>
          <a:xfrm>
            <a:off x="5183199" y="1679912"/>
            <a:ext cx="52130" cy="95411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</a:rPr>
              <a:t>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817367-CEB6-CAB1-13B5-DBD898B11EF0}"/>
              </a:ext>
            </a:extLst>
          </p:cNvPr>
          <p:cNvSpPr txBox="1"/>
          <p:nvPr/>
        </p:nvSpPr>
        <p:spPr>
          <a:xfrm>
            <a:off x="4776847" y="1073607"/>
            <a:ext cx="137730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b="1" dirty="0">
                <a:solidFill>
                  <a:srgbClr val="FF0000"/>
                </a:solidFill>
                <a:latin typeface="Berkeley Mono" pitchFamily="49" charset="77"/>
              </a:rPr>
              <a:t>AV</a:t>
            </a:r>
            <a:r>
              <a:rPr lang="en-US" sz="500" dirty="0">
                <a:latin typeface="Berkeley Mono" pitchFamily="49" charset="77"/>
              </a:rPr>
              <a:t> Returns to its original lane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AF705F-FF42-20BE-E7DF-C0B812D27B8E}"/>
              </a:ext>
            </a:extLst>
          </p:cNvPr>
          <p:cNvSpPr txBox="1"/>
          <p:nvPr/>
        </p:nvSpPr>
        <p:spPr>
          <a:xfrm>
            <a:off x="521633" y="2974118"/>
            <a:ext cx="1682273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AV-FUZZER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CEC75C-7006-4F63-7006-6F8C5E822F76}"/>
              </a:ext>
            </a:extLst>
          </p:cNvPr>
          <p:cNvSpPr txBox="1"/>
          <p:nvPr/>
        </p:nvSpPr>
        <p:spPr>
          <a:xfrm>
            <a:off x="518830" y="3411758"/>
            <a:ext cx="1682272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BehAVExplor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2A52CF-3743-972C-8E0C-EC05F739F497}"/>
              </a:ext>
            </a:extLst>
          </p:cNvPr>
          <p:cNvSpPr txBox="1"/>
          <p:nvPr/>
        </p:nvSpPr>
        <p:spPr>
          <a:xfrm>
            <a:off x="518829" y="3848278"/>
            <a:ext cx="1682271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Decictor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C0F779-80E8-592D-54F5-DF9373F331A7}"/>
              </a:ext>
            </a:extLst>
          </p:cNvPr>
          <p:cNvSpPr txBox="1"/>
          <p:nvPr/>
        </p:nvSpPr>
        <p:spPr>
          <a:xfrm>
            <a:off x="518830" y="4287105"/>
            <a:ext cx="1685077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DeepCollision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F907DB-4074-EDA0-61A9-3E80097AE267}"/>
              </a:ext>
            </a:extLst>
          </p:cNvPr>
          <p:cNvSpPr txBox="1"/>
          <p:nvPr/>
        </p:nvSpPr>
        <p:spPr>
          <a:xfrm>
            <a:off x="518830" y="4723625"/>
            <a:ext cx="1682270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DoppelTest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8A52E3-2FBE-AED3-8E6C-9C1384D16FE4}"/>
              </a:ext>
            </a:extLst>
          </p:cNvPr>
          <p:cNvSpPr txBox="1"/>
          <p:nvPr/>
        </p:nvSpPr>
        <p:spPr>
          <a:xfrm>
            <a:off x="521634" y="5160145"/>
            <a:ext cx="1679466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DriveFuzz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1657B0-A579-4338-7B04-B47D21751F74}"/>
              </a:ext>
            </a:extLst>
          </p:cNvPr>
          <p:cNvSpPr txBox="1"/>
          <p:nvPr/>
        </p:nvSpPr>
        <p:spPr>
          <a:xfrm>
            <a:off x="518830" y="5596665"/>
            <a:ext cx="1679466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SAMOTA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775744-4BAF-F8EE-4B8C-C02F21D44311}"/>
              </a:ext>
            </a:extLst>
          </p:cNvPr>
          <p:cNvSpPr txBox="1"/>
          <p:nvPr/>
        </p:nvSpPr>
        <p:spPr>
          <a:xfrm>
            <a:off x="521634" y="6033185"/>
            <a:ext cx="1676662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scenoRITA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A60937-591A-EEA6-C9F4-031BF37F8D9A}"/>
              </a:ext>
            </a:extLst>
          </p:cNvPr>
          <p:cNvSpPr txBox="1"/>
          <p:nvPr/>
        </p:nvSpPr>
        <p:spPr>
          <a:xfrm>
            <a:off x="518829" y="2549350"/>
            <a:ext cx="254922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Extended Study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C6C5C8-DFC2-36D9-F5EA-EB96EE76AC94}"/>
              </a:ext>
            </a:extLst>
          </p:cNvPr>
          <p:cNvSpPr/>
          <p:nvPr/>
        </p:nvSpPr>
        <p:spPr>
          <a:xfrm>
            <a:off x="3404656" y="3411758"/>
            <a:ext cx="8054202" cy="3231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98D116-BFE5-3538-37D9-07704FD8973A}"/>
              </a:ext>
            </a:extLst>
          </p:cNvPr>
          <p:cNvSpPr txBox="1"/>
          <p:nvPr/>
        </p:nvSpPr>
        <p:spPr>
          <a:xfrm>
            <a:off x="3407644" y="2974118"/>
            <a:ext cx="23775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6158 Scenario Tests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A84820-CD23-5F8D-4587-368D03785336}"/>
              </a:ext>
            </a:extLst>
          </p:cNvPr>
          <p:cNvSpPr txBox="1"/>
          <p:nvPr/>
        </p:nvSpPr>
        <p:spPr>
          <a:xfrm>
            <a:off x="3408771" y="4285951"/>
            <a:ext cx="180049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658 Collisions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97E146-8909-1676-6EC3-07F86771D2E9}"/>
              </a:ext>
            </a:extLst>
          </p:cNvPr>
          <p:cNvSpPr/>
          <p:nvPr/>
        </p:nvSpPr>
        <p:spPr>
          <a:xfrm>
            <a:off x="3399380" y="3411758"/>
            <a:ext cx="804672" cy="32316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8E7F12-D336-2FAF-FFAF-C281B9167F0A}"/>
              </a:ext>
            </a:extLst>
          </p:cNvPr>
          <p:cNvSpPr/>
          <p:nvPr/>
        </p:nvSpPr>
        <p:spPr>
          <a:xfrm>
            <a:off x="3398381" y="3411758"/>
            <a:ext cx="246888" cy="32316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0E90B2-5362-C2E7-BDA0-4EC4BC57B870}"/>
              </a:ext>
            </a:extLst>
          </p:cNvPr>
          <p:cNvSpPr txBox="1"/>
          <p:nvPr/>
        </p:nvSpPr>
        <p:spPr>
          <a:xfrm>
            <a:off x="3398381" y="5160145"/>
            <a:ext cx="75713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Berkeley Mono" pitchFamily="49" charset="77"/>
              </a:rPr>
              <a:t>187 Non-Deterministic Collisions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F69FA7A7-997C-AE98-B62F-5BB61E1CD545}"/>
              </a:ext>
            </a:extLst>
          </p:cNvPr>
          <p:cNvCxnSpPr>
            <a:stCxn id="35" idx="1"/>
            <a:endCxn id="37" idx="1"/>
          </p:cNvCxnSpPr>
          <p:nvPr/>
        </p:nvCxnSpPr>
        <p:spPr>
          <a:xfrm rot="10800000" flipV="1">
            <a:off x="3398381" y="3573340"/>
            <a:ext cx="12700" cy="1863803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CBECAA4-D86C-E858-591B-8D208C805542}"/>
              </a:ext>
            </a:extLst>
          </p:cNvPr>
          <p:cNvSpPr txBox="1"/>
          <p:nvPr/>
        </p:nvSpPr>
        <p:spPr>
          <a:xfrm>
            <a:off x="3404656" y="5596665"/>
            <a:ext cx="110799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(28.41%)</a:t>
            </a:r>
          </a:p>
        </p:txBody>
      </p:sp>
    </p:spTree>
    <p:extLst>
      <p:ext uri="{BB962C8B-B14F-4D97-AF65-F5344CB8AC3E}">
        <p14:creationId xmlns:p14="http://schemas.microsoft.com/office/powerpoint/2010/main" val="4009763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BF125-1DB3-0DDF-10CD-36205EBE3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2885D-DC6B-C173-B596-C1B3F22D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A98525-689A-F1C2-E986-1954ECF98139}"/>
              </a:ext>
            </a:extLst>
          </p:cNvPr>
          <p:cNvSpPr txBox="1"/>
          <p:nvPr/>
        </p:nvSpPr>
        <p:spPr>
          <a:xfrm>
            <a:off x="474846" y="2613392"/>
            <a:ext cx="112423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latin typeface="Berkeley Mono" pitchFamily="49" charset="77"/>
              </a:rPr>
              <a:t>Should we ignore 187 non-deterministic collisions?</a:t>
            </a:r>
          </a:p>
        </p:txBody>
      </p:sp>
    </p:spTree>
    <p:extLst>
      <p:ext uri="{BB962C8B-B14F-4D97-AF65-F5344CB8AC3E}">
        <p14:creationId xmlns:p14="http://schemas.microsoft.com/office/powerpoint/2010/main" val="1972793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ED5E4F7-CADC-E6BF-15F9-5AA416AA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0C78-BB7B-DF91-6F73-8CC026FFB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AA3EAA-BFD0-1C9E-F531-EEC6C27D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29EBA1-F0CA-52D5-9779-DBEE0C09D138}"/>
              </a:ext>
            </a:extLst>
          </p:cNvPr>
          <p:cNvSpPr txBox="1"/>
          <p:nvPr/>
        </p:nvSpPr>
        <p:spPr>
          <a:xfrm>
            <a:off x="173737" y="1295609"/>
            <a:ext cx="133882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latin typeface="Berkeley Mono" pitchFamily="49" charset="77"/>
              </a:rPr>
              <a:t>YES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49D286-2645-FFA1-72E2-06F602ACB743}"/>
              </a:ext>
            </a:extLst>
          </p:cNvPr>
          <p:cNvSpPr txBox="1"/>
          <p:nvPr/>
        </p:nvSpPr>
        <p:spPr>
          <a:xfrm>
            <a:off x="173736" y="630936"/>
            <a:ext cx="11868912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Should we ignore 187 non-deterministic collisions?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1AEEA9-0E50-61CD-E547-FE000EB24A2D}"/>
              </a:ext>
            </a:extLst>
          </p:cNvPr>
          <p:cNvSpPr txBox="1"/>
          <p:nvPr/>
        </p:nvSpPr>
        <p:spPr>
          <a:xfrm>
            <a:off x="173737" y="2513004"/>
            <a:ext cx="5520053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“since they lower the reliability of simulation-based tests” (Birchler et. al)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15300E-CC7D-644E-145D-48E66B9A600B}"/>
              </a:ext>
            </a:extLst>
          </p:cNvPr>
          <p:cNvSpPr txBox="1"/>
          <p:nvPr/>
        </p:nvSpPr>
        <p:spPr>
          <a:xfrm>
            <a:off x="173737" y="3884288"/>
            <a:ext cx="5520054" cy="132343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“’</a:t>
            </a:r>
            <a:r>
              <a:rPr lang="en-US" sz="2000" i="1" dirty="0">
                <a:solidFill>
                  <a:schemeClr val="bg1"/>
                </a:solidFill>
                <a:latin typeface="Berkeley Mono" pitchFamily="49" charset="77"/>
              </a:rPr>
              <a:t>If the test has a very low flake rate, it is not really worth the investigation’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 (P10).”</a:t>
            </a:r>
          </a:p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Berkeley Mono" pitchFamily="49" charset="77"/>
              </a:rPr>
              <a:t>Habchi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 et. al)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576F3F-54B2-84AC-F272-1E69F853B8AD}"/>
              </a:ext>
            </a:extLst>
          </p:cNvPr>
          <p:cNvSpPr txBox="1"/>
          <p:nvPr/>
        </p:nvSpPr>
        <p:spPr>
          <a:xfrm>
            <a:off x="6186630" y="1295609"/>
            <a:ext cx="287771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0" dirty="0">
                <a:latin typeface="Berkeley Mono" pitchFamily="49" charset="77"/>
              </a:rPr>
              <a:t>But ...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C6947D-EE77-87B9-E7C0-3AAC7145EF3B}"/>
              </a:ext>
            </a:extLst>
          </p:cNvPr>
          <p:cNvSpPr txBox="1"/>
          <p:nvPr/>
        </p:nvSpPr>
        <p:spPr>
          <a:xfrm>
            <a:off x="6186630" y="4499841"/>
            <a:ext cx="5856018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Automatic generation targets rare and critical test scenarios. </a:t>
            </a:r>
            <a:br>
              <a:rPr lang="en-US" sz="2000" dirty="0">
                <a:latin typeface="Berkeley Mono" pitchFamily="49" charset="77"/>
              </a:rPr>
            </a:br>
            <a:r>
              <a:rPr lang="en-US" sz="2000" dirty="0">
                <a:latin typeface="Berkeley Mono" pitchFamily="49" charset="77"/>
              </a:rPr>
              <a:t>(</a:t>
            </a:r>
            <a:r>
              <a:rPr lang="en-US" sz="2000" dirty="0" err="1">
                <a:latin typeface="Berkeley Mono" pitchFamily="49" charset="77"/>
              </a:rPr>
              <a:t>Klischat</a:t>
            </a:r>
            <a:r>
              <a:rPr lang="en-US" sz="2000" dirty="0">
                <a:latin typeface="Berkeley Mono" pitchFamily="49" charset="77"/>
              </a:rPr>
              <a:t> and Althoff)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E984CC-88B5-A714-AAFA-08A4DA94FCAA}"/>
              </a:ext>
            </a:extLst>
          </p:cNvPr>
          <p:cNvSpPr txBox="1"/>
          <p:nvPr/>
        </p:nvSpPr>
        <p:spPr>
          <a:xfrm>
            <a:off x="6186630" y="2513004"/>
            <a:ext cx="5856018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“Long-tail and rare event problems become crucial when autonomous driving algorithms are applied in the real world.”</a:t>
            </a:r>
            <a:br>
              <a:rPr lang="en-US" sz="2000" dirty="0">
                <a:latin typeface="Berkeley Mono" pitchFamily="49" charset="77"/>
              </a:rPr>
            </a:br>
            <a:r>
              <a:rPr lang="en-US" sz="2000" dirty="0">
                <a:latin typeface="Berkeley Mono" pitchFamily="49" charset="77"/>
              </a:rPr>
              <a:t>(Ding et. al)</a:t>
            </a:r>
          </a:p>
        </p:txBody>
      </p:sp>
    </p:spTree>
    <p:extLst>
      <p:ext uri="{BB962C8B-B14F-4D97-AF65-F5344CB8AC3E}">
        <p14:creationId xmlns:p14="http://schemas.microsoft.com/office/powerpoint/2010/main" val="1530899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3B6982B-D01B-3DEC-5AA9-1DCA3F3F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54700-338C-CEB2-C4B8-7F9B3CF54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1578C-574D-5C9F-D26E-EF9170152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5F070-102A-7CAD-DD4A-6C89CEF0FB99}"/>
              </a:ext>
            </a:extLst>
          </p:cNvPr>
          <p:cNvSpPr txBox="1"/>
          <p:nvPr/>
        </p:nvSpPr>
        <p:spPr>
          <a:xfrm>
            <a:off x="474846" y="2878090"/>
            <a:ext cx="112423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latin typeface="Berkeley Mono" pitchFamily="49" charset="77"/>
              </a:rPr>
              <a:t>Where does non-determinism come from?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B81BC9-98E6-08AF-C506-7905529FD114}"/>
              </a:ext>
            </a:extLst>
          </p:cNvPr>
          <p:cNvSpPr txBox="1"/>
          <p:nvPr/>
        </p:nvSpPr>
        <p:spPr>
          <a:xfrm>
            <a:off x="173736" y="630936"/>
            <a:ext cx="11868912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Should we ignore 187 non-deterministic collisions?</a:t>
            </a:r>
          </a:p>
        </p:txBody>
      </p:sp>
    </p:spTree>
    <p:extLst>
      <p:ext uri="{BB962C8B-B14F-4D97-AF65-F5344CB8AC3E}">
        <p14:creationId xmlns:p14="http://schemas.microsoft.com/office/powerpoint/2010/main" val="2851072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DF7BC-37C7-8BDE-D453-7C627A909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3974F-67DE-9E84-D8CC-EEB951A5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F27F40-36F7-F244-3B02-D5BA656F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38F8E-E31E-5650-D97D-5036EDF3406E}"/>
              </a:ext>
            </a:extLst>
          </p:cNvPr>
          <p:cNvSpPr txBox="1"/>
          <p:nvPr/>
        </p:nvSpPr>
        <p:spPr>
          <a:xfrm>
            <a:off x="474846" y="2613392"/>
            <a:ext cx="112423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latin typeface="Berkeley Mono" pitchFamily="49" charset="77"/>
              </a:rPr>
              <a:t>Where does non-determinism come from?</a:t>
            </a:r>
          </a:p>
        </p:txBody>
      </p:sp>
    </p:spTree>
    <p:extLst>
      <p:ext uri="{BB962C8B-B14F-4D97-AF65-F5344CB8AC3E}">
        <p14:creationId xmlns:p14="http://schemas.microsoft.com/office/powerpoint/2010/main" val="2702817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8BED6-0212-7AC2-C60B-4B4FF410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52B04-31A4-06B4-C194-5A2FB412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// Preliminary Studies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0064E-7958-96C0-FE5D-86918B68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AD3828-5879-4D5D-49FC-429E5A1A8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36" y="669436"/>
            <a:ext cx="3866977" cy="5725414"/>
          </a:xfrm>
          <a:prstGeom prst="rect">
            <a:avLst/>
          </a:prstGeom>
          <a:ln w="38100">
            <a:solidFill>
              <a:schemeClr val="tx1"/>
            </a:solidFill>
            <a:miter lim="800000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171F5E-11F4-58BB-38A7-F331D1807D3C}"/>
              </a:ext>
            </a:extLst>
          </p:cNvPr>
          <p:cNvSpPr txBox="1"/>
          <p:nvPr/>
        </p:nvSpPr>
        <p:spPr>
          <a:xfrm>
            <a:off x="4351256" y="1329398"/>
            <a:ext cx="7657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“Repeated executions of the exact same scenario and parameterization lead to diverging paths.”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D884C7-3925-2AB4-5CF1-EEF0FB6B551F}"/>
              </a:ext>
            </a:extLst>
          </p:cNvPr>
          <p:cNvSpPr txBox="1"/>
          <p:nvPr/>
        </p:nvSpPr>
        <p:spPr>
          <a:xfrm>
            <a:off x="4351256" y="663205"/>
            <a:ext cx="2339102" cy="40011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Laurent et. 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6FB03-6803-4F53-17E2-D9E6B8235943}"/>
              </a:ext>
            </a:extLst>
          </p:cNvPr>
          <p:cNvSpPr txBox="1"/>
          <p:nvPr/>
        </p:nvSpPr>
        <p:spPr>
          <a:xfrm>
            <a:off x="4351257" y="5994740"/>
            <a:ext cx="7304590" cy="4001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ADS is non-deterministic at system level.</a:t>
            </a:r>
          </a:p>
        </p:txBody>
      </p:sp>
      <p:pic>
        <p:nvPicPr>
          <p:cNvPr id="7" name="Picture 6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37ABCBF3-734A-9649-D10B-90ADBA3D1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256" y="2138740"/>
            <a:ext cx="7304590" cy="375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21235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238EE-B5C6-9034-2EEC-5E7F6751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0353-6BED-6EE7-C20B-FA5445AE0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Preliminary Studies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83E83-C17F-F758-5B8E-9F76245D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C65A7-1215-88D6-B471-C27C6FE5B3DC}"/>
              </a:ext>
            </a:extLst>
          </p:cNvPr>
          <p:cNvSpPr txBox="1"/>
          <p:nvPr/>
        </p:nvSpPr>
        <p:spPr>
          <a:xfrm>
            <a:off x="177845" y="630298"/>
            <a:ext cx="2431901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ApolloAuto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/apollo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26.5k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D39A60-B059-040E-293D-7EC87DD049A7}"/>
              </a:ext>
            </a:extLst>
          </p:cNvPr>
          <p:cNvSpPr txBox="1"/>
          <p:nvPr/>
        </p:nvSpPr>
        <p:spPr>
          <a:xfrm>
            <a:off x="6530472" y="628013"/>
            <a:ext cx="3186971" cy="246221"/>
          </a:xfrm>
          <a:prstGeom prst="rect">
            <a:avLst/>
          </a:prstGeom>
          <a:solidFill>
            <a:schemeClr val="tx1"/>
          </a:solidFill>
          <a:ln w="38100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autowarefoundation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11.3k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DE92E258-7D26-C7B4-E9AF-C62FF6F1A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272" y="635302"/>
            <a:ext cx="228600" cy="228600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5CB77545-ED9F-3F53-42D8-10B9F66F8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33" y="646728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A068A6D-F45B-59E7-450F-9E86320A8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472" y="1050287"/>
            <a:ext cx="5238897" cy="5238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535420F-F229-B224-810A-DA7F2AAD4D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633" y="1045718"/>
            <a:ext cx="5238897" cy="5238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644885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8DA4A-6113-ACB5-1908-B86685E0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5C4CA-D3D0-35BB-F471-F254B69B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Preliminary Studies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266C51-454F-4E6C-5033-3BE04D01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B104E-AD51-92D9-E202-89CCCEADC54A}"/>
              </a:ext>
            </a:extLst>
          </p:cNvPr>
          <p:cNvSpPr txBox="1"/>
          <p:nvPr/>
        </p:nvSpPr>
        <p:spPr>
          <a:xfrm>
            <a:off x="177845" y="630298"/>
            <a:ext cx="2431901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ApolloAuto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/apollo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26.5k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70459-CD6E-46C5-A228-22001CD96F1A}"/>
              </a:ext>
            </a:extLst>
          </p:cNvPr>
          <p:cNvSpPr txBox="1"/>
          <p:nvPr/>
        </p:nvSpPr>
        <p:spPr>
          <a:xfrm>
            <a:off x="2694846" y="632731"/>
            <a:ext cx="3186971" cy="246221"/>
          </a:xfrm>
          <a:prstGeom prst="rect">
            <a:avLst/>
          </a:prstGeom>
          <a:solidFill>
            <a:schemeClr val="tx1"/>
          </a:solidFill>
          <a:ln w="38100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autowarefoundation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11.3k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26F65CBC-27F5-0333-E026-6630611D8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646" y="640020"/>
            <a:ext cx="228600" cy="228600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96FCDF02-48A3-0970-C959-32D237F9E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33" y="646728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3E6651-7436-CB1E-9E1F-C9180F7D10C6}"/>
              </a:ext>
            </a:extLst>
          </p:cNvPr>
          <p:cNvSpPr txBox="1"/>
          <p:nvPr/>
        </p:nvSpPr>
        <p:spPr>
          <a:xfrm>
            <a:off x="190632" y="1984408"/>
            <a:ext cx="2701867" cy="976036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Berkeley Mono" pitchFamily="49" charset="77"/>
              </a:rPr>
              <a:t>Perception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Detect objects &amp; lanes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53426A-DC4F-84D8-ED65-EE5B9DF38240}"/>
              </a:ext>
            </a:extLst>
          </p:cNvPr>
          <p:cNvSpPr txBox="1"/>
          <p:nvPr/>
        </p:nvSpPr>
        <p:spPr>
          <a:xfrm>
            <a:off x="190632" y="3296001"/>
            <a:ext cx="2683627" cy="976036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Berkeley Mono" pitchFamily="49" charset="77"/>
              </a:rPr>
              <a:t>Prediction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Others’ future motion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C02EE6-8D2A-473F-0554-4BE0BF9C73E7}"/>
              </a:ext>
            </a:extLst>
          </p:cNvPr>
          <p:cNvSpPr txBox="1"/>
          <p:nvPr/>
        </p:nvSpPr>
        <p:spPr>
          <a:xfrm>
            <a:off x="4223604" y="3310469"/>
            <a:ext cx="3042897" cy="976036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Berkeley Mono" pitchFamily="49" charset="77"/>
              </a:rPr>
              <a:t>Planning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Ego trajectory selection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575CCF-C77F-38E3-FC95-A15FB601AFF3}"/>
              </a:ext>
            </a:extLst>
          </p:cNvPr>
          <p:cNvSpPr txBox="1"/>
          <p:nvPr/>
        </p:nvSpPr>
        <p:spPr>
          <a:xfrm>
            <a:off x="9046143" y="3296001"/>
            <a:ext cx="2468880" cy="976036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Berkeley Mono" pitchFamily="49" charset="77"/>
              </a:rPr>
              <a:t>Control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Execute trajectory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D6A6F8-DECB-DAAC-32B4-C3A154F0A761}"/>
              </a:ext>
            </a:extLst>
          </p:cNvPr>
          <p:cNvSpPr txBox="1"/>
          <p:nvPr/>
        </p:nvSpPr>
        <p:spPr>
          <a:xfrm>
            <a:off x="4223605" y="4610472"/>
            <a:ext cx="3042896" cy="976036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Berkeley Mono" pitchFamily="49" charset="77"/>
              </a:rPr>
              <a:t>Localization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Ego pose estimation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69DEC2-0A1A-B71A-D70A-B613D8F174B7}"/>
              </a:ext>
            </a:extLst>
          </p:cNvPr>
          <p:cNvSpPr txBox="1"/>
          <p:nvPr/>
        </p:nvSpPr>
        <p:spPr>
          <a:xfrm>
            <a:off x="4223604" y="2010466"/>
            <a:ext cx="3042897" cy="976036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Berkeley Mono" pitchFamily="49" charset="77"/>
              </a:rPr>
              <a:t>Routing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Global route planning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AA173A-845A-7E63-595E-87385A5514E8}"/>
              </a:ext>
            </a:extLst>
          </p:cNvPr>
          <p:cNvSpPr txBox="1"/>
          <p:nvPr/>
        </p:nvSpPr>
        <p:spPr>
          <a:xfrm>
            <a:off x="3790806" y="1107927"/>
            <a:ext cx="2185214" cy="5011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latin typeface="Berkeley Mono" pitchFamily="49" charset="77"/>
              </a:rPr>
              <a:t>Multi-module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C52042-819D-F500-D181-34AEEA3CEFBE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1532446" y="2960444"/>
            <a:ext cx="9120" cy="335557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369481-D506-A731-A14C-700844C7AAA2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2874259" y="3784019"/>
            <a:ext cx="1349345" cy="1446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C13665-AB41-D6E0-AB04-670AD3AB1EDF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7266501" y="3784019"/>
            <a:ext cx="1779642" cy="1446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805C38D-D9E8-DCC7-C8C0-4D66497D44AA}"/>
              </a:ext>
            </a:extLst>
          </p:cNvPr>
          <p:cNvCxnSpPr>
            <a:cxnSpLocks/>
            <a:stCxn id="11" idx="2"/>
            <a:endCxn id="18" idx="0"/>
          </p:cNvCxnSpPr>
          <p:nvPr/>
        </p:nvCxnSpPr>
        <p:spPr>
          <a:xfrm>
            <a:off x="5745053" y="2986502"/>
            <a:ext cx="0" cy="323967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A23B987-E051-8F9B-42A9-545AD4B19685}"/>
              </a:ext>
            </a:extLst>
          </p:cNvPr>
          <p:cNvCxnSpPr>
            <a:cxnSpLocks/>
            <a:stCxn id="10" idx="0"/>
            <a:endCxn id="18" idx="2"/>
          </p:cNvCxnSpPr>
          <p:nvPr/>
        </p:nvCxnSpPr>
        <p:spPr>
          <a:xfrm flipV="1">
            <a:off x="5745053" y="4286505"/>
            <a:ext cx="0" cy="323967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FA8410-5201-1F7C-1BD2-E75A05937314}"/>
              </a:ext>
            </a:extLst>
          </p:cNvPr>
          <p:cNvSpPr txBox="1"/>
          <p:nvPr/>
        </p:nvSpPr>
        <p:spPr>
          <a:xfrm>
            <a:off x="5745053" y="1107927"/>
            <a:ext cx="2031325" cy="5011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 u="sng" dirty="0">
                <a:latin typeface="Berkeley Mono" pitchFamily="49" charset="77"/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2033282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F8CA2-FCD3-272E-3A06-A0F7C2D01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3F12A5-5459-D5E1-EE3A-FAD70D579162}"/>
              </a:ext>
            </a:extLst>
          </p:cNvPr>
          <p:cNvSpPr txBox="1"/>
          <p:nvPr/>
        </p:nvSpPr>
        <p:spPr>
          <a:xfrm>
            <a:off x="2695069" y="1105592"/>
            <a:ext cx="2185214" cy="5011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latin typeface="Berkeley Mono" pitchFamily="49" charset="77"/>
              </a:rPr>
              <a:t>Multi-module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16C47-0C54-A9D4-A9E3-BACF2509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Preliminary Studies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0B1F31-7233-EA7F-3B36-5867D0F2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15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29B76-60B5-57DC-DC0F-B05A99636C52}"/>
              </a:ext>
            </a:extLst>
          </p:cNvPr>
          <p:cNvSpPr txBox="1"/>
          <p:nvPr/>
        </p:nvSpPr>
        <p:spPr>
          <a:xfrm>
            <a:off x="7390031" y="1105593"/>
            <a:ext cx="2031325" cy="5011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 u="sng" dirty="0">
                <a:latin typeface="Berkeley Mono" pitchFamily="49" charset="77"/>
              </a:rPr>
              <a:t>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480769-0E28-EED5-F882-9CE694C14CC1}"/>
              </a:ext>
            </a:extLst>
          </p:cNvPr>
          <p:cNvSpPr txBox="1"/>
          <p:nvPr/>
        </p:nvSpPr>
        <p:spPr>
          <a:xfrm>
            <a:off x="4669404" y="1105593"/>
            <a:ext cx="2954655" cy="5011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latin typeface="Berkeley Mono" pitchFamily="49" charset="77"/>
              </a:rPr>
              <a:t>Publish-Subscribe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AF1C43-1FB5-D7B4-912D-091A4C5F9CF4}"/>
              </a:ext>
            </a:extLst>
          </p:cNvPr>
          <p:cNvSpPr txBox="1"/>
          <p:nvPr/>
        </p:nvSpPr>
        <p:spPr>
          <a:xfrm>
            <a:off x="403476" y="2751506"/>
            <a:ext cx="1881236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Perception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Detect objects &amp; lanes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F9610C-86AB-DABC-E90F-9838AAB65720}"/>
              </a:ext>
            </a:extLst>
          </p:cNvPr>
          <p:cNvSpPr txBox="1"/>
          <p:nvPr/>
        </p:nvSpPr>
        <p:spPr>
          <a:xfrm>
            <a:off x="2407180" y="2751506"/>
            <a:ext cx="1788638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Prediction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Others’ future motion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6C10DD-75AF-08F6-4317-5F93B015DF11}"/>
              </a:ext>
            </a:extLst>
          </p:cNvPr>
          <p:cNvSpPr txBox="1"/>
          <p:nvPr/>
        </p:nvSpPr>
        <p:spPr>
          <a:xfrm>
            <a:off x="6235048" y="2751506"/>
            <a:ext cx="2042859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Planning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Ego trajectory selection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FD2495-028E-0B59-8225-AAB815B437E1}"/>
              </a:ext>
            </a:extLst>
          </p:cNvPr>
          <p:cNvSpPr txBox="1"/>
          <p:nvPr/>
        </p:nvSpPr>
        <p:spPr>
          <a:xfrm>
            <a:off x="10232257" y="2751506"/>
            <a:ext cx="1556267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Control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Execute trajectory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ABA279-3BD8-478C-F90C-95EE099F4C40}"/>
              </a:ext>
            </a:extLst>
          </p:cNvPr>
          <p:cNvSpPr txBox="1"/>
          <p:nvPr/>
        </p:nvSpPr>
        <p:spPr>
          <a:xfrm>
            <a:off x="8400375" y="2751506"/>
            <a:ext cx="1709413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Localization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Ego pose estimation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9A0B5D-8266-6985-C332-70DC72472930}"/>
              </a:ext>
            </a:extLst>
          </p:cNvPr>
          <p:cNvSpPr txBox="1"/>
          <p:nvPr/>
        </p:nvSpPr>
        <p:spPr>
          <a:xfrm>
            <a:off x="4318286" y="2751506"/>
            <a:ext cx="1794294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Routing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Global route planning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26EF7D-DA43-B4C1-BA3B-AEE055E78E6B}"/>
              </a:ext>
            </a:extLst>
          </p:cNvPr>
          <p:cNvSpPr txBox="1"/>
          <p:nvPr/>
        </p:nvSpPr>
        <p:spPr>
          <a:xfrm>
            <a:off x="403476" y="3799755"/>
            <a:ext cx="11385048" cy="64299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Middleware (ROS/</a:t>
            </a:r>
            <a:r>
              <a:rPr lang="en-US" sz="1500" b="1" dirty="0" err="1">
                <a:latin typeface="Berkeley Mono" pitchFamily="49" charset="77"/>
              </a:rPr>
              <a:t>CyberRT</a:t>
            </a:r>
            <a:r>
              <a:rPr lang="en-US" sz="1500" b="1" dirty="0">
                <a:latin typeface="Berkeley Mono" pitchFamily="49" charset="7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Message Bus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45B849-6849-C797-DAF0-0EDE6D3C6F76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1344094" y="3394503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378CDA-9995-2CFC-CF6A-656A3ADEEABE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3301499" y="3394503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5EE5E6-7E83-910D-173E-56A4AF90A532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212605" y="3394503"/>
            <a:ext cx="2828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E26BFB4-760D-B850-CD37-BF5C4AD5A387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7256478" y="3394503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21CB55-DB09-928C-A646-7743DB6F2B91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9255082" y="3394503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082F41F-1A89-9BFF-F7CA-A8C9F55DACDB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1010391" y="3394503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E69CFA7-A02F-D238-F420-404C9804FA5A}"/>
              </a:ext>
            </a:extLst>
          </p:cNvPr>
          <p:cNvSpPr txBox="1"/>
          <p:nvPr/>
        </p:nvSpPr>
        <p:spPr>
          <a:xfrm>
            <a:off x="177845" y="630298"/>
            <a:ext cx="2431901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ApolloAuto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/apollo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26.5k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DA1C48-245E-8B84-8996-7CEDA559039C}"/>
              </a:ext>
            </a:extLst>
          </p:cNvPr>
          <p:cNvSpPr txBox="1"/>
          <p:nvPr/>
        </p:nvSpPr>
        <p:spPr>
          <a:xfrm>
            <a:off x="2694846" y="632731"/>
            <a:ext cx="3186971" cy="246221"/>
          </a:xfrm>
          <a:prstGeom prst="rect">
            <a:avLst/>
          </a:prstGeom>
          <a:solidFill>
            <a:schemeClr val="tx1"/>
          </a:solidFill>
          <a:ln w="38100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autowarefoundation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11.3k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</a:p>
        </p:txBody>
      </p:sp>
      <p:pic>
        <p:nvPicPr>
          <p:cNvPr id="53" name="Picture 8">
            <a:extLst>
              <a:ext uri="{FF2B5EF4-FFF2-40B4-BE49-F238E27FC236}">
                <a16:creationId xmlns:a16="http://schemas.microsoft.com/office/drawing/2014/main" id="{D07207E6-4080-1196-0C3D-5F1287191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646" y="640020"/>
            <a:ext cx="228600" cy="228600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6">
            <a:extLst>
              <a:ext uri="{FF2B5EF4-FFF2-40B4-BE49-F238E27FC236}">
                <a16:creationId xmlns:a16="http://schemas.microsoft.com/office/drawing/2014/main" id="{A6370682-DE0F-44C1-CE1E-C48092A9A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33" y="646728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3A8B37-581C-991E-0F7C-8266C10FBD3C}"/>
              </a:ext>
            </a:extLst>
          </p:cNvPr>
          <p:cNvSpPr txBox="1"/>
          <p:nvPr/>
        </p:nvSpPr>
        <p:spPr>
          <a:xfrm>
            <a:off x="403476" y="4524839"/>
            <a:ext cx="1138504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Communication between modules only </a:t>
            </a:r>
            <a:r>
              <a:rPr lang="en-US" sz="1500" u="sng" dirty="0">
                <a:latin typeface="Berkeley Mono" pitchFamily="49" charset="77"/>
              </a:rPr>
              <a:t>implicitly</a:t>
            </a:r>
            <a:r>
              <a:rPr lang="en-US" sz="1500" dirty="0">
                <a:latin typeface="Berkeley Mono" pitchFamily="49" charset="77"/>
              </a:rPr>
              <a:t> exists through the message bus!</a:t>
            </a:r>
          </a:p>
        </p:txBody>
      </p:sp>
    </p:spTree>
    <p:extLst>
      <p:ext uri="{BB962C8B-B14F-4D97-AF65-F5344CB8AC3E}">
        <p14:creationId xmlns:p14="http://schemas.microsoft.com/office/powerpoint/2010/main" val="3352637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A73CE-25CC-96DC-1EE2-6D322CCF9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4E300-BDE6-8E44-BE29-AC8B8F5EBC76}"/>
              </a:ext>
            </a:extLst>
          </p:cNvPr>
          <p:cNvSpPr txBox="1"/>
          <p:nvPr/>
        </p:nvSpPr>
        <p:spPr>
          <a:xfrm>
            <a:off x="2695069" y="1105592"/>
            <a:ext cx="2185214" cy="5011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latin typeface="Berkeley Mono" pitchFamily="49" charset="77"/>
              </a:rPr>
              <a:t>Multi-module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F4F932-5E8B-4D39-FC12-65756F77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Preliminary Studies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6A9CBE-1625-90D8-83DE-9B34BC079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16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B9D691-2661-7EBD-315A-8F1D3EBB2D42}"/>
              </a:ext>
            </a:extLst>
          </p:cNvPr>
          <p:cNvSpPr txBox="1"/>
          <p:nvPr/>
        </p:nvSpPr>
        <p:spPr>
          <a:xfrm>
            <a:off x="7390031" y="1105593"/>
            <a:ext cx="2031325" cy="5011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 u="sng" dirty="0">
                <a:latin typeface="Berkeley Mono" pitchFamily="49" charset="77"/>
              </a:rPr>
              <a:t>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698C06-6CDB-5891-E258-5EAEEE4A4495}"/>
              </a:ext>
            </a:extLst>
          </p:cNvPr>
          <p:cNvSpPr txBox="1"/>
          <p:nvPr/>
        </p:nvSpPr>
        <p:spPr>
          <a:xfrm>
            <a:off x="4669404" y="1105593"/>
            <a:ext cx="2954655" cy="5011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latin typeface="Berkeley Mono" pitchFamily="49" charset="77"/>
              </a:rPr>
              <a:t>Publish-Subscribe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98E622-ABD1-506A-B71B-E4A6F8B993E0}"/>
              </a:ext>
            </a:extLst>
          </p:cNvPr>
          <p:cNvSpPr txBox="1"/>
          <p:nvPr/>
        </p:nvSpPr>
        <p:spPr>
          <a:xfrm>
            <a:off x="403476" y="1841328"/>
            <a:ext cx="1881236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Perception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Detect objects &amp; lanes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DF9A01-0C54-1629-3EAD-68E6BBE7626D}"/>
              </a:ext>
            </a:extLst>
          </p:cNvPr>
          <p:cNvSpPr txBox="1"/>
          <p:nvPr/>
        </p:nvSpPr>
        <p:spPr>
          <a:xfrm>
            <a:off x="2407180" y="1841328"/>
            <a:ext cx="1788638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Prediction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Others’ future motion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164F0A-4B02-64B1-BDF5-6B5E676EE1EB}"/>
              </a:ext>
            </a:extLst>
          </p:cNvPr>
          <p:cNvSpPr txBox="1"/>
          <p:nvPr/>
        </p:nvSpPr>
        <p:spPr>
          <a:xfrm>
            <a:off x="6235048" y="1841328"/>
            <a:ext cx="2042859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Planning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Ego trajectory selection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0E3C00-0D9C-3F10-8F21-CE363A02FE63}"/>
              </a:ext>
            </a:extLst>
          </p:cNvPr>
          <p:cNvSpPr txBox="1"/>
          <p:nvPr/>
        </p:nvSpPr>
        <p:spPr>
          <a:xfrm>
            <a:off x="10232257" y="1841328"/>
            <a:ext cx="1556267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Control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Execute trajectory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A04F36-45A0-F745-6565-95ED8AB574C3}"/>
              </a:ext>
            </a:extLst>
          </p:cNvPr>
          <p:cNvSpPr txBox="1"/>
          <p:nvPr/>
        </p:nvSpPr>
        <p:spPr>
          <a:xfrm>
            <a:off x="8400375" y="1841328"/>
            <a:ext cx="1709413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Localization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Ego pose estimation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2FFE58-8099-16F3-6449-6957DE9588D8}"/>
              </a:ext>
            </a:extLst>
          </p:cNvPr>
          <p:cNvSpPr txBox="1"/>
          <p:nvPr/>
        </p:nvSpPr>
        <p:spPr>
          <a:xfrm>
            <a:off x="4318286" y="1841328"/>
            <a:ext cx="1794294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Routing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Global route planning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A1C8EB-56D3-5CA7-CF58-15267E41C3B4}"/>
              </a:ext>
            </a:extLst>
          </p:cNvPr>
          <p:cNvSpPr txBox="1"/>
          <p:nvPr/>
        </p:nvSpPr>
        <p:spPr>
          <a:xfrm>
            <a:off x="403476" y="2889577"/>
            <a:ext cx="11385048" cy="64299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Middleware (ROS/</a:t>
            </a:r>
            <a:r>
              <a:rPr lang="en-US" sz="1500" b="1" dirty="0" err="1">
                <a:latin typeface="Berkeley Mono" pitchFamily="49" charset="77"/>
              </a:rPr>
              <a:t>CyberRT</a:t>
            </a:r>
            <a:r>
              <a:rPr lang="en-US" sz="1500" b="1" dirty="0">
                <a:latin typeface="Berkeley Mono" pitchFamily="49" charset="7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Message Bus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ACBC7DC-F0CC-0D89-6D8A-52F9091F8F74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1344094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6CA136E-73F3-E21C-6A2B-555514D2B5A0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3301499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A8879F-C782-20D1-7F61-243B75089F7B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212605" y="2484325"/>
            <a:ext cx="2828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17A3787-9981-8284-015F-8AE0C9CAA440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7256478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FC87B39-8C09-6793-12F7-BB0D301F31E4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9255082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D018271-4797-DEB4-1B27-61DC1C9EE6BD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1010391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4A73CAF-DFF5-6C3A-DFA1-AEF0FCD0F77E}"/>
              </a:ext>
            </a:extLst>
          </p:cNvPr>
          <p:cNvSpPr txBox="1"/>
          <p:nvPr/>
        </p:nvSpPr>
        <p:spPr>
          <a:xfrm>
            <a:off x="403476" y="3891352"/>
            <a:ext cx="5795337" cy="4770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Simulator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LGSVL/CARLA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7D6AAD-CBCE-6DA3-DE70-4F2460601975}"/>
              </a:ext>
            </a:extLst>
          </p:cNvPr>
          <p:cNvSpPr txBox="1"/>
          <p:nvPr/>
        </p:nvSpPr>
        <p:spPr>
          <a:xfrm>
            <a:off x="406279" y="4727188"/>
            <a:ext cx="1682273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AV-FUZZER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15912B-B77C-5963-4591-62C9DF6E43EB}"/>
              </a:ext>
            </a:extLst>
          </p:cNvPr>
          <p:cNvSpPr txBox="1"/>
          <p:nvPr/>
        </p:nvSpPr>
        <p:spPr>
          <a:xfrm>
            <a:off x="2460008" y="4727187"/>
            <a:ext cx="1682272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BehAVExplor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664BC1-90DF-DB97-BB96-10303B9D2810}"/>
              </a:ext>
            </a:extLst>
          </p:cNvPr>
          <p:cNvSpPr txBox="1"/>
          <p:nvPr/>
        </p:nvSpPr>
        <p:spPr>
          <a:xfrm>
            <a:off x="4513736" y="4727186"/>
            <a:ext cx="1685077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DeepCollision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F512D4-DE79-07E1-9F4A-CA603137CE1E}"/>
              </a:ext>
            </a:extLst>
          </p:cNvPr>
          <p:cNvCxnSpPr>
            <a:stCxn id="11" idx="0"/>
          </p:cNvCxnSpPr>
          <p:nvPr/>
        </p:nvCxnSpPr>
        <p:spPr>
          <a:xfrm flipH="1" flipV="1">
            <a:off x="1247415" y="4368406"/>
            <a:ext cx="1" cy="3587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45DF590-D14F-ABA3-2D51-F7A2DE8BD109}"/>
              </a:ext>
            </a:extLst>
          </p:cNvPr>
          <p:cNvCxnSpPr>
            <a:cxnSpLocks/>
            <a:stCxn id="12" idx="0"/>
            <a:endCxn id="10" idx="2"/>
          </p:cNvCxnSpPr>
          <p:nvPr/>
        </p:nvCxnSpPr>
        <p:spPr>
          <a:xfrm flipV="1">
            <a:off x="3301144" y="4368406"/>
            <a:ext cx="1" cy="3587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B9B0E78-B338-B0FE-57D4-607A5832D47F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5356275" y="4368405"/>
            <a:ext cx="0" cy="3587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25AA14C-ADEF-27D3-37CF-088BCB422E8F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3301145" y="3532574"/>
            <a:ext cx="0" cy="3587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4105155-3178-6307-7760-3095665CEF2E}"/>
              </a:ext>
            </a:extLst>
          </p:cNvPr>
          <p:cNvSpPr txBox="1"/>
          <p:nvPr/>
        </p:nvSpPr>
        <p:spPr>
          <a:xfrm>
            <a:off x="177845" y="630298"/>
            <a:ext cx="2431901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ApolloAuto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/apollo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26.5k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4FF9EE-1E88-B733-A481-A9287BD98038}"/>
              </a:ext>
            </a:extLst>
          </p:cNvPr>
          <p:cNvSpPr txBox="1"/>
          <p:nvPr/>
        </p:nvSpPr>
        <p:spPr>
          <a:xfrm>
            <a:off x="2694846" y="632731"/>
            <a:ext cx="3186971" cy="246221"/>
          </a:xfrm>
          <a:prstGeom prst="rect">
            <a:avLst/>
          </a:prstGeom>
          <a:solidFill>
            <a:schemeClr val="tx1"/>
          </a:solidFill>
          <a:ln w="38100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autowarefoundation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11.3k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</a:p>
        </p:txBody>
      </p:sp>
      <p:pic>
        <p:nvPicPr>
          <p:cNvPr id="61" name="Picture 8">
            <a:extLst>
              <a:ext uri="{FF2B5EF4-FFF2-40B4-BE49-F238E27FC236}">
                <a16:creationId xmlns:a16="http://schemas.microsoft.com/office/drawing/2014/main" id="{E560280C-17F8-F6B8-33E3-8FB023CAB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646" y="640020"/>
            <a:ext cx="228600" cy="228600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>
            <a:extLst>
              <a:ext uri="{FF2B5EF4-FFF2-40B4-BE49-F238E27FC236}">
                <a16:creationId xmlns:a16="http://schemas.microsoft.com/office/drawing/2014/main" id="{5D6F3CFB-5BAD-AB2B-2D1F-57B32DC5A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33" y="646728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064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B165B-FD27-8B10-4FE4-2C609EC53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16E2ED0-7AE7-90CA-F372-2844172DFF50}"/>
              </a:ext>
            </a:extLst>
          </p:cNvPr>
          <p:cNvSpPr txBox="1"/>
          <p:nvPr/>
        </p:nvSpPr>
        <p:spPr>
          <a:xfrm>
            <a:off x="2695069" y="1105592"/>
            <a:ext cx="2185214" cy="5011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latin typeface="Berkeley Mono" pitchFamily="49" charset="77"/>
              </a:rPr>
              <a:t>Multi-module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7C7F4-5CCE-A24F-4BF7-E2EE2D4B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Preliminary Studies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E60D1A-1993-8EB3-0668-DD24FBBF5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17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2E979-7A6A-18A2-B08E-595B171F9455}"/>
              </a:ext>
            </a:extLst>
          </p:cNvPr>
          <p:cNvSpPr txBox="1"/>
          <p:nvPr/>
        </p:nvSpPr>
        <p:spPr>
          <a:xfrm>
            <a:off x="7390031" y="1105593"/>
            <a:ext cx="2031325" cy="5011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 u="sng" dirty="0">
                <a:latin typeface="Berkeley Mono" pitchFamily="49" charset="77"/>
              </a:rPr>
              <a:t>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6CA955-40FA-EFED-DE6C-24E4F5CD87BB}"/>
              </a:ext>
            </a:extLst>
          </p:cNvPr>
          <p:cNvSpPr txBox="1"/>
          <p:nvPr/>
        </p:nvSpPr>
        <p:spPr>
          <a:xfrm>
            <a:off x="4669404" y="1105593"/>
            <a:ext cx="2954655" cy="5011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latin typeface="Berkeley Mono" pitchFamily="49" charset="77"/>
              </a:rPr>
              <a:t>Publish-Subscribe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9F6904-0D1F-5C68-E10C-418151CACDFF}"/>
              </a:ext>
            </a:extLst>
          </p:cNvPr>
          <p:cNvSpPr txBox="1"/>
          <p:nvPr/>
        </p:nvSpPr>
        <p:spPr>
          <a:xfrm>
            <a:off x="403476" y="1841328"/>
            <a:ext cx="1881236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Perception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Detect objects &amp; lanes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532EEC-92D3-5D04-F7FF-D08B4BF32991}"/>
              </a:ext>
            </a:extLst>
          </p:cNvPr>
          <p:cNvSpPr txBox="1"/>
          <p:nvPr/>
        </p:nvSpPr>
        <p:spPr>
          <a:xfrm>
            <a:off x="2407180" y="1841328"/>
            <a:ext cx="1788638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Prediction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Others’ future motion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7DD217-4AEB-1C0E-43D4-2FBFC89B413D}"/>
              </a:ext>
            </a:extLst>
          </p:cNvPr>
          <p:cNvSpPr txBox="1"/>
          <p:nvPr/>
        </p:nvSpPr>
        <p:spPr>
          <a:xfrm>
            <a:off x="6235048" y="1841328"/>
            <a:ext cx="2042859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Planning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Ego trajectory selection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5A13A2-5E6A-216A-FBD3-A4B1ED4E3F9B}"/>
              </a:ext>
            </a:extLst>
          </p:cNvPr>
          <p:cNvSpPr txBox="1"/>
          <p:nvPr/>
        </p:nvSpPr>
        <p:spPr>
          <a:xfrm>
            <a:off x="10232257" y="1841328"/>
            <a:ext cx="1556267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Control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Execute trajectory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108100-343C-A13C-AEAF-EB6EFF088EB1}"/>
              </a:ext>
            </a:extLst>
          </p:cNvPr>
          <p:cNvSpPr txBox="1"/>
          <p:nvPr/>
        </p:nvSpPr>
        <p:spPr>
          <a:xfrm>
            <a:off x="8400375" y="1841328"/>
            <a:ext cx="1709413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Localization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Ego pose estimation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D6C1B3-A90B-161F-6725-44F4649715A6}"/>
              </a:ext>
            </a:extLst>
          </p:cNvPr>
          <p:cNvSpPr txBox="1"/>
          <p:nvPr/>
        </p:nvSpPr>
        <p:spPr>
          <a:xfrm>
            <a:off x="4318286" y="1841328"/>
            <a:ext cx="1794294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Routing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Global route planning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535D744-0A6E-E330-E2AB-7B8AEB7B3B03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1344094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09566E1-9736-27F3-5757-B8B5EA8C3EE5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3301499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F5BFE86-F3C9-AF45-5F6F-7C18537A3DC2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212605" y="2484325"/>
            <a:ext cx="2828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34827F3-7D43-DE32-46DF-2D97178CFE03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7256478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ACD9A99-CDB0-6E8F-1998-7E37110A6AE0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9255082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ACE8A63-29DF-6671-3150-98633154FA5B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1010391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F7CDA8A-1E5D-6D13-BEEC-AE422F88F2A9}"/>
              </a:ext>
            </a:extLst>
          </p:cNvPr>
          <p:cNvSpPr txBox="1"/>
          <p:nvPr/>
        </p:nvSpPr>
        <p:spPr>
          <a:xfrm>
            <a:off x="403476" y="3891352"/>
            <a:ext cx="5795337" cy="4770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Simulator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LGSVL/CARLA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FE31C9-D3EC-4522-6B16-1A80C33FE036}"/>
              </a:ext>
            </a:extLst>
          </p:cNvPr>
          <p:cNvSpPr txBox="1"/>
          <p:nvPr/>
        </p:nvSpPr>
        <p:spPr>
          <a:xfrm>
            <a:off x="406279" y="4727188"/>
            <a:ext cx="1682273" cy="323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AV-FUZZER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286228-54FE-7F02-57AC-DE765B8293B7}"/>
              </a:ext>
            </a:extLst>
          </p:cNvPr>
          <p:cNvSpPr txBox="1"/>
          <p:nvPr/>
        </p:nvSpPr>
        <p:spPr>
          <a:xfrm>
            <a:off x="2460008" y="4727187"/>
            <a:ext cx="1682272" cy="323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BehAVExplor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53C325-5DAF-7B00-D88A-6A2F3BE61994}"/>
              </a:ext>
            </a:extLst>
          </p:cNvPr>
          <p:cNvSpPr txBox="1"/>
          <p:nvPr/>
        </p:nvSpPr>
        <p:spPr>
          <a:xfrm>
            <a:off x="4513736" y="4727186"/>
            <a:ext cx="1685077" cy="323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DeepCollision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CA3277-6956-1044-D4E6-673A69728C81}"/>
              </a:ext>
            </a:extLst>
          </p:cNvPr>
          <p:cNvSpPr txBox="1"/>
          <p:nvPr/>
        </p:nvSpPr>
        <p:spPr>
          <a:xfrm>
            <a:off x="6570269" y="4734755"/>
            <a:ext cx="1682273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DoppelTest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E62753-140C-F211-5AA0-9045FC8ED7D8}"/>
              </a:ext>
            </a:extLst>
          </p:cNvPr>
          <p:cNvSpPr txBox="1"/>
          <p:nvPr/>
        </p:nvSpPr>
        <p:spPr>
          <a:xfrm>
            <a:off x="8623998" y="4734754"/>
            <a:ext cx="1682272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Decictor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6CC5A-6485-3F22-8526-E74E612824CF}"/>
              </a:ext>
            </a:extLst>
          </p:cNvPr>
          <p:cNvSpPr txBox="1"/>
          <p:nvPr/>
        </p:nvSpPr>
        <p:spPr>
          <a:xfrm>
            <a:off x="10677725" y="4734754"/>
            <a:ext cx="1107996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META-V2V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359D1E0-6A8A-8FC5-F65B-813DB4313C30}"/>
              </a:ext>
            </a:extLst>
          </p:cNvPr>
          <p:cNvCxnSpPr>
            <a:stCxn id="11" idx="0"/>
          </p:cNvCxnSpPr>
          <p:nvPr/>
        </p:nvCxnSpPr>
        <p:spPr>
          <a:xfrm flipH="1" flipV="1">
            <a:off x="1247415" y="4368406"/>
            <a:ext cx="1" cy="35878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3D826BB-814C-E492-C990-16840731B5BE}"/>
              </a:ext>
            </a:extLst>
          </p:cNvPr>
          <p:cNvCxnSpPr>
            <a:cxnSpLocks/>
            <a:stCxn id="12" idx="0"/>
            <a:endCxn id="10" idx="2"/>
          </p:cNvCxnSpPr>
          <p:nvPr/>
        </p:nvCxnSpPr>
        <p:spPr>
          <a:xfrm flipV="1">
            <a:off x="3301144" y="4368406"/>
            <a:ext cx="1" cy="358781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F8EB7C-0DCA-5823-C270-0BFAF93F1185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5356275" y="4368405"/>
            <a:ext cx="0" cy="358781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952D974-3E50-8C42-2346-D93B3CD48FD3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3301145" y="3532574"/>
            <a:ext cx="0" cy="35877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D665D44-AFB0-589E-C1D0-CAE7FA739209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7411406" y="3532574"/>
            <a:ext cx="0" cy="12021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ED2C037-234D-2624-E651-53B1330C4E4C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9465133" y="3532573"/>
            <a:ext cx="1" cy="12021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2CC5014-5F91-C318-12CA-907DD637F0B3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11231722" y="3532573"/>
            <a:ext cx="1" cy="12021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7A315B7-39A1-B0A0-23C8-762C3294B41E}"/>
              </a:ext>
            </a:extLst>
          </p:cNvPr>
          <p:cNvSpPr txBox="1"/>
          <p:nvPr/>
        </p:nvSpPr>
        <p:spPr>
          <a:xfrm>
            <a:off x="177845" y="630298"/>
            <a:ext cx="2431901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ApolloAuto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/apollo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26.5k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0A3E9F-6B06-3A08-50F6-88C43283CA96}"/>
              </a:ext>
            </a:extLst>
          </p:cNvPr>
          <p:cNvSpPr txBox="1"/>
          <p:nvPr/>
        </p:nvSpPr>
        <p:spPr>
          <a:xfrm>
            <a:off x="2694846" y="632731"/>
            <a:ext cx="3186971" cy="246221"/>
          </a:xfrm>
          <a:prstGeom prst="rect">
            <a:avLst/>
          </a:prstGeom>
          <a:solidFill>
            <a:schemeClr val="tx1"/>
          </a:solidFill>
          <a:ln w="38100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autowarefoundation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11.3k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</a:p>
        </p:txBody>
      </p:sp>
      <p:pic>
        <p:nvPicPr>
          <p:cNvPr id="61" name="Picture 8">
            <a:extLst>
              <a:ext uri="{FF2B5EF4-FFF2-40B4-BE49-F238E27FC236}">
                <a16:creationId xmlns:a16="http://schemas.microsoft.com/office/drawing/2014/main" id="{866CF555-8DBE-9D33-6DB8-AC0EFBBA2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646" y="640020"/>
            <a:ext cx="228600" cy="228600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>
            <a:extLst>
              <a:ext uri="{FF2B5EF4-FFF2-40B4-BE49-F238E27FC236}">
                <a16:creationId xmlns:a16="http://schemas.microsoft.com/office/drawing/2014/main" id="{AFCB3B5D-5CAF-EC4D-BE46-2BC721D4C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33" y="646728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9789DC-0B17-09C7-D9D8-007AE6B76053}"/>
              </a:ext>
            </a:extLst>
          </p:cNvPr>
          <p:cNvSpPr txBox="1"/>
          <p:nvPr/>
        </p:nvSpPr>
        <p:spPr>
          <a:xfrm>
            <a:off x="8398055" y="1841327"/>
            <a:ext cx="3387666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 err="1">
                <a:latin typeface="Berkeley Mono" pitchFamily="49" charset="77"/>
              </a:rPr>
              <a:t>SimControl</a:t>
            </a:r>
            <a:endParaRPr lang="en-US" sz="1500" b="1" dirty="0">
              <a:latin typeface="Berkeley Mono" pitchFamily="49" charset="77"/>
            </a:endParaRP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Simulates Localization and Perfect Control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DB8DC2-F1EE-27F8-7F3D-05480E4EC591}"/>
              </a:ext>
            </a:extLst>
          </p:cNvPr>
          <p:cNvSpPr txBox="1"/>
          <p:nvPr/>
        </p:nvSpPr>
        <p:spPr>
          <a:xfrm>
            <a:off x="403476" y="2889577"/>
            <a:ext cx="11385048" cy="64299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Middleware (ROS/</a:t>
            </a:r>
            <a:r>
              <a:rPr lang="en-US" sz="1500" b="1" dirty="0" err="1">
                <a:latin typeface="Berkeley Mono" pitchFamily="49" charset="77"/>
              </a:rPr>
              <a:t>CyberRT</a:t>
            </a:r>
            <a:r>
              <a:rPr lang="en-US" sz="1500" b="1" dirty="0">
                <a:latin typeface="Berkeley Mono" pitchFamily="49" charset="7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Message Bus</a:t>
            </a:r>
          </a:p>
        </p:txBody>
      </p:sp>
    </p:spTree>
    <p:extLst>
      <p:ext uri="{BB962C8B-B14F-4D97-AF65-F5344CB8AC3E}">
        <p14:creationId xmlns:p14="http://schemas.microsoft.com/office/powerpoint/2010/main" val="64748889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75DC-085E-AB90-14DE-1AE3F47AB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44D74D1-54C8-0893-7B49-E89C2D6E4E3A}"/>
              </a:ext>
            </a:extLst>
          </p:cNvPr>
          <p:cNvSpPr txBox="1"/>
          <p:nvPr/>
        </p:nvSpPr>
        <p:spPr>
          <a:xfrm>
            <a:off x="2695069" y="1105592"/>
            <a:ext cx="2185214" cy="5011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latin typeface="Berkeley Mono" pitchFamily="49" charset="77"/>
              </a:rPr>
              <a:t>Multi-module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5198A-58CF-127A-9A9E-53C646EB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Preliminary Studies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57D351-5E7E-CBAF-4D3A-28A612D36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18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F1337D-2477-8483-D70E-DCD1CBFC83C2}"/>
              </a:ext>
            </a:extLst>
          </p:cNvPr>
          <p:cNvSpPr txBox="1"/>
          <p:nvPr/>
        </p:nvSpPr>
        <p:spPr>
          <a:xfrm>
            <a:off x="7390031" y="1105593"/>
            <a:ext cx="2031325" cy="5011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 u="sng" dirty="0">
                <a:latin typeface="Berkeley Mono" pitchFamily="49" charset="77"/>
              </a:rPr>
              <a:t>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AE9055-5A3F-E0F1-22D9-8C1F2B13A534}"/>
              </a:ext>
            </a:extLst>
          </p:cNvPr>
          <p:cNvSpPr txBox="1"/>
          <p:nvPr/>
        </p:nvSpPr>
        <p:spPr>
          <a:xfrm>
            <a:off x="4669404" y="1105593"/>
            <a:ext cx="2954655" cy="5011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latin typeface="Berkeley Mono" pitchFamily="49" charset="77"/>
              </a:rPr>
              <a:t>Publish-Subscribe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F0005B-6579-F077-6163-35182F35D8E5}"/>
              </a:ext>
            </a:extLst>
          </p:cNvPr>
          <p:cNvSpPr txBox="1"/>
          <p:nvPr/>
        </p:nvSpPr>
        <p:spPr>
          <a:xfrm>
            <a:off x="403476" y="1841328"/>
            <a:ext cx="1881236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Perception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Detect objects &amp; lanes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37CAC4-98D1-0F66-4C78-F0FC5C0E41DC}"/>
              </a:ext>
            </a:extLst>
          </p:cNvPr>
          <p:cNvSpPr txBox="1"/>
          <p:nvPr/>
        </p:nvSpPr>
        <p:spPr>
          <a:xfrm>
            <a:off x="2407180" y="1841328"/>
            <a:ext cx="1788638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Prediction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Others’ future motion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63CA53-4072-E8FD-35E1-C994B6D84373}"/>
              </a:ext>
            </a:extLst>
          </p:cNvPr>
          <p:cNvSpPr txBox="1"/>
          <p:nvPr/>
        </p:nvSpPr>
        <p:spPr>
          <a:xfrm>
            <a:off x="6235048" y="1841328"/>
            <a:ext cx="2042859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Planning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Ego trajectory selection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9CCB82-5836-F457-A844-FD1D9FC5DC07}"/>
              </a:ext>
            </a:extLst>
          </p:cNvPr>
          <p:cNvSpPr txBox="1"/>
          <p:nvPr/>
        </p:nvSpPr>
        <p:spPr>
          <a:xfrm>
            <a:off x="10232257" y="1841328"/>
            <a:ext cx="1556267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(Sim)Control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Execute trajectory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24D777-B005-349E-C803-A03FC7ECDC7C}"/>
              </a:ext>
            </a:extLst>
          </p:cNvPr>
          <p:cNvSpPr txBox="1"/>
          <p:nvPr/>
        </p:nvSpPr>
        <p:spPr>
          <a:xfrm>
            <a:off x="8400375" y="1841328"/>
            <a:ext cx="1709413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Localization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Ego pose estimation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97B6A5-C7A2-6129-869B-0157DA22FE3B}"/>
              </a:ext>
            </a:extLst>
          </p:cNvPr>
          <p:cNvSpPr txBox="1"/>
          <p:nvPr/>
        </p:nvSpPr>
        <p:spPr>
          <a:xfrm>
            <a:off x="4318286" y="1841328"/>
            <a:ext cx="1794294" cy="642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Routing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Global route planning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A69EFC-26D5-5390-67AA-EECDA385B518}"/>
              </a:ext>
            </a:extLst>
          </p:cNvPr>
          <p:cNvSpPr txBox="1"/>
          <p:nvPr/>
        </p:nvSpPr>
        <p:spPr>
          <a:xfrm>
            <a:off x="403476" y="2889577"/>
            <a:ext cx="11385048" cy="64299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latin typeface="Berkeley Mono" pitchFamily="49" charset="77"/>
              </a:rPr>
              <a:t>Middleware (ROS/</a:t>
            </a:r>
            <a:r>
              <a:rPr lang="en-US" sz="1500" b="1" dirty="0" err="1">
                <a:latin typeface="Berkeley Mono" pitchFamily="49" charset="77"/>
              </a:rPr>
              <a:t>CyberRT</a:t>
            </a:r>
            <a:r>
              <a:rPr lang="en-US" sz="1500" b="1" dirty="0">
                <a:latin typeface="Berkeley Mono" pitchFamily="49" charset="7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sz="10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Message Bus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61BC328-0DF3-7964-6E28-2C58B8D2875F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1344094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E7CA1AA-4577-D062-0780-ADDCC12ACDEE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3301499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85F216-4277-7822-1803-BE18BDE66712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212605" y="2484325"/>
            <a:ext cx="2828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D3E65C8-818C-A973-F364-3E979512C93E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7256478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F923FC3-967F-3ACE-A070-25325E4E3A1F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9255082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D538CA1-39EF-CA1E-6D19-A4A1D7F9E28D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1010391" y="2484325"/>
            <a:ext cx="0" cy="4001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3858A-587A-335D-4786-1C5E413B8D2B}"/>
              </a:ext>
            </a:extLst>
          </p:cNvPr>
          <p:cNvSpPr txBox="1"/>
          <p:nvPr/>
        </p:nvSpPr>
        <p:spPr>
          <a:xfrm>
            <a:off x="403476" y="3891352"/>
            <a:ext cx="5795337" cy="4770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Simulator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LGSVL/CARLA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A040F0-1CBC-FF45-2DEC-AC0B74B6FEA3}"/>
              </a:ext>
            </a:extLst>
          </p:cNvPr>
          <p:cNvSpPr txBox="1"/>
          <p:nvPr/>
        </p:nvSpPr>
        <p:spPr>
          <a:xfrm>
            <a:off x="406279" y="4727188"/>
            <a:ext cx="1682273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AV-FUZZER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75F175-2515-DDA7-09E5-7050E51E588C}"/>
              </a:ext>
            </a:extLst>
          </p:cNvPr>
          <p:cNvSpPr txBox="1"/>
          <p:nvPr/>
        </p:nvSpPr>
        <p:spPr>
          <a:xfrm>
            <a:off x="2460008" y="4727187"/>
            <a:ext cx="1682272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BehAVExplor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4B8B88-9210-6D00-90E3-C44D1CBCD543}"/>
              </a:ext>
            </a:extLst>
          </p:cNvPr>
          <p:cNvSpPr txBox="1"/>
          <p:nvPr/>
        </p:nvSpPr>
        <p:spPr>
          <a:xfrm>
            <a:off x="4513736" y="4727186"/>
            <a:ext cx="1685077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DeepCollision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6E6C0-16F2-4E31-C8B4-CB053A892D32}"/>
              </a:ext>
            </a:extLst>
          </p:cNvPr>
          <p:cNvSpPr txBox="1"/>
          <p:nvPr/>
        </p:nvSpPr>
        <p:spPr>
          <a:xfrm>
            <a:off x="6570269" y="4734755"/>
            <a:ext cx="1682273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DoppelTest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A1DDFA-A579-D875-D6CD-E1ABDF66AC91}"/>
              </a:ext>
            </a:extLst>
          </p:cNvPr>
          <p:cNvSpPr txBox="1"/>
          <p:nvPr/>
        </p:nvSpPr>
        <p:spPr>
          <a:xfrm>
            <a:off x="8623998" y="4734754"/>
            <a:ext cx="1682272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 err="1">
                <a:solidFill>
                  <a:schemeClr val="bg1"/>
                </a:solidFill>
                <a:latin typeface="Berkeley Mono" pitchFamily="49" charset="77"/>
              </a:rPr>
              <a:t>Decictor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3C5707-1D98-1379-E51F-762DBF882352}"/>
              </a:ext>
            </a:extLst>
          </p:cNvPr>
          <p:cNvSpPr txBox="1"/>
          <p:nvPr/>
        </p:nvSpPr>
        <p:spPr>
          <a:xfrm>
            <a:off x="10677725" y="4734754"/>
            <a:ext cx="1107996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META-V2V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A8E3A1-8059-C7C5-FDD1-A15FF746D1F2}"/>
              </a:ext>
            </a:extLst>
          </p:cNvPr>
          <p:cNvCxnSpPr>
            <a:stCxn id="11" idx="0"/>
          </p:cNvCxnSpPr>
          <p:nvPr/>
        </p:nvCxnSpPr>
        <p:spPr>
          <a:xfrm flipH="1" flipV="1">
            <a:off x="1247415" y="4368406"/>
            <a:ext cx="1" cy="3587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07D113-04D3-A1F1-838B-DED9E2E8C751}"/>
              </a:ext>
            </a:extLst>
          </p:cNvPr>
          <p:cNvCxnSpPr>
            <a:cxnSpLocks/>
            <a:stCxn id="12" idx="0"/>
            <a:endCxn id="10" idx="2"/>
          </p:cNvCxnSpPr>
          <p:nvPr/>
        </p:nvCxnSpPr>
        <p:spPr>
          <a:xfrm flipV="1">
            <a:off x="3301144" y="4368406"/>
            <a:ext cx="1" cy="3587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9D660C4-14EE-EE89-FAD1-67ED78ABE8C1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5356275" y="4368405"/>
            <a:ext cx="0" cy="3587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E0FF5AE-46AD-D096-A5C8-F07BA8DBD76D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3301145" y="3532574"/>
            <a:ext cx="0" cy="3587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6058669-2D27-7499-6EA5-8519C51581CD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7411406" y="3532574"/>
            <a:ext cx="0" cy="12021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0E8B2FB-DDB3-079D-8396-41CD0B6CD487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9465133" y="3532573"/>
            <a:ext cx="1" cy="12021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FD825FC-D695-9DC7-EE7C-0473FA01F014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11231722" y="3532573"/>
            <a:ext cx="1" cy="12021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7FDA323-96B6-BF6E-7939-FCB478FB2F4A}"/>
              </a:ext>
            </a:extLst>
          </p:cNvPr>
          <p:cNvSpPr txBox="1"/>
          <p:nvPr/>
        </p:nvSpPr>
        <p:spPr>
          <a:xfrm>
            <a:off x="400674" y="5305066"/>
            <a:ext cx="11385047" cy="70788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No explicit control over </a:t>
            </a:r>
            <a:r>
              <a:rPr lang="en-US" sz="2000" b="1" u="sng" dirty="0">
                <a:solidFill>
                  <a:schemeClr val="bg1"/>
                </a:solidFill>
                <a:latin typeface="Berkeley Mono" pitchFamily="49" charset="77"/>
              </a:rPr>
              <a:t>when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 and </a:t>
            </a:r>
            <a:r>
              <a:rPr lang="en-US" sz="2000" b="1" u="sng" dirty="0">
                <a:solidFill>
                  <a:schemeClr val="bg1"/>
                </a:solidFill>
                <a:latin typeface="Berkeley Mono" pitchFamily="49" charset="77"/>
              </a:rPr>
              <a:t>what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 inputs are processed by ADS modules.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617843-8C7E-922C-3CDA-DC74395FF420}"/>
              </a:ext>
            </a:extLst>
          </p:cNvPr>
          <p:cNvSpPr txBox="1"/>
          <p:nvPr/>
        </p:nvSpPr>
        <p:spPr>
          <a:xfrm>
            <a:off x="177845" y="630298"/>
            <a:ext cx="2431901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ApolloAuto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/apollo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26.5k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367071-647D-7B44-E2B7-7B11FEE11744}"/>
              </a:ext>
            </a:extLst>
          </p:cNvPr>
          <p:cNvSpPr txBox="1"/>
          <p:nvPr/>
        </p:nvSpPr>
        <p:spPr>
          <a:xfrm>
            <a:off x="2694846" y="632731"/>
            <a:ext cx="3186971" cy="246221"/>
          </a:xfrm>
          <a:prstGeom prst="rect">
            <a:avLst/>
          </a:prstGeom>
          <a:solidFill>
            <a:schemeClr val="tx1"/>
          </a:solidFill>
          <a:ln w="38100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autowarefoundation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11.3k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</a:p>
        </p:txBody>
      </p:sp>
      <p:pic>
        <p:nvPicPr>
          <p:cNvPr id="61" name="Picture 8">
            <a:extLst>
              <a:ext uri="{FF2B5EF4-FFF2-40B4-BE49-F238E27FC236}">
                <a16:creationId xmlns:a16="http://schemas.microsoft.com/office/drawing/2014/main" id="{C3A5AEA3-B906-FDDE-3270-C0A961834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646" y="640020"/>
            <a:ext cx="228600" cy="228600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>
            <a:extLst>
              <a:ext uri="{FF2B5EF4-FFF2-40B4-BE49-F238E27FC236}">
                <a16:creationId xmlns:a16="http://schemas.microsoft.com/office/drawing/2014/main" id="{6247F8C1-C547-0021-5BF8-04EF9060D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33" y="646728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4636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D5D93-6A9A-2F8C-7CC0-77996498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C8BC-A069-412F-5823-53209FAF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Preliminary Studies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5F398A-5A78-C246-C756-91F78F7B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19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6C9919-7E8E-C673-F4F3-991CB23BC3FF}"/>
              </a:ext>
            </a:extLst>
          </p:cNvPr>
          <p:cNvSpPr txBox="1"/>
          <p:nvPr/>
        </p:nvSpPr>
        <p:spPr>
          <a:xfrm>
            <a:off x="190633" y="2940982"/>
            <a:ext cx="2927471" cy="97603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Berkeley Mono" pitchFamily="49" charset="77"/>
              </a:rPr>
              <a:t>Planning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Ego trajectory selection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4B30B7-61DC-3832-A764-1B6377E01164}"/>
              </a:ext>
            </a:extLst>
          </p:cNvPr>
          <p:cNvSpPr txBox="1"/>
          <p:nvPr/>
        </p:nvSpPr>
        <p:spPr>
          <a:xfrm>
            <a:off x="3133344" y="3598092"/>
            <a:ext cx="480131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* Decides the AV’s trajectory (behavior)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5F9C1C-2206-5150-B95E-0364B3C3CDD4}"/>
              </a:ext>
            </a:extLst>
          </p:cNvPr>
          <p:cNvSpPr txBox="1"/>
          <p:nvPr/>
        </p:nvSpPr>
        <p:spPr>
          <a:xfrm>
            <a:off x="177845" y="630298"/>
            <a:ext cx="2431901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ApolloAuto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/apollo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26.5k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F19F96-8CCB-1893-43F0-2CE986AFD36B}"/>
              </a:ext>
            </a:extLst>
          </p:cNvPr>
          <p:cNvSpPr txBox="1"/>
          <p:nvPr/>
        </p:nvSpPr>
        <p:spPr>
          <a:xfrm>
            <a:off x="2694846" y="632731"/>
            <a:ext cx="3186971" cy="246221"/>
          </a:xfrm>
          <a:prstGeom prst="rect">
            <a:avLst/>
          </a:prstGeom>
          <a:solidFill>
            <a:schemeClr val="tx1"/>
          </a:solidFill>
          <a:ln w="38100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autowarefoundation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11.3k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</a:p>
        </p:txBody>
      </p:sp>
      <p:pic>
        <p:nvPicPr>
          <p:cNvPr id="46" name="Picture 8">
            <a:extLst>
              <a:ext uri="{FF2B5EF4-FFF2-40B4-BE49-F238E27FC236}">
                <a16:creationId xmlns:a16="http://schemas.microsoft.com/office/drawing/2014/main" id="{F85FF190-C75B-8DB8-2587-CE48092B7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646" y="640020"/>
            <a:ext cx="228600" cy="228600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6">
            <a:extLst>
              <a:ext uri="{FF2B5EF4-FFF2-40B4-BE49-F238E27FC236}">
                <a16:creationId xmlns:a16="http://schemas.microsoft.com/office/drawing/2014/main" id="{FB81CCC9-CA22-2858-EB89-1B64834B3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33" y="646728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3162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394AA7-550C-34B9-30D4-48657BD7C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1E408-606B-2D04-556F-DEF3DF7B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Preliminary Studies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CAB672-2B3C-219C-81F2-21F2C53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20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32F73F-BF07-7786-BAD9-C92F72EEEBA6}"/>
              </a:ext>
            </a:extLst>
          </p:cNvPr>
          <p:cNvSpPr txBox="1"/>
          <p:nvPr/>
        </p:nvSpPr>
        <p:spPr>
          <a:xfrm>
            <a:off x="190633" y="1304206"/>
            <a:ext cx="2927471" cy="97603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Berkeley Mono" pitchFamily="49" charset="77"/>
              </a:rPr>
              <a:t>Planning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Ego trajectory selection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58B42E-E0E3-0771-B2E9-6376CBFA6EE9}"/>
              </a:ext>
            </a:extLst>
          </p:cNvPr>
          <p:cNvSpPr txBox="1"/>
          <p:nvPr/>
        </p:nvSpPr>
        <p:spPr>
          <a:xfrm>
            <a:off x="3133344" y="1961316"/>
            <a:ext cx="480131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* Decides the AV’s trajectory (behavior)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5B816-074B-2141-EC0D-045BD5876E29}"/>
              </a:ext>
            </a:extLst>
          </p:cNvPr>
          <p:cNvSpPr txBox="1"/>
          <p:nvPr/>
        </p:nvSpPr>
        <p:spPr>
          <a:xfrm>
            <a:off x="177845" y="630298"/>
            <a:ext cx="2431901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ApolloAuto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/apollo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26.5k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FA02D6-F718-1DD7-B649-6CCEF4DCF91D}"/>
              </a:ext>
            </a:extLst>
          </p:cNvPr>
          <p:cNvSpPr txBox="1"/>
          <p:nvPr/>
        </p:nvSpPr>
        <p:spPr>
          <a:xfrm>
            <a:off x="2694846" y="632731"/>
            <a:ext cx="3186971" cy="246221"/>
          </a:xfrm>
          <a:prstGeom prst="rect">
            <a:avLst/>
          </a:prstGeom>
          <a:solidFill>
            <a:schemeClr val="tx1"/>
          </a:solidFill>
          <a:ln w="38100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autowarefoundation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11.3k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0F630A45-DF71-4981-3C43-AF34638FC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646" y="640020"/>
            <a:ext cx="228600" cy="228600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E103012B-1CB7-1462-B11F-8E4F3D3DD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33" y="646728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B919C1-3297-183E-F479-575639C2EEE7}"/>
              </a:ext>
            </a:extLst>
          </p:cNvPr>
          <p:cNvSpPr txBox="1"/>
          <p:nvPr/>
        </p:nvSpPr>
        <p:spPr>
          <a:xfrm>
            <a:off x="206423" y="2812712"/>
            <a:ext cx="3416320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From: Developer Confirmation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E06568-F637-C5C7-F8E6-6F5AE94FD40A}"/>
              </a:ext>
            </a:extLst>
          </p:cNvPr>
          <p:cNvSpPr txBox="1"/>
          <p:nvPr/>
        </p:nvSpPr>
        <p:spPr>
          <a:xfrm>
            <a:off x="206423" y="3135877"/>
            <a:ext cx="676339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- Implementation of the planning module is </a:t>
            </a:r>
            <a:r>
              <a:rPr lang="en-US" sz="1500" b="1" u="sng" dirty="0">
                <a:latin typeface="Berkeley Mono" pitchFamily="49" charset="77"/>
              </a:rPr>
              <a:t>deterministic</a:t>
            </a:r>
            <a:r>
              <a:rPr lang="en-US" sz="1500" dirty="0">
                <a:latin typeface="Berkeley Mono" pitchFamily="49" charset="77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82978-DBA7-D351-FE93-F521325A16C6}"/>
              </a:ext>
            </a:extLst>
          </p:cNvPr>
          <p:cNvSpPr txBox="1"/>
          <p:nvPr/>
        </p:nvSpPr>
        <p:spPr>
          <a:xfrm>
            <a:off x="206423" y="3630994"/>
            <a:ext cx="2839239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From: Literature Review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A43473-1E76-9B38-1B5F-2CDA917EC771}"/>
              </a:ext>
            </a:extLst>
          </p:cNvPr>
          <p:cNvSpPr txBox="1"/>
          <p:nvPr/>
        </p:nvSpPr>
        <p:spPr>
          <a:xfrm>
            <a:off x="206423" y="3954159"/>
            <a:ext cx="91871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- Motion planning is a problem that can be solved by </a:t>
            </a:r>
            <a:r>
              <a:rPr lang="en-US" sz="1500" b="1" u="sng" dirty="0">
                <a:latin typeface="Berkeley Mono" pitchFamily="49" charset="77"/>
              </a:rPr>
              <a:t>deterministic</a:t>
            </a:r>
            <a:r>
              <a:rPr lang="en-US" sz="1500" dirty="0">
                <a:latin typeface="Berkeley Mono" pitchFamily="49" charset="77"/>
              </a:rPr>
              <a:t> algorithms.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BD40F7-6801-BB16-A1E2-4E2A805ED799}"/>
              </a:ext>
            </a:extLst>
          </p:cNvPr>
          <p:cNvSpPr txBox="1"/>
          <p:nvPr/>
        </p:nvSpPr>
        <p:spPr>
          <a:xfrm>
            <a:off x="206423" y="4772714"/>
            <a:ext cx="2146742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From: Experiments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31D24A-B0E5-5C35-A1AE-597C4977FC36}"/>
              </a:ext>
            </a:extLst>
          </p:cNvPr>
          <p:cNvSpPr txBox="1"/>
          <p:nvPr/>
        </p:nvSpPr>
        <p:spPr>
          <a:xfrm>
            <a:off x="206423" y="5102801"/>
            <a:ext cx="953337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  <a:latin typeface="Berkeley Mono" pitchFamily="49" charset="77"/>
              </a:rPr>
              <a:t>Planning module’s output varies during repeated simulations of the same scenario.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43A9B3-9379-6D35-B7D8-1B93459A3DCF}"/>
              </a:ext>
            </a:extLst>
          </p:cNvPr>
          <p:cNvSpPr txBox="1"/>
          <p:nvPr/>
        </p:nvSpPr>
        <p:spPr>
          <a:xfrm>
            <a:off x="206423" y="4281044"/>
            <a:ext cx="82638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- </a:t>
            </a:r>
            <a:r>
              <a:rPr lang="en-US" sz="1500" b="1" u="sng" dirty="0">
                <a:latin typeface="Berkeley Mono" pitchFamily="49" charset="77"/>
              </a:rPr>
              <a:t>Deterministic</a:t>
            </a:r>
            <a:r>
              <a:rPr lang="en-US" sz="1500" dirty="0">
                <a:latin typeface="Berkeley Mono" pitchFamily="49" charset="77"/>
              </a:rPr>
              <a:t> motion planning is favored in highway motion planning</a:t>
            </a:r>
          </a:p>
        </p:txBody>
      </p:sp>
    </p:spTree>
    <p:extLst>
      <p:ext uri="{BB962C8B-B14F-4D97-AF65-F5344CB8AC3E}">
        <p14:creationId xmlns:p14="http://schemas.microsoft.com/office/powerpoint/2010/main" val="17250918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0C37B-39AC-CA15-FBC4-EBDFA0231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B41B7-79E6-C618-2056-C5D80411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Preliminary Studies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9CD7C4-6138-9557-7C3C-05C8CEDB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21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A76DFA-CC79-246B-8B43-7F22E0B512D7}"/>
              </a:ext>
            </a:extLst>
          </p:cNvPr>
          <p:cNvSpPr txBox="1"/>
          <p:nvPr/>
        </p:nvSpPr>
        <p:spPr>
          <a:xfrm>
            <a:off x="190633" y="1304206"/>
            <a:ext cx="2927471" cy="97603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Berkeley Mono" pitchFamily="49" charset="77"/>
              </a:rPr>
              <a:t>Planning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Berkeley Mono" pitchFamily="49" charset="77"/>
              </a:rPr>
              <a:t>Ego trajectory selection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35F5AF-005F-7ED6-A90A-5A5AADDCC1B8}"/>
              </a:ext>
            </a:extLst>
          </p:cNvPr>
          <p:cNvSpPr txBox="1"/>
          <p:nvPr/>
        </p:nvSpPr>
        <p:spPr>
          <a:xfrm>
            <a:off x="3133344" y="1961316"/>
            <a:ext cx="480131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* Decides the AV’s trajectory (behavior)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2F04A-CCB0-2032-8EBC-1954A72B54EA}"/>
              </a:ext>
            </a:extLst>
          </p:cNvPr>
          <p:cNvSpPr txBox="1"/>
          <p:nvPr/>
        </p:nvSpPr>
        <p:spPr>
          <a:xfrm>
            <a:off x="177845" y="630298"/>
            <a:ext cx="2431901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ApolloAuto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/apollo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26.5k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55D58-65A5-3157-F30C-3454E2B6A9CA}"/>
              </a:ext>
            </a:extLst>
          </p:cNvPr>
          <p:cNvSpPr txBox="1"/>
          <p:nvPr/>
        </p:nvSpPr>
        <p:spPr>
          <a:xfrm>
            <a:off x="2694846" y="632731"/>
            <a:ext cx="3186971" cy="246221"/>
          </a:xfrm>
          <a:prstGeom prst="rect">
            <a:avLst/>
          </a:prstGeom>
          <a:solidFill>
            <a:schemeClr val="tx1"/>
          </a:solidFill>
          <a:ln w="38100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autowarefoundation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autoware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11.3k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ABA57BD5-9DD8-5BAC-FE05-A911FD108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646" y="640020"/>
            <a:ext cx="228600" cy="228600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1CFF0308-0B0A-34D6-144B-2E1247FDE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33" y="646728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3C12F-1326-2B22-7094-C5580E1BEDEC}"/>
              </a:ext>
            </a:extLst>
          </p:cNvPr>
          <p:cNvSpPr txBox="1"/>
          <p:nvPr/>
        </p:nvSpPr>
        <p:spPr>
          <a:xfrm>
            <a:off x="206423" y="2812712"/>
            <a:ext cx="3416320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From: Developer Confirmation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457F8A-8366-C5B1-02A9-C934AC5246A7}"/>
              </a:ext>
            </a:extLst>
          </p:cNvPr>
          <p:cNvSpPr txBox="1"/>
          <p:nvPr/>
        </p:nvSpPr>
        <p:spPr>
          <a:xfrm>
            <a:off x="206423" y="3135877"/>
            <a:ext cx="676339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- Implementation of the planning module is </a:t>
            </a:r>
            <a:r>
              <a:rPr lang="en-US" sz="1500" b="1" u="sng" dirty="0">
                <a:latin typeface="Berkeley Mono" pitchFamily="49" charset="77"/>
              </a:rPr>
              <a:t>deterministic</a:t>
            </a:r>
            <a:r>
              <a:rPr lang="en-US" sz="1500" dirty="0">
                <a:latin typeface="Berkeley Mono" pitchFamily="49" charset="7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DC3E8C-0AC3-81F8-1329-5B5B2ABE1671}"/>
              </a:ext>
            </a:extLst>
          </p:cNvPr>
          <p:cNvSpPr txBox="1"/>
          <p:nvPr/>
        </p:nvSpPr>
        <p:spPr>
          <a:xfrm>
            <a:off x="190633" y="3890837"/>
            <a:ext cx="3432110" cy="3231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From: Experiments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D47F26-4E05-0022-BEFF-6FB947339BF2}"/>
              </a:ext>
            </a:extLst>
          </p:cNvPr>
          <p:cNvSpPr txBox="1"/>
          <p:nvPr/>
        </p:nvSpPr>
        <p:spPr>
          <a:xfrm>
            <a:off x="190633" y="4220924"/>
            <a:ext cx="9533379" cy="3231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Planning module’s output varies during repeated simulations of the same scenario.</a:t>
            </a:r>
          </a:p>
        </p:txBody>
      </p:sp>
    </p:spTree>
    <p:extLst>
      <p:ext uri="{BB962C8B-B14F-4D97-AF65-F5344CB8AC3E}">
        <p14:creationId xmlns:p14="http://schemas.microsoft.com/office/powerpoint/2010/main" val="27084698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DF433-CB72-364A-FF86-73EE2D90C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63B1-3201-B6CF-138C-2263E600D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Preliminary Studies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5543F3-FEA0-23BA-7DE0-A53799AF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22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71721-B080-F3D6-A965-F4F4E2A8FAB6}"/>
              </a:ext>
            </a:extLst>
          </p:cNvPr>
          <p:cNvSpPr txBox="1"/>
          <p:nvPr/>
        </p:nvSpPr>
        <p:spPr>
          <a:xfrm>
            <a:off x="474846" y="2613392"/>
            <a:ext cx="112423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latin typeface="Berkeley Mono" pitchFamily="49" charset="77"/>
              </a:rPr>
              <a:t>Can a testing method maintain determinism of ADS planning?</a:t>
            </a:r>
          </a:p>
        </p:txBody>
      </p:sp>
    </p:spTree>
    <p:extLst>
      <p:ext uri="{BB962C8B-B14F-4D97-AF65-F5344CB8AC3E}">
        <p14:creationId xmlns:p14="http://schemas.microsoft.com/office/powerpoint/2010/main" val="3369963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CB93-C078-DA9C-0E42-E991D1A7F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2CD474-C05D-52BA-536C-89D54D64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77171C-CBE5-6171-A4E7-6C918882319A}"/>
              </a:ext>
            </a:extLst>
          </p:cNvPr>
          <p:cNvSpPr txBox="1"/>
          <p:nvPr/>
        </p:nvSpPr>
        <p:spPr>
          <a:xfrm>
            <a:off x="3079789" y="3075057"/>
            <a:ext cx="6032421" cy="707886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4000" u="sng" dirty="0">
                <a:solidFill>
                  <a:schemeClr val="bg1"/>
                </a:solidFill>
                <a:latin typeface="Berkeley Mono" pitchFamily="49" charset="77"/>
              </a:rPr>
              <a:t>F</a:t>
            </a:r>
            <a:r>
              <a:rPr lang="en-US" sz="4000" dirty="0">
                <a:solidFill>
                  <a:schemeClr val="bg1"/>
                </a:solidFill>
                <a:latin typeface="Berkeley Mono" pitchFamily="49" charset="77"/>
              </a:rPr>
              <a:t>rame-based </a:t>
            </a:r>
            <a:r>
              <a:rPr lang="en-US" sz="4000" u="sng" dirty="0">
                <a:solidFill>
                  <a:schemeClr val="bg1"/>
                </a:solidFill>
                <a:latin typeface="Berkeley Mono" pitchFamily="49" charset="77"/>
              </a:rPr>
              <a:t>T</a:t>
            </a:r>
            <a:r>
              <a:rPr lang="en-US" sz="4000" dirty="0">
                <a:solidFill>
                  <a:schemeClr val="bg1"/>
                </a:solidFill>
                <a:latin typeface="Berkeley Mono" pitchFamily="49" charset="77"/>
              </a:rPr>
              <a:t>esting</a:t>
            </a:r>
          </a:p>
        </p:txBody>
      </p:sp>
    </p:spTree>
    <p:extLst>
      <p:ext uri="{BB962C8B-B14F-4D97-AF65-F5344CB8AC3E}">
        <p14:creationId xmlns:p14="http://schemas.microsoft.com/office/powerpoint/2010/main" val="290434445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F4B6B-E995-DB51-0205-BA6250754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AD1872-5349-B088-BE79-DCB4177E4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24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15F42-2D10-E029-A8B3-5CC006ED6DD3}"/>
              </a:ext>
            </a:extLst>
          </p:cNvPr>
          <p:cNvSpPr txBox="1"/>
          <p:nvPr/>
        </p:nvSpPr>
        <p:spPr>
          <a:xfrm>
            <a:off x="925353" y="3075057"/>
            <a:ext cx="4260746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Berkeley Mono" pitchFamily="49" charset="77"/>
              </a:rPr>
              <a:t>De</a:t>
            </a:r>
            <a:r>
              <a:rPr lang="en-US" sz="4000" dirty="0">
                <a:solidFill>
                  <a:schemeClr val="bg1"/>
                </a:solidFill>
                <a:latin typeface="Berkeley Mono" pitchFamily="49" charset="77"/>
              </a:rPr>
              <a:t>terministic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CF4BB-5B76-8B97-6AF6-8C42B7525E0F}"/>
              </a:ext>
            </a:extLst>
          </p:cNvPr>
          <p:cNvSpPr txBox="1"/>
          <p:nvPr/>
        </p:nvSpPr>
        <p:spPr>
          <a:xfrm>
            <a:off x="5186099" y="3075057"/>
            <a:ext cx="6080547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Berkeley Mono" pitchFamily="49" charset="77"/>
              </a:rPr>
              <a:t>F</a:t>
            </a:r>
            <a:r>
              <a:rPr lang="en-US" sz="4000" dirty="0">
                <a:solidFill>
                  <a:schemeClr val="bg1"/>
                </a:solidFill>
                <a:latin typeface="Berkeley Mono" pitchFamily="49" charset="77"/>
              </a:rPr>
              <a:t>rame-based </a:t>
            </a:r>
            <a:r>
              <a:rPr lang="en-US" sz="4000" u="sng" dirty="0">
                <a:solidFill>
                  <a:schemeClr val="bg1"/>
                </a:solidFill>
                <a:latin typeface="Berkeley Mono" pitchFamily="49" charset="77"/>
              </a:rPr>
              <a:t>T</a:t>
            </a:r>
            <a:r>
              <a:rPr lang="en-US" sz="4000" dirty="0">
                <a:solidFill>
                  <a:schemeClr val="bg1"/>
                </a:solidFill>
                <a:latin typeface="Berkeley Mono" pitchFamily="49" charset="77"/>
              </a:rPr>
              <a:t>esting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CB4747-2470-8836-87C7-4B49D6D519D3}"/>
              </a:ext>
            </a:extLst>
          </p:cNvPr>
          <p:cNvSpPr txBox="1"/>
          <p:nvPr/>
        </p:nvSpPr>
        <p:spPr>
          <a:xfrm>
            <a:off x="925353" y="3888606"/>
            <a:ext cx="6878806" cy="32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Deterministic when the module under test is deterministic.</a:t>
            </a:r>
          </a:p>
        </p:txBody>
      </p:sp>
    </p:spTree>
    <p:extLst>
      <p:ext uri="{BB962C8B-B14F-4D97-AF65-F5344CB8AC3E}">
        <p14:creationId xmlns:p14="http://schemas.microsoft.com/office/powerpoint/2010/main" val="2191348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75EFA63-C92B-EE3F-4488-3B7452665836}"/>
              </a:ext>
            </a:extLst>
          </p:cNvPr>
          <p:cNvCxnSpPr>
            <a:cxnSpLocks/>
          </p:cNvCxnSpPr>
          <p:nvPr/>
        </p:nvCxnSpPr>
        <p:spPr>
          <a:xfrm flipV="1">
            <a:off x="10095064" y="1972101"/>
            <a:ext cx="0" cy="386752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3B63420A-7885-000A-8AF1-42FB3641F54E}"/>
              </a:ext>
            </a:extLst>
          </p:cNvPr>
          <p:cNvSpPr/>
          <p:nvPr/>
        </p:nvSpPr>
        <p:spPr>
          <a:xfrm>
            <a:off x="10149039" y="20690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0A3ED86C-C2F2-025A-4186-506E762B9AEB}"/>
              </a:ext>
            </a:extLst>
          </p:cNvPr>
          <p:cNvSpPr/>
          <p:nvPr/>
        </p:nvSpPr>
        <p:spPr>
          <a:xfrm>
            <a:off x="7980789" y="1514901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0101055A-C100-D4D6-713D-B16004DC87C3}"/>
              </a:ext>
            </a:extLst>
          </p:cNvPr>
          <p:cNvSpPr/>
          <p:nvPr/>
        </p:nvSpPr>
        <p:spPr>
          <a:xfrm>
            <a:off x="7980789" y="1769531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5F44BA9-303A-3153-8C1F-2BF1350814F4}"/>
              </a:ext>
            </a:extLst>
          </p:cNvPr>
          <p:cNvSpPr/>
          <p:nvPr/>
        </p:nvSpPr>
        <p:spPr>
          <a:xfrm>
            <a:off x="6722001" y="1514901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477A8F-5326-A00E-B6FA-830841318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32A6A9-E517-DCB7-D77D-0FE3F7155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25</a:t>
            </a:fld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609C1E-160E-DB45-FCC4-54CC3FE22D6D}"/>
              </a:ext>
            </a:extLst>
          </p:cNvPr>
          <p:cNvSpPr txBox="1"/>
          <p:nvPr/>
        </p:nvSpPr>
        <p:spPr>
          <a:xfrm>
            <a:off x="464419" y="17254"/>
            <a:ext cx="218360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De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terministic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C316C6-9FB5-687E-4617-CFF367E9309E}"/>
              </a:ext>
            </a:extLst>
          </p:cNvPr>
          <p:cNvSpPr txBox="1"/>
          <p:nvPr/>
        </p:nvSpPr>
        <p:spPr>
          <a:xfrm>
            <a:off x="2635771" y="17254"/>
            <a:ext cx="309162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F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rame-based </a:t>
            </a:r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T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esting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B70E27-D62E-D28B-E221-34C23CA951E1}"/>
              </a:ext>
            </a:extLst>
          </p:cNvPr>
          <p:cNvSpPr/>
          <p:nvPr/>
        </p:nvSpPr>
        <p:spPr>
          <a:xfrm>
            <a:off x="214160" y="3311679"/>
            <a:ext cx="2923877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Frame-based Testing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F580C3-8B77-4C67-0BFA-9369E82CA060}"/>
              </a:ext>
            </a:extLst>
          </p:cNvPr>
          <p:cNvSpPr/>
          <p:nvPr/>
        </p:nvSpPr>
        <p:spPr>
          <a:xfrm>
            <a:off x="214161" y="1286301"/>
            <a:ext cx="3200400" cy="685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Test Generator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0C67ACC-FBDF-FE23-F148-776ED96F4CEF}"/>
              </a:ext>
            </a:extLst>
          </p:cNvPr>
          <p:cNvSpPr/>
          <p:nvPr/>
        </p:nvSpPr>
        <p:spPr>
          <a:xfrm>
            <a:off x="214161" y="2358853"/>
            <a:ext cx="3200400" cy="685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Test Specification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F2F3D4-F5CA-2994-F02C-F1C04F979D1C}"/>
              </a:ext>
            </a:extLst>
          </p:cNvPr>
          <p:cNvSpPr/>
          <p:nvPr/>
        </p:nvSpPr>
        <p:spPr>
          <a:xfrm>
            <a:off x="214161" y="717526"/>
            <a:ext cx="338554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Scenario-based Testing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D757479-0E3D-F959-8FCF-80AF1C099906}"/>
              </a:ext>
            </a:extLst>
          </p:cNvPr>
          <p:cNvCxnSpPr>
            <a:stCxn id="33" idx="2"/>
          </p:cNvCxnSpPr>
          <p:nvPr/>
        </p:nvCxnSpPr>
        <p:spPr>
          <a:xfrm>
            <a:off x="1814361" y="1972101"/>
            <a:ext cx="0" cy="3867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1CAB5E7-F7CB-71DA-17E8-0C0E78FCA087}"/>
              </a:ext>
            </a:extLst>
          </p:cNvPr>
          <p:cNvCxnSpPr>
            <a:cxnSpLocks/>
          </p:cNvCxnSpPr>
          <p:nvPr/>
        </p:nvCxnSpPr>
        <p:spPr>
          <a:xfrm>
            <a:off x="3414561" y="2701753"/>
            <a:ext cx="4500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346A2021-9517-1B36-DDD3-F06EB8571847}"/>
              </a:ext>
            </a:extLst>
          </p:cNvPr>
          <p:cNvSpPr/>
          <p:nvPr/>
        </p:nvSpPr>
        <p:spPr>
          <a:xfrm>
            <a:off x="6978720" y="1514901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8A3E0DCD-336B-6EF2-885E-BB89AC889C1E}"/>
              </a:ext>
            </a:extLst>
          </p:cNvPr>
          <p:cNvSpPr/>
          <p:nvPr/>
        </p:nvSpPr>
        <p:spPr>
          <a:xfrm>
            <a:off x="7235439" y="1514901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66C61E36-6848-656E-E92F-50B07092EF2B}"/>
              </a:ext>
            </a:extLst>
          </p:cNvPr>
          <p:cNvSpPr/>
          <p:nvPr/>
        </p:nvSpPr>
        <p:spPr>
          <a:xfrm>
            <a:off x="7491095" y="1514901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73D6F2-EE65-81FE-D0AA-5143E91F9613}"/>
              </a:ext>
            </a:extLst>
          </p:cNvPr>
          <p:cNvSpPr/>
          <p:nvPr/>
        </p:nvSpPr>
        <p:spPr>
          <a:xfrm>
            <a:off x="3834270" y="1286301"/>
            <a:ext cx="3200400" cy="175835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Berkeley Mono" pitchFamily="49" charset="77"/>
              </a:rPr>
              <a:t>Simulator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34FE4DD-BE68-BE19-3BE3-1645493112FF}"/>
              </a:ext>
            </a:extLst>
          </p:cNvPr>
          <p:cNvSpPr/>
          <p:nvPr/>
        </p:nvSpPr>
        <p:spPr>
          <a:xfrm>
            <a:off x="7980789" y="2022867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4E17F440-C832-8335-4C09-D6C821C3E135}"/>
              </a:ext>
            </a:extLst>
          </p:cNvPr>
          <p:cNvSpPr/>
          <p:nvPr/>
        </p:nvSpPr>
        <p:spPr>
          <a:xfrm>
            <a:off x="7980789" y="2277497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DC795A18-28B3-B0EF-A1D6-AD3E4DE5C461}"/>
              </a:ext>
            </a:extLst>
          </p:cNvPr>
          <p:cNvSpPr/>
          <p:nvPr/>
        </p:nvSpPr>
        <p:spPr>
          <a:xfrm>
            <a:off x="10149039" y="271185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E633C5F-C16B-8CA6-E238-34206E167131}"/>
              </a:ext>
            </a:extLst>
          </p:cNvPr>
          <p:cNvCxnSpPr>
            <a:cxnSpLocks/>
          </p:cNvCxnSpPr>
          <p:nvPr/>
        </p:nvCxnSpPr>
        <p:spPr>
          <a:xfrm>
            <a:off x="8304364" y="1972101"/>
            <a:ext cx="0" cy="386752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A6E0535-713F-4815-0816-FC651CCEA6B7}"/>
              </a:ext>
            </a:extLst>
          </p:cNvPr>
          <p:cNvCxnSpPr>
            <a:cxnSpLocks/>
          </p:cNvCxnSpPr>
          <p:nvPr/>
        </p:nvCxnSpPr>
        <p:spPr>
          <a:xfrm>
            <a:off x="7034670" y="1809750"/>
            <a:ext cx="631050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020A557E-74D6-C312-71A9-E1F96869540B}"/>
              </a:ext>
            </a:extLst>
          </p:cNvPr>
          <p:cNvSpPr/>
          <p:nvPr/>
        </p:nvSpPr>
        <p:spPr>
          <a:xfrm>
            <a:off x="8410157" y="142002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C1192981-FA91-4DED-1439-00AA68F26DFE}"/>
              </a:ext>
            </a:extLst>
          </p:cNvPr>
          <p:cNvSpPr/>
          <p:nvPr/>
        </p:nvSpPr>
        <p:spPr>
          <a:xfrm>
            <a:off x="8410157" y="206278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EABF578-E194-C796-FAE2-8B5B15CB548A}"/>
              </a:ext>
            </a:extLst>
          </p:cNvPr>
          <p:cNvSpPr txBox="1"/>
          <p:nvPr/>
        </p:nvSpPr>
        <p:spPr>
          <a:xfrm>
            <a:off x="8769350" y="21653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B553BA-E1AC-DBE9-7951-2B932C63F92C}"/>
              </a:ext>
            </a:extLst>
          </p:cNvPr>
          <p:cNvSpPr/>
          <p:nvPr/>
        </p:nvSpPr>
        <p:spPr>
          <a:xfrm>
            <a:off x="7665721" y="1286302"/>
            <a:ext cx="32004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Berkeley Mono" pitchFamily="49" charset="77"/>
              </a:rPr>
              <a:t>Message Bus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96AD8E-F51D-5648-76A3-9D13AC09E4A6}"/>
              </a:ext>
            </a:extLst>
          </p:cNvPr>
          <p:cNvSpPr/>
          <p:nvPr/>
        </p:nvSpPr>
        <p:spPr>
          <a:xfrm>
            <a:off x="7665720" y="2358854"/>
            <a:ext cx="3200400" cy="6857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Berkeley Mono" pitchFamily="49" charset="77"/>
              </a:rPr>
              <a:t>Planning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5E59956-783F-1DD4-0D65-4D1B0FDC74CD}"/>
              </a:ext>
            </a:extLst>
          </p:cNvPr>
          <p:cNvSpPr/>
          <p:nvPr/>
        </p:nvSpPr>
        <p:spPr>
          <a:xfrm>
            <a:off x="2817565" y="4141195"/>
            <a:ext cx="1757244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7B8D60D-150B-00F6-0A2B-CE9C5F15B73F}"/>
              </a:ext>
            </a:extLst>
          </p:cNvPr>
          <p:cNvSpPr txBox="1"/>
          <p:nvPr/>
        </p:nvSpPr>
        <p:spPr>
          <a:xfrm>
            <a:off x="2817565" y="3890610"/>
            <a:ext cx="1877437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Sequential Frame Tests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0DD30271-D283-4039-5F09-A9EDB251E11D}"/>
              </a:ext>
            </a:extLst>
          </p:cNvPr>
          <p:cNvSpPr/>
          <p:nvPr/>
        </p:nvSpPr>
        <p:spPr>
          <a:xfrm>
            <a:off x="3294878" y="4196162"/>
            <a:ext cx="36576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EC1675F4-8623-F020-5369-8537C92FA87E}"/>
              </a:ext>
            </a:extLst>
          </p:cNvPr>
          <p:cNvSpPr/>
          <p:nvPr/>
        </p:nvSpPr>
        <p:spPr>
          <a:xfrm>
            <a:off x="3729470" y="4196162"/>
            <a:ext cx="36576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15416B34-4D63-58F4-DA78-C2A38864269D}"/>
              </a:ext>
            </a:extLst>
          </p:cNvPr>
          <p:cNvSpPr/>
          <p:nvPr/>
        </p:nvSpPr>
        <p:spPr>
          <a:xfrm>
            <a:off x="4164063" y="4196162"/>
            <a:ext cx="36576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1F50854D-E2A8-72F8-3213-FB33E06BFB99}"/>
              </a:ext>
            </a:extLst>
          </p:cNvPr>
          <p:cNvSpPr/>
          <p:nvPr/>
        </p:nvSpPr>
        <p:spPr>
          <a:xfrm>
            <a:off x="2860286" y="4196162"/>
            <a:ext cx="36576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0260A32-D7C7-DC5B-989C-C36BD8FFC733}"/>
              </a:ext>
            </a:extLst>
          </p:cNvPr>
          <p:cNvSpPr/>
          <p:nvPr/>
        </p:nvSpPr>
        <p:spPr>
          <a:xfrm>
            <a:off x="2817565" y="4479729"/>
            <a:ext cx="1757244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0B7FE85A-DE5C-EA4F-EC80-F9DD9299F292}"/>
              </a:ext>
            </a:extLst>
          </p:cNvPr>
          <p:cNvSpPr/>
          <p:nvPr/>
        </p:nvSpPr>
        <p:spPr>
          <a:xfrm>
            <a:off x="3294878" y="4534696"/>
            <a:ext cx="36576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2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2AFF4FA2-2E43-0275-5701-546898C68FEF}"/>
              </a:ext>
            </a:extLst>
          </p:cNvPr>
          <p:cNvSpPr/>
          <p:nvPr/>
        </p:nvSpPr>
        <p:spPr>
          <a:xfrm>
            <a:off x="3729470" y="4534696"/>
            <a:ext cx="36576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2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D1646C07-4220-96C8-DA13-68910F9D2396}"/>
              </a:ext>
            </a:extLst>
          </p:cNvPr>
          <p:cNvSpPr/>
          <p:nvPr/>
        </p:nvSpPr>
        <p:spPr>
          <a:xfrm>
            <a:off x="4164063" y="4534696"/>
            <a:ext cx="36576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2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F3D4645B-2F2D-7AC2-2CC3-7ED171F3EC34}"/>
              </a:ext>
            </a:extLst>
          </p:cNvPr>
          <p:cNvSpPr/>
          <p:nvPr/>
        </p:nvSpPr>
        <p:spPr>
          <a:xfrm>
            <a:off x="2860286" y="4534696"/>
            <a:ext cx="36576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2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7A18B56-5623-5739-2234-2D315377B9D5}"/>
              </a:ext>
            </a:extLst>
          </p:cNvPr>
          <p:cNvSpPr/>
          <p:nvPr/>
        </p:nvSpPr>
        <p:spPr>
          <a:xfrm>
            <a:off x="2817565" y="5679043"/>
            <a:ext cx="1757244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BECC19F7-C4DF-5E54-3473-73C48720881D}"/>
              </a:ext>
            </a:extLst>
          </p:cNvPr>
          <p:cNvSpPr/>
          <p:nvPr/>
        </p:nvSpPr>
        <p:spPr>
          <a:xfrm>
            <a:off x="3294878" y="5734010"/>
            <a:ext cx="36576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9E1DFDC6-C9E8-8794-32E5-AB30FDB46B77}"/>
              </a:ext>
            </a:extLst>
          </p:cNvPr>
          <p:cNvSpPr/>
          <p:nvPr/>
        </p:nvSpPr>
        <p:spPr>
          <a:xfrm>
            <a:off x="3729470" y="5734010"/>
            <a:ext cx="36576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97B358FB-6FC0-9F3F-EFB9-F759614E8E87}"/>
              </a:ext>
            </a:extLst>
          </p:cNvPr>
          <p:cNvSpPr/>
          <p:nvPr/>
        </p:nvSpPr>
        <p:spPr>
          <a:xfrm>
            <a:off x="4164063" y="5734010"/>
            <a:ext cx="36576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CAAA8C57-5FE2-075F-1BB5-AE92B310C190}"/>
              </a:ext>
            </a:extLst>
          </p:cNvPr>
          <p:cNvSpPr/>
          <p:nvPr/>
        </p:nvSpPr>
        <p:spPr>
          <a:xfrm>
            <a:off x="2860286" y="5734010"/>
            <a:ext cx="36576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9E51E5C-D810-B4E3-959E-D06E24529F31}"/>
              </a:ext>
            </a:extLst>
          </p:cNvPr>
          <p:cNvSpPr txBox="1"/>
          <p:nvPr/>
        </p:nvSpPr>
        <p:spPr>
          <a:xfrm>
            <a:off x="2817565" y="5318403"/>
            <a:ext cx="415498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...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CFF8718C-8C32-3DA3-A125-A053A7AC3574}"/>
              </a:ext>
            </a:extLst>
          </p:cNvPr>
          <p:cNvSpPr/>
          <p:nvPr/>
        </p:nvSpPr>
        <p:spPr>
          <a:xfrm>
            <a:off x="4613355" y="4196162"/>
            <a:ext cx="36576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P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B8EA9FC-5F1E-B18A-E082-7225DB1D5F76}"/>
              </a:ext>
            </a:extLst>
          </p:cNvPr>
          <p:cNvSpPr/>
          <p:nvPr/>
        </p:nvSpPr>
        <p:spPr>
          <a:xfrm>
            <a:off x="4573606" y="4141194"/>
            <a:ext cx="456613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B141E31B-FAF4-946F-6F97-419F3E4EE100}"/>
              </a:ext>
            </a:extLst>
          </p:cNvPr>
          <p:cNvSpPr/>
          <p:nvPr/>
        </p:nvSpPr>
        <p:spPr>
          <a:xfrm>
            <a:off x="4615346" y="4534697"/>
            <a:ext cx="36576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P</a:t>
            </a:r>
            <a:r>
              <a:rPr lang="en-US" sz="1000" baseline="30000" dirty="0">
                <a:latin typeface="Berkeley Mono" pitchFamily="49" charset="77"/>
              </a:rPr>
              <a:t>2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BC2D47F-2DC2-3190-0DBA-73BCB2F5CE4E}"/>
              </a:ext>
            </a:extLst>
          </p:cNvPr>
          <p:cNvSpPr/>
          <p:nvPr/>
        </p:nvSpPr>
        <p:spPr>
          <a:xfrm>
            <a:off x="4573606" y="4479729"/>
            <a:ext cx="456613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4497BE62-D819-99CC-B410-92FD701AC184}"/>
              </a:ext>
            </a:extLst>
          </p:cNvPr>
          <p:cNvSpPr/>
          <p:nvPr/>
        </p:nvSpPr>
        <p:spPr>
          <a:xfrm>
            <a:off x="4615346" y="5734011"/>
            <a:ext cx="36576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P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FB8CA75-DDFA-41D2-C129-214CCC00BD78}"/>
              </a:ext>
            </a:extLst>
          </p:cNvPr>
          <p:cNvSpPr/>
          <p:nvPr/>
        </p:nvSpPr>
        <p:spPr>
          <a:xfrm>
            <a:off x="4573606" y="5679043"/>
            <a:ext cx="456613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0C3DF92-EE7F-96BC-62EF-0A8621E6B5AF}"/>
              </a:ext>
            </a:extLst>
          </p:cNvPr>
          <p:cNvSpPr txBox="1"/>
          <p:nvPr/>
        </p:nvSpPr>
        <p:spPr>
          <a:xfrm>
            <a:off x="9549734" y="3880206"/>
            <a:ext cx="1107996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Message Pool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85B79BF-6855-3244-BDF2-0030A3FB1B8F}"/>
              </a:ext>
            </a:extLst>
          </p:cNvPr>
          <p:cNvSpPr txBox="1"/>
          <p:nvPr/>
        </p:nvSpPr>
        <p:spPr>
          <a:xfrm>
            <a:off x="5225223" y="3880205"/>
            <a:ext cx="492443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DeFT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0DBD05E3-D378-7983-D49C-5E9D5CD8596C}"/>
              </a:ext>
            </a:extLst>
          </p:cNvPr>
          <p:cNvSpPr/>
          <p:nvPr/>
        </p:nvSpPr>
        <p:spPr>
          <a:xfrm>
            <a:off x="9583826" y="4193326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AF0E3624-4299-8596-5A96-539BC3C49BC2}"/>
              </a:ext>
            </a:extLst>
          </p:cNvPr>
          <p:cNvSpPr/>
          <p:nvPr/>
        </p:nvSpPr>
        <p:spPr>
          <a:xfrm>
            <a:off x="9835618" y="4193326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4CA3BFF6-6BEC-00CE-DFF0-C587C4729F97}"/>
              </a:ext>
            </a:extLst>
          </p:cNvPr>
          <p:cNvSpPr/>
          <p:nvPr/>
        </p:nvSpPr>
        <p:spPr>
          <a:xfrm>
            <a:off x="10087410" y="4193326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676F7693-6821-8A40-7841-2A0363F5A2C2}"/>
              </a:ext>
            </a:extLst>
          </p:cNvPr>
          <p:cNvSpPr/>
          <p:nvPr/>
        </p:nvSpPr>
        <p:spPr>
          <a:xfrm>
            <a:off x="10339202" y="4193326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449A1B59-2033-17C1-BEE7-30C3C7F015A5}"/>
              </a:ext>
            </a:extLst>
          </p:cNvPr>
          <p:cNvSpPr/>
          <p:nvPr/>
        </p:nvSpPr>
        <p:spPr>
          <a:xfrm>
            <a:off x="10590994" y="4193326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453A4F1-6E00-7293-8086-233DA49F9089}"/>
              </a:ext>
            </a:extLst>
          </p:cNvPr>
          <p:cNvSpPr/>
          <p:nvPr/>
        </p:nvSpPr>
        <p:spPr>
          <a:xfrm>
            <a:off x="9551902" y="4137067"/>
            <a:ext cx="1310850" cy="18805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DE274002-6048-4219-D889-7B8F957D1371}"/>
              </a:ext>
            </a:extLst>
          </p:cNvPr>
          <p:cNvSpPr/>
          <p:nvPr/>
        </p:nvSpPr>
        <p:spPr>
          <a:xfrm>
            <a:off x="9583826" y="4505373"/>
            <a:ext cx="228600" cy="2286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B9712EE4-8C42-FEF4-F32A-32A27AEC0917}"/>
              </a:ext>
            </a:extLst>
          </p:cNvPr>
          <p:cNvSpPr/>
          <p:nvPr/>
        </p:nvSpPr>
        <p:spPr>
          <a:xfrm>
            <a:off x="9835618" y="4505373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9D47B7E4-F028-EFF6-38CA-28AD89E3E8CF}"/>
              </a:ext>
            </a:extLst>
          </p:cNvPr>
          <p:cNvSpPr/>
          <p:nvPr/>
        </p:nvSpPr>
        <p:spPr>
          <a:xfrm>
            <a:off x="10087410" y="4505373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A89AC8BA-B5C5-B26D-034D-41CB6CD07036}"/>
              </a:ext>
            </a:extLst>
          </p:cNvPr>
          <p:cNvSpPr/>
          <p:nvPr/>
        </p:nvSpPr>
        <p:spPr>
          <a:xfrm>
            <a:off x="10339202" y="450537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76E632C-A27B-F53E-1F45-D7DF66451A58}"/>
              </a:ext>
            </a:extLst>
          </p:cNvPr>
          <p:cNvSpPr/>
          <p:nvPr/>
        </p:nvSpPr>
        <p:spPr>
          <a:xfrm>
            <a:off x="10590994" y="4505373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E8860459-74E8-C2C7-0E0A-094EBBD40171}"/>
              </a:ext>
            </a:extLst>
          </p:cNvPr>
          <p:cNvSpPr/>
          <p:nvPr/>
        </p:nvSpPr>
        <p:spPr>
          <a:xfrm>
            <a:off x="9583826" y="4817420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64E0C12B-5EC3-7586-BD19-E2EB0B1F80F9}"/>
              </a:ext>
            </a:extLst>
          </p:cNvPr>
          <p:cNvSpPr/>
          <p:nvPr/>
        </p:nvSpPr>
        <p:spPr>
          <a:xfrm>
            <a:off x="9835618" y="4816674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2C5900EA-0DD4-F0A7-D921-C0A8AF6C329D}"/>
              </a:ext>
            </a:extLst>
          </p:cNvPr>
          <p:cNvSpPr/>
          <p:nvPr/>
        </p:nvSpPr>
        <p:spPr>
          <a:xfrm>
            <a:off x="10087410" y="4816674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FDFAB495-B66C-0347-7569-FC725701C2A2}"/>
              </a:ext>
            </a:extLst>
          </p:cNvPr>
          <p:cNvSpPr/>
          <p:nvPr/>
        </p:nvSpPr>
        <p:spPr>
          <a:xfrm>
            <a:off x="10339202" y="4816674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0B9BD7F6-D07F-77F1-4D27-EA700D1CD5D0}"/>
              </a:ext>
            </a:extLst>
          </p:cNvPr>
          <p:cNvSpPr/>
          <p:nvPr/>
        </p:nvSpPr>
        <p:spPr>
          <a:xfrm>
            <a:off x="10590994" y="4816674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05E83248-0FCC-5C98-9E83-74A4A5CAB10B}"/>
              </a:ext>
            </a:extLst>
          </p:cNvPr>
          <p:cNvSpPr/>
          <p:nvPr/>
        </p:nvSpPr>
        <p:spPr>
          <a:xfrm>
            <a:off x="9583826" y="5129467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069720A7-38B0-8842-59C7-897314A0E76B}"/>
              </a:ext>
            </a:extLst>
          </p:cNvPr>
          <p:cNvSpPr/>
          <p:nvPr/>
        </p:nvSpPr>
        <p:spPr>
          <a:xfrm>
            <a:off x="9833884" y="5127975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457E3F91-57F1-2F85-21DC-9EC1E04BA530}"/>
              </a:ext>
            </a:extLst>
          </p:cNvPr>
          <p:cNvSpPr/>
          <p:nvPr/>
        </p:nvSpPr>
        <p:spPr>
          <a:xfrm>
            <a:off x="10085676" y="5127975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84FF930F-2FD7-E4A8-D9FB-3EF84C82FAF3}"/>
              </a:ext>
            </a:extLst>
          </p:cNvPr>
          <p:cNvSpPr/>
          <p:nvPr/>
        </p:nvSpPr>
        <p:spPr>
          <a:xfrm>
            <a:off x="10337468" y="5127975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302B8E21-4162-7E23-8A31-01EBF3F3A707}"/>
              </a:ext>
            </a:extLst>
          </p:cNvPr>
          <p:cNvSpPr/>
          <p:nvPr/>
        </p:nvSpPr>
        <p:spPr>
          <a:xfrm>
            <a:off x="10589260" y="5127975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DD67F6D7-0C8E-40C6-981E-7B083E17EB76}"/>
              </a:ext>
            </a:extLst>
          </p:cNvPr>
          <p:cNvSpPr/>
          <p:nvPr/>
        </p:nvSpPr>
        <p:spPr>
          <a:xfrm>
            <a:off x="9583826" y="5441514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798BF0D8-31FF-678A-C317-221AB1F25537}"/>
              </a:ext>
            </a:extLst>
          </p:cNvPr>
          <p:cNvSpPr/>
          <p:nvPr/>
        </p:nvSpPr>
        <p:spPr>
          <a:xfrm>
            <a:off x="9833884" y="5441514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6EB92B18-1CC2-0F39-89F2-9BC47ACCC9BA}"/>
              </a:ext>
            </a:extLst>
          </p:cNvPr>
          <p:cNvSpPr/>
          <p:nvPr/>
        </p:nvSpPr>
        <p:spPr>
          <a:xfrm>
            <a:off x="10085676" y="5441514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54128E91-5959-9A9F-5C84-130C7127F30B}"/>
              </a:ext>
            </a:extLst>
          </p:cNvPr>
          <p:cNvSpPr/>
          <p:nvPr/>
        </p:nvSpPr>
        <p:spPr>
          <a:xfrm>
            <a:off x="10337468" y="5441514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B1D210F0-301F-C79A-16AF-4BC820DAAC68}"/>
              </a:ext>
            </a:extLst>
          </p:cNvPr>
          <p:cNvSpPr/>
          <p:nvPr/>
        </p:nvSpPr>
        <p:spPr>
          <a:xfrm>
            <a:off x="10589260" y="5441514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B41C9565-F8A0-B417-69AC-7FBF8794B7B7}"/>
              </a:ext>
            </a:extLst>
          </p:cNvPr>
          <p:cNvSpPr/>
          <p:nvPr/>
        </p:nvSpPr>
        <p:spPr>
          <a:xfrm>
            <a:off x="9583826" y="5753562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9A14D280-70D6-A5B5-5F75-A4AFEFC34196}"/>
              </a:ext>
            </a:extLst>
          </p:cNvPr>
          <p:cNvSpPr/>
          <p:nvPr/>
        </p:nvSpPr>
        <p:spPr>
          <a:xfrm>
            <a:off x="9833884" y="5750577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3F9405A8-F86B-18CC-5F85-C28C9A40B830}"/>
              </a:ext>
            </a:extLst>
          </p:cNvPr>
          <p:cNvSpPr/>
          <p:nvPr/>
        </p:nvSpPr>
        <p:spPr>
          <a:xfrm>
            <a:off x="10085676" y="575057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BB937EB3-58C5-277E-272E-C884D9A06E9A}"/>
              </a:ext>
            </a:extLst>
          </p:cNvPr>
          <p:cNvSpPr/>
          <p:nvPr/>
        </p:nvSpPr>
        <p:spPr>
          <a:xfrm>
            <a:off x="10337468" y="5750577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C39012FE-B214-B981-7130-06073017C6A9}"/>
              </a:ext>
            </a:extLst>
          </p:cNvPr>
          <p:cNvSpPr/>
          <p:nvPr/>
        </p:nvSpPr>
        <p:spPr>
          <a:xfrm>
            <a:off x="10589260" y="5750577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FA5F907-4A08-A10D-1FF9-E15BE0945527}"/>
              </a:ext>
            </a:extLst>
          </p:cNvPr>
          <p:cNvSpPr txBox="1"/>
          <p:nvPr/>
        </p:nvSpPr>
        <p:spPr>
          <a:xfrm>
            <a:off x="5225221" y="4126426"/>
            <a:ext cx="4076623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Filter</a:t>
            </a:r>
          </a:p>
          <a:p>
            <a:r>
              <a:rPr lang="en-US" sz="1500" dirty="0">
                <a:latin typeface="Berkeley Mono" pitchFamily="49" charset="77"/>
              </a:rPr>
              <a:t>module’s input messages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60235A9-7049-FF67-57DB-9DFB5CBB5696}"/>
              </a:ext>
            </a:extLst>
          </p:cNvPr>
          <p:cNvSpPr txBox="1"/>
          <p:nvPr/>
        </p:nvSpPr>
        <p:spPr>
          <a:xfrm>
            <a:off x="5225223" y="4758196"/>
            <a:ext cx="4076621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Reconstruct</a:t>
            </a:r>
          </a:p>
          <a:p>
            <a:r>
              <a:rPr lang="en-US" sz="1500" dirty="0">
                <a:latin typeface="Berkeley Mono" pitchFamily="49" charset="77"/>
              </a:rPr>
              <a:t>input combinations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3823DBC-3809-88D9-1CC3-2EA56AF7A2D2}"/>
              </a:ext>
            </a:extLst>
          </p:cNvPr>
          <p:cNvSpPr txBox="1"/>
          <p:nvPr/>
        </p:nvSpPr>
        <p:spPr>
          <a:xfrm>
            <a:off x="5225223" y="5386636"/>
            <a:ext cx="4076621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Validate</a:t>
            </a:r>
          </a:p>
          <a:p>
            <a:r>
              <a:rPr lang="en-US" sz="1500" dirty="0">
                <a:latin typeface="Berkeley Mono" pitchFamily="49" charset="77"/>
              </a:rPr>
              <a:t>module tests based on outputs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F6EE3C-C156-5BD0-C5DA-65F75E23E798}"/>
              </a:ext>
            </a:extLst>
          </p:cNvPr>
          <p:cNvSpPr/>
          <p:nvPr/>
        </p:nvSpPr>
        <p:spPr>
          <a:xfrm>
            <a:off x="211217" y="4141124"/>
            <a:ext cx="2433865" cy="3341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Berkeley Mono" pitchFamily="49" charset="77"/>
              </a:rPr>
              <a:t>Test Executor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9C015-19A9-F2D1-A934-76B68F344443}"/>
              </a:ext>
            </a:extLst>
          </p:cNvPr>
          <p:cNvSpPr txBox="1"/>
          <p:nvPr/>
        </p:nvSpPr>
        <p:spPr>
          <a:xfrm>
            <a:off x="211217" y="3891268"/>
            <a:ext cx="492443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DeFT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9F4DBC-581A-C881-B289-253F54D95244}"/>
              </a:ext>
            </a:extLst>
          </p:cNvPr>
          <p:cNvSpPr/>
          <p:nvPr/>
        </p:nvSpPr>
        <p:spPr>
          <a:xfrm>
            <a:off x="2817565" y="4816674"/>
            <a:ext cx="1757244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479A5F-DF88-B2E9-1C64-30D9BB0FA600}"/>
              </a:ext>
            </a:extLst>
          </p:cNvPr>
          <p:cNvSpPr/>
          <p:nvPr/>
        </p:nvSpPr>
        <p:spPr>
          <a:xfrm>
            <a:off x="3294878" y="4871641"/>
            <a:ext cx="36576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3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68E8B1-B896-C471-7CC6-0FED34F0C26D}"/>
              </a:ext>
            </a:extLst>
          </p:cNvPr>
          <p:cNvSpPr/>
          <p:nvPr/>
        </p:nvSpPr>
        <p:spPr>
          <a:xfrm>
            <a:off x="3729470" y="4871641"/>
            <a:ext cx="36576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3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8265E8-F9FA-D039-ED0D-BC65E8B08695}"/>
              </a:ext>
            </a:extLst>
          </p:cNvPr>
          <p:cNvSpPr/>
          <p:nvPr/>
        </p:nvSpPr>
        <p:spPr>
          <a:xfrm>
            <a:off x="4164063" y="4871641"/>
            <a:ext cx="36576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3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FCE3D08-3C65-C811-679A-79102031BDCB}"/>
              </a:ext>
            </a:extLst>
          </p:cNvPr>
          <p:cNvSpPr/>
          <p:nvPr/>
        </p:nvSpPr>
        <p:spPr>
          <a:xfrm>
            <a:off x="2860286" y="4871641"/>
            <a:ext cx="36576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3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F00CC39-C140-49C6-C41D-86D5694ABC1F}"/>
              </a:ext>
            </a:extLst>
          </p:cNvPr>
          <p:cNvSpPr/>
          <p:nvPr/>
        </p:nvSpPr>
        <p:spPr>
          <a:xfrm>
            <a:off x="4615346" y="4871642"/>
            <a:ext cx="36576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P</a:t>
            </a:r>
            <a:r>
              <a:rPr lang="en-US" sz="1000" baseline="30000" dirty="0">
                <a:latin typeface="Berkeley Mono" pitchFamily="49" charset="77"/>
              </a:rPr>
              <a:t>3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106162-6BDE-7CE1-F412-DF3809F62E8E}"/>
              </a:ext>
            </a:extLst>
          </p:cNvPr>
          <p:cNvSpPr/>
          <p:nvPr/>
        </p:nvSpPr>
        <p:spPr>
          <a:xfrm>
            <a:off x="4573606" y="4816674"/>
            <a:ext cx="456613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583A0461-A4AF-B5C1-5EC6-6886B2D62AAE}"/>
              </a:ext>
            </a:extLst>
          </p:cNvPr>
          <p:cNvCxnSpPr>
            <a:cxnSpLocks/>
            <a:stCxn id="36" idx="3"/>
            <a:endCxn id="117" idx="3"/>
          </p:cNvCxnSpPr>
          <p:nvPr/>
        </p:nvCxnSpPr>
        <p:spPr>
          <a:xfrm flipH="1">
            <a:off x="10862752" y="1629202"/>
            <a:ext cx="3369" cy="3448121"/>
          </a:xfrm>
          <a:prstGeom prst="bentConnector3">
            <a:avLst>
              <a:gd name="adj1" fmla="val -678539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017B77DE-52C7-7BA8-89B0-C872893F2067}"/>
              </a:ext>
            </a:extLst>
          </p:cNvPr>
          <p:cNvCxnSpPr>
            <a:cxnSpLocks/>
            <a:stCxn id="117" idx="1"/>
            <a:endCxn id="111" idx="3"/>
          </p:cNvCxnSpPr>
          <p:nvPr/>
        </p:nvCxnSpPr>
        <p:spPr>
          <a:xfrm rot="10800000">
            <a:off x="5717666" y="4003317"/>
            <a:ext cx="3834236" cy="1074007"/>
          </a:xfrm>
          <a:prstGeom prst="bentConnector3">
            <a:avLst>
              <a:gd name="adj1" fmla="val 326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4EC64EA-5AC5-A891-93F3-3191377AE5ED}"/>
              </a:ext>
            </a:extLst>
          </p:cNvPr>
          <p:cNvCxnSpPr>
            <a:stCxn id="111" idx="1"/>
            <a:endCxn id="80" idx="3"/>
          </p:cNvCxnSpPr>
          <p:nvPr/>
        </p:nvCxnSpPr>
        <p:spPr>
          <a:xfrm flipH="1">
            <a:off x="4695002" y="4003316"/>
            <a:ext cx="530221" cy="104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3D337D1-9BCE-D751-FAB1-E79A388353B0}"/>
              </a:ext>
            </a:extLst>
          </p:cNvPr>
          <p:cNvSpPr/>
          <p:nvPr/>
        </p:nvSpPr>
        <p:spPr>
          <a:xfrm>
            <a:off x="216126" y="5506372"/>
            <a:ext cx="2433865" cy="5112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Berkeley Mono" pitchFamily="49" charset="77"/>
              </a:rPr>
              <a:t>Planning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EFBAA1BB-3778-28B2-5F43-63D61B0BA582}"/>
              </a:ext>
            </a:extLst>
          </p:cNvPr>
          <p:cNvSpPr/>
          <p:nvPr/>
        </p:nvSpPr>
        <p:spPr>
          <a:xfrm>
            <a:off x="1324726" y="4552896"/>
            <a:ext cx="36576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D8008E3-C538-EA75-BE59-19C2181CE206}"/>
              </a:ext>
            </a:extLst>
          </p:cNvPr>
          <p:cNvSpPr/>
          <p:nvPr/>
        </p:nvSpPr>
        <p:spPr>
          <a:xfrm>
            <a:off x="1768671" y="4552896"/>
            <a:ext cx="36576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6968BEF-E06E-A437-69B9-E5ECA98241B8}"/>
              </a:ext>
            </a:extLst>
          </p:cNvPr>
          <p:cNvSpPr/>
          <p:nvPr/>
        </p:nvSpPr>
        <p:spPr>
          <a:xfrm>
            <a:off x="2212617" y="4558033"/>
            <a:ext cx="36576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26E4B98-8311-276F-F9A4-E97B21B7FC63}"/>
              </a:ext>
            </a:extLst>
          </p:cNvPr>
          <p:cNvSpPr/>
          <p:nvPr/>
        </p:nvSpPr>
        <p:spPr>
          <a:xfrm>
            <a:off x="880781" y="4552896"/>
            <a:ext cx="36576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79BBE6F8-8BF4-4165-212C-6EAE4A7C7326}"/>
              </a:ext>
            </a:extLst>
          </p:cNvPr>
          <p:cNvSpPr/>
          <p:nvPr/>
        </p:nvSpPr>
        <p:spPr>
          <a:xfrm>
            <a:off x="2220463" y="4848722"/>
            <a:ext cx="36576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P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C1C6DF-FD91-AB19-2F5A-5DB6B0908EEC}"/>
              </a:ext>
            </a:extLst>
          </p:cNvPr>
          <p:cNvSpPr txBox="1"/>
          <p:nvPr/>
        </p:nvSpPr>
        <p:spPr>
          <a:xfrm>
            <a:off x="214160" y="4534864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Input: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5A580B-820E-E662-F1B8-7F424DC231E4}"/>
              </a:ext>
            </a:extLst>
          </p:cNvPr>
          <p:cNvSpPr txBox="1"/>
          <p:nvPr/>
        </p:nvSpPr>
        <p:spPr>
          <a:xfrm>
            <a:off x="208426" y="4859234"/>
            <a:ext cx="14157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Expected Output: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696E7EC-841E-97BC-99A7-0C7299F1687C}"/>
              </a:ext>
            </a:extLst>
          </p:cNvPr>
          <p:cNvSpPr/>
          <p:nvPr/>
        </p:nvSpPr>
        <p:spPr>
          <a:xfrm>
            <a:off x="211217" y="4136831"/>
            <a:ext cx="2436809" cy="101498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871A0F4-FBFC-F2F2-E3E2-EE2526F03262}"/>
              </a:ext>
            </a:extLst>
          </p:cNvPr>
          <p:cNvCxnSpPr>
            <a:stCxn id="63" idx="2"/>
            <a:endCxn id="27" idx="0"/>
          </p:cNvCxnSpPr>
          <p:nvPr/>
        </p:nvCxnSpPr>
        <p:spPr>
          <a:xfrm>
            <a:off x="1429622" y="5151815"/>
            <a:ext cx="3437" cy="3545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D8B9B90-5123-503C-6A7A-3D84B22365EC}"/>
              </a:ext>
            </a:extLst>
          </p:cNvPr>
          <p:cNvCxnSpPr>
            <a:stCxn id="80" idx="1"/>
            <a:endCxn id="5" idx="3"/>
          </p:cNvCxnSpPr>
          <p:nvPr/>
        </p:nvCxnSpPr>
        <p:spPr>
          <a:xfrm flipH="1">
            <a:off x="703660" y="4013721"/>
            <a:ext cx="2113905" cy="6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066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2.77556E-17 L 0.02109 -2.77556E-1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77556E-17 L -2.29167E-6 0.03704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5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1.48148E-6 L 0.00013 0.03588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8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96296E-6 L 3.125E-6 -0.09398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9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77556E-17 L 0.02109 -2.77556E-17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77556E-17 L 0.0211 -2.77556E-17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77556E-17 L 0.02109 -2.77556E-17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07407E-6 L -2.29167E-6 0.03704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52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59259E-6 L 0.00013 0.03588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82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96296E-6 L 3.125E-6 -0.09398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9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59259E-6 L 1.25E-6 0.09352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7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11111E-6 L 1.25E-6 0.09676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1" grpId="0" animBg="1"/>
      <p:bldP spid="52" grpId="0" animBg="1"/>
      <p:bldP spid="49" grpId="0" animBg="1"/>
      <p:bldP spid="31" grpId="0"/>
      <p:bldP spid="58" grpId="0" animBg="1"/>
      <p:bldP spid="59" grpId="0" animBg="1"/>
      <p:bldP spid="60" grpId="0" animBg="1"/>
      <p:bldP spid="61" grpId="0" animBg="1"/>
      <p:bldP spid="62" grpId="0" animBg="1"/>
      <p:bldP spid="64" grpId="0" animBg="1"/>
      <p:bldP spid="76" grpId="0" animBg="1"/>
      <p:bldP spid="77" grpId="0" animBg="1"/>
      <p:bldP spid="79" grpId="0" animBg="1"/>
      <p:bldP spid="80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63" grpId="0" animBg="1"/>
      <p:bldP spid="166" grpId="0" animBg="1"/>
      <p:bldP spid="167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7" grpId="0" animBg="1"/>
      <p:bldP spid="44" grpId="0" animBg="1"/>
      <p:bldP spid="45" grpId="0" animBg="1"/>
      <p:bldP spid="46" grpId="0" animBg="1"/>
      <p:bldP spid="47" grpId="0" animBg="1"/>
      <p:bldP spid="50" grpId="0" animBg="1"/>
      <p:bldP spid="56" grpId="0"/>
      <p:bldP spid="57" grpId="0"/>
      <p:bldP spid="6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77AD1-6CA4-4D93-FAE1-3DF2D3CD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1F21-8580-C825-27C9-1FD8E90FE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5BB301-FC15-3287-1CFF-D942385A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4CF13-1063-F82D-03F7-11D9BC53ACE4}"/>
              </a:ext>
            </a:extLst>
          </p:cNvPr>
          <p:cNvSpPr txBox="1"/>
          <p:nvPr/>
        </p:nvSpPr>
        <p:spPr>
          <a:xfrm>
            <a:off x="168478" y="684664"/>
            <a:ext cx="8547432" cy="630942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Filter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  <a:endParaRPr lang="en-US" sz="2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3336E-24F8-E579-9917-25D3A82F592A}"/>
              </a:ext>
            </a:extLst>
          </p:cNvPr>
          <p:cNvSpPr txBox="1"/>
          <p:nvPr/>
        </p:nvSpPr>
        <p:spPr>
          <a:xfrm>
            <a:off x="8715910" y="684664"/>
            <a:ext cx="1877437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Reconstruct</a:t>
            </a:r>
          </a:p>
          <a:p>
            <a:endParaRPr lang="en-US" sz="1500" dirty="0">
              <a:latin typeface="Berkeley Mono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39C87F-43F3-F6B7-9D80-14095417A39B}"/>
              </a:ext>
            </a:extLst>
          </p:cNvPr>
          <p:cNvSpPr txBox="1"/>
          <p:nvPr/>
        </p:nvSpPr>
        <p:spPr>
          <a:xfrm>
            <a:off x="10593347" y="684664"/>
            <a:ext cx="1415772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Validate</a:t>
            </a:r>
            <a:br>
              <a:rPr lang="en-US" sz="2000" dirty="0">
                <a:latin typeface="Berkeley Mono" pitchFamily="49" charset="77"/>
              </a:rPr>
            </a:br>
            <a:endParaRPr lang="en-US" sz="1500" dirty="0">
              <a:latin typeface="Berkeley Mono" pitchFamily="49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49EDF9-D989-D1EA-285C-B374C9EF53D3}"/>
              </a:ext>
            </a:extLst>
          </p:cNvPr>
          <p:cNvSpPr txBox="1"/>
          <p:nvPr/>
        </p:nvSpPr>
        <p:spPr>
          <a:xfrm>
            <a:off x="464419" y="17254"/>
            <a:ext cx="218360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De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terministic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3E6906-CC18-9D80-C944-F25F19B6DFEB}"/>
              </a:ext>
            </a:extLst>
          </p:cNvPr>
          <p:cNvSpPr txBox="1"/>
          <p:nvPr/>
        </p:nvSpPr>
        <p:spPr>
          <a:xfrm>
            <a:off x="2635771" y="17254"/>
            <a:ext cx="309162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F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rame-based </a:t>
            </a:r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T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88D69-9F1F-283C-3276-9B47209BDDA1}"/>
              </a:ext>
            </a:extLst>
          </p:cNvPr>
          <p:cNvSpPr txBox="1"/>
          <p:nvPr/>
        </p:nvSpPr>
        <p:spPr>
          <a:xfrm>
            <a:off x="168478" y="972185"/>
            <a:ext cx="757130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What are the messages that are relevant to the planning module?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B6B5C2-E00D-CEBF-72A5-A43A9FCB1CCE}"/>
              </a:ext>
            </a:extLst>
          </p:cNvPr>
          <p:cNvSpPr txBox="1"/>
          <p:nvPr/>
        </p:nvSpPr>
        <p:spPr>
          <a:xfrm>
            <a:off x="170107" y="2837355"/>
            <a:ext cx="1307592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Message Pool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CF4A619-C8EC-B5E2-35FF-D5ED2F58116A}"/>
              </a:ext>
            </a:extLst>
          </p:cNvPr>
          <p:cNvSpPr/>
          <p:nvPr/>
        </p:nvSpPr>
        <p:spPr>
          <a:xfrm>
            <a:off x="202570" y="3150475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469D5AB-92EB-42C2-4FF6-62F13E0C679E}"/>
              </a:ext>
            </a:extLst>
          </p:cNvPr>
          <p:cNvSpPr/>
          <p:nvPr/>
        </p:nvSpPr>
        <p:spPr>
          <a:xfrm>
            <a:off x="454362" y="3150475"/>
            <a:ext cx="228600" cy="228600"/>
          </a:xfrm>
          <a:prstGeom prst="roundRect">
            <a:avLst/>
          </a:prstGeom>
          <a:solidFill>
            <a:srgbClr val="0091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E9E35E1-E783-C817-F271-99C8EFE8403E}"/>
              </a:ext>
            </a:extLst>
          </p:cNvPr>
          <p:cNvSpPr/>
          <p:nvPr/>
        </p:nvSpPr>
        <p:spPr>
          <a:xfrm>
            <a:off x="706154" y="3150475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D61A514-EEAD-A0F1-3AE3-67EA350F888B}"/>
              </a:ext>
            </a:extLst>
          </p:cNvPr>
          <p:cNvSpPr/>
          <p:nvPr/>
        </p:nvSpPr>
        <p:spPr>
          <a:xfrm>
            <a:off x="957946" y="3150475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F5ECC3A-0866-B0E5-1EBB-C73AECE80F3A}"/>
              </a:ext>
            </a:extLst>
          </p:cNvPr>
          <p:cNvSpPr/>
          <p:nvPr/>
        </p:nvSpPr>
        <p:spPr>
          <a:xfrm>
            <a:off x="1209738" y="3150475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D97E51-81E3-D6C4-AEF0-B72D7E6FE155}"/>
              </a:ext>
            </a:extLst>
          </p:cNvPr>
          <p:cNvSpPr/>
          <p:nvPr/>
        </p:nvSpPr>
        <p:spPr>
          <a:xfrm>
            <a:off x="168478" y="3094216"/>
            <a:ext cx="1310850" cy="18805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5257223-4DFD-BD13-DD11-656D2822D80F}"/>
              </a:ext>
            </a:extLst>
          </p:cNvPr>
          <p:cNvSpPr/>
          <p:nvPr/>
        </p:nvSpPr>
        <p:spPr>
          <a:xfrm>
            <a:off x="202570" y="3462522"/>
            <a:ext cx="228600" cy="228600"/>
          </a:xfrm>
          <a:prstGeom prst="roundRect">
            <a:avLst/>
          </a:prstGeom>
          <a:solidFill>
            <a:srgbClr val="0091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B4A1B07-7292-8F3C-3A2C-51AEE072985A}"/>
              </a:ext>
            </a:extLst>
          </p:cNvPr>
          <p:cNvSpPr/>
          <p:nvPr/>
        </p:nvSpPr>
        <p:spPr>
          <a:xfrm>
            <a:off x="454362" y="3462522"/>
            <a:ext cx="228600" cy="228600"/>
          </a:xfrm>
          <a:prstGeom prst="roundRect">
            <a:avLst/>
          </a:prstGeom>
          <a:solidFill>
            <a:srgbClr val="0091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31AC8A0-7A0E-0E55-D650-4727F0CCB9B2}"/>
              </a:ext>
            </a:extLst>
          </p:cNvPr>
          <p:cNvSpPr/>
          <p:nvPr/>
        </p:nvSpPr>
        <p:spPr>
          <a:xfrm>
            <a:off x="706154" y="3462522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A9208A9-1C29-F1BA-CEFC-12E904AB203E}"/>
              </a:ext>
            </a:extLst>
          </p:cNvPr>
          <p:cNvSpPr/>
          <p:nvPr/>
        </p:nvSpPr>
        <p:spPr>
          <a:xfrm>
            <a:off x="957946" y="3462522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C69EE37-A9AA-B106-55FF-7E1C27594E09}"/>
              </a:ext>
            </a:extLst>
          </p:cNvPr>
          <p:cNvSpPr/>
          <p:nvPr/>
        </p:nvSpPr>
        <p:spPr>
          <a:xfrm>
            <a:off x="1209738" y="3462522"/>
            <a:ext cx="228600" cy="228600"/>
          </a:xfrm>
          <a:prstGeom prst="roundRect">
            <a:avLst/>
          </a:prstGeom>
          <a:solidFill>
            <a:srgbClr val="0091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3F6304A-8CE0-AC86-C3B3-3511E5E98461}"/>
              </a:ext>
            </a:extLst>
          </p:cNvPr>
          <p:cNvSpPr/>
          <p:nvPr/>
        </p:nvSpPr>
        <p:spPr>
          <a:xfrm>
            <a:off x="202570" y="3774569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48192CE-8744-38E2-06CB-CA3938E4AB9E}"/>
              </a:ext>
            </a:extLst>
          </p:cNvPr>
          <p:cNvSpPr/>
          <p:nvPr/>
        </p:nvSpPr>
        <p:spPr>
          <a:xfrm>
            <a:off x="454362" y="3773823"/>
            <a:ext cx="228600" cy="228600"/>
          </a:xfrm>
          <a:prstGeom prst="roundRect">
            <a:avLst/>
          </a:prstGeom>
          <a:solidFill>
            <a:srgbClr val="0091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E20A392-8B57-0011-251F-2934AA757659}"/>
              </a:ext>
            </a:extLst>
          </p:cNvPr>
          <p:cNvSpPr/>
          <p:nvPr/>
        </p:nvSpPr>
        <p:spPr>
          <a:xfrm>
            <a:off x="706154" y="377382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B68C1EC-CFAD-88B3-C11F-F4E5B8559A3B}"/>
              </a:ext>
            </a:extLst>
          </p:cNvPr>
          <p:cNvSpPr/>
          <p:nvPr/>
        </p:nvSpPr>
        <p:spPr>
          <a:xfrm>
            <a:off x="957946" y="377382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C647498-C7EB-2654-9586-33A00916877B}"/>
              </a:ext>
            </a:extLst>
          </p:cNvPr>
          <p:cNvSpPr/>
          <p:nvPr/>
        </p:nvSpPr>
        <p:spPr>
          <a:xfrm>
            <a:off x="1209738" y="377382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AE96090-6CAE-7BF1-D0DD-ED493874EAF0}"/>
              </a:ext>
            </a:extLst>
          </p:cNvPr>
          <p:cNvSpPr/>
          <p:nvPr/>
        </p:nvSpPr>
        <p:spPr>
          <a:xfrm>
            <a:off x="202570" y="4086616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AC22822-7E26-4D57-CEA4-9D1FEF20AD5B}"/>
              </a:ext>
            </a:extLst>
          </p:cNvPr>
          <p:cNvSpPr/>
          <p:nvPr/>
        </p:nvSpPr>
        <p:spPr>
          <a:xfrm>
            <a:off x="452628" y="4085124"/>
            <a:ext cx="228600" cy="228600"/>
          </a:xfrm>
          <a:prstGeom prst="roundRect">
            <a:avLst/>
          </a:prstGeom>
          <a:solidFill>
            <a:srgbClr val="0091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A0A44F4-CCCE-E1A9-7D71-41C33B3B2089}"/>
              </a:ext>
            </a:extLst>
          </p:cNvPr>
          <p:cNvSpPr/>
          <p:nvPr/>
        </p:nvSpPr>
        <p:spPr>
          <a:xfrm>
            <a:off x="704420" y="4085124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4B3207F-C6A3-AECD-4B41-5F0821968673}"/>
              </a:ext>
            </a:extLst>
          </p:cNvPr>
          <p:cNvSpPr/>
          <p:nvPr/>
        </p:nvSpPr>
        <p:spPr>
          <a:xfrm>
            <a:off x="956212" y="4085124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E4788BF-02BA-CE4F-E41D-9D3983911F25}"/>
              </a:ext>
            </a:extLst>
          </p:cNvPr>
          <p:cNvSpPr/>
          <p:nvPr/>
        </p:nvSpPr>
        <p:spPr>
          <a:xfrm>
            <a:off x="1208004" y="4085124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A67FE95-C3A3-C68A-B68B-0C75439A2ACA}"/>
              </a:ext>
            </a:extLst>
          </p:cNvPr>
          <p:cNvSpPr/>
          <p:nvPr/>
        </p:nvSpPr>
        <p:spPr>
          <a:xfrm>
            <a:off x="202570" y="439866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74916AC-9E55-AE5F-C8C0-7B1320EB3D81}"/>
              </a:ext>
            </a:extLst>
          </p:cNvPr>
          <p:cNvSpPr/>
          <p:nvPr/>
        </p:nvSpPr>
        <p:spPr>
          <a:xfrm>
            <a:off x="452628" y="439866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7CDECF1-EC28-8B5F-FE15-ADC071CE89EE}"/>
              </a:ext>
            </a:extLst>
          </p:cNvPr>
          <p:cNvSpPr/>
          <p:nvPr/>
        </p:nvSpPr>
        <p:spPr>
          <a:xfrm>
            <a:off x="704420" y="439866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07B2678-1BCF-A519-F7CB-3BF1A0F6EFCC}"/>
              </a:ext>
            </a:extLst>
          </p:cNvPr>
          <p:cNvSpPr/>
          <p:nvPr/>
        </p:nvSpPr>
        <p:spPr>
          <a:xfrm>
            <a:off x="956212" y="439866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C389E10-7489-CB70-431E-A0CBECAF3568}"/>
              </a:ext>
            </a:extLst>
          </p:cNvPr>
          <p:cNvSpPr/>
          <p:nvPr/>
        </p:nvSpPr>
        <p:spPr>
          <a:xfrm>
            <a:off x="1208004" y="439866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313AB25-E705-5585-C010-B855C4680D87}"/>
              </a:ext>
            </a:extLst>
          </p:cNvPr>
          <p:cNvSpPr/>
          <p:nvPr/>
        </p:nvSpPr>
        <p:spPr>
          <a:xfrm>
            <a:off x="202570" y="4710711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1018A52-6B78-7DDA-F011-737A94580FE4}"/>
              </a:ext>
            </a:extLst>
          </p:cNvPr>
          <p:cNvSpPr/>
          <p:nvPr/>
        </p:nvSpPr>
        <p:spPr>
          <a:xfrm>
            <a:off x="452628" y="4707726"/>
            <a:ext cx="228600" cy="228600"/>
          </a:xfrm>
          <a:prstGeom prst="roundRect">
            <a:avLst/>
          </a:prstGeom>
          <a:solidFill>
            <a:srgbClr val="0091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131DBB3-3A4A-EE34-5B55-4876D3678AC4}"/>
              </a:ext>
            </a:extLst>
          </p:cNvPr>
          <p:cNvSpPr/>
          <p:nvPr/>
        </p:nvSpPr>
        <p:spPr>
          <a:xfrm>
            <a:off x="704420" y="4707726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C126C2C-AE27-FE96-254A-05F09A111B6C}"/>
              </a:ext>
            </a:extLst>
          </p:cNvPr>
          <p:cNvSpPr/>
          <p:nvPr/>
        </p:nvSpPr>
        <p:spPr>
          <a:xfrm>
            <a:off x="956212" y="4707726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4569274-B5C0-C6AC-B1C7-24009A6FE2AD}"/>
              </a:ext>
            </a:extLst>
          </p:cNvPr>
          <p:cNvSpPr/>
          <p:nvPr/>
        </p:nvSpPr>
        <p:spPr>
          <a:xfrm>
            <a:off x="1208004" y="4707726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E564DE-D7C6-5F07-0BFC-7301B58EB2A8}"/>
              </a:ext>
            </a:extLst>
          </p:cNvPr>
          <p:cNvSpPr txBox="1"/>
          <p:nvPr/>
        </p:nvSpPr>
        <p:spPr>
          <a:xfrm>
            <a:off x="168478" y="2362999"/>
            <a:ext cx="1310850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Message Bus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6B276A2-F50E-3A54-C176-F84811407E20}"/>
              </a:ext>
            </a:extLst>
          </p:cNvPr>
          <p:cNvCxnSpPr>
            <a:cxnSpLocks/>
            <a:stCxn id="44" idx="2"/>
            <a:endCxn id="8" idx="0"/>
          </p:cNvCxnSpPr>
          <p:nvPr/>
        </p:nvCxnSpPr>
        <p:spPr>
          <a:xfrm>
            <a:off x="823903" y="2609220"/>
            <a:ext cx="0" cy="22813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6E01BC5-4164-09C4-9A41-04DB373DA786}"/>
              </a:ext>
            </a:extLst>
          </p:cNvPr>
          <p:cNvSpPr txBox="1"/>
          <p:nvPr/>
        </p:nvSpPr>
        <p:spPr>
          <a:xfrm>
            <a:off x="2520783" y="2618517"/>
            <a:ext cx="7109639" cy="355481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bool </a:t>
            </a:r>
            <a:r>
              <a:rPr lang="en-US" sz="1500" dirty="0" err="1">
                <a:latin typeface="Berkeley Mono" pitchFamily="49" charset="77"/>
              </a:rPr>
              <a:t>PlanningComponent</a:t>
            </a:r>
            <a:r>
              <a:rPr lang="en-US" sz="1500" dirty="0">
                <a:latin typeface="Berkeley Mono" pitchFamily="49" charset="77"/>
              </a:rPr>
              <a:t>::Proc(</a:t>
            </a:r>
          </a:p>
          <a:p>
            <a:r>
              <a:rPr lang="en-US" sz="1500" dirty="0">
                <a:latin typeface="Berkeley Mono" pitchFamily="49" charset="77"/>
              </a:rPr>
              <a:t>  const std::</a:t>
            </a:r>
            <a:r>
              <a:rPr lang="en-US" sz="1500" dirty="0" err="1">
                <a:latin typeface="Berkeley Mono" pitchFamily="49" charset="77"/>
              </a:rPr>
              <a:t>shared_ptr</a:t>
            </a:r>
            <a:r>
              <a:rPr lang="en-US" sz="1500" dirty="0">
                <a:latin typeface="Berkeley Mono" pitchFamily="49" charset="77"/>
              </a:rPr>
              <a:t>&lt;prediction::</a:t>
            </a:r>
            <a:r>
              <a:rPr lang="en-US" sz="1500" b="1" u="sng" dirty="0" err="1">
                <a:solidFill>
                  <a:srgbClr val="0070C0"/>
                </a:solidFill>
                <a:latin typeface="Berkeley Mono" pitchFamily="49" charset="77"/>
              </a:rPr>
              <a:t>PredictionObstacles</a:t>
            </a:r>
            <a:r>
              <a:rPr lang="en-US" sz="1500" dirty="0">
                <a:latin typeface="Berkeley Mono" pitchFamily="49" charset="77"/>
              </a:rPr>
              <a:t>&gt;&amp;</a:t>
            </a:r>
          </a:p>
          <a:p>
            <a:r>
              <a:rPr lang="en-US" sz="1500" dirty="0">
                <a:latin typeface="Berkeley Mono" pitchFamily="49" charset="77"/>
              </a:rPr>
              <a:t>    </a:t>
            </a:r>
            <a:r>
              <a:rPr lang="en-US" sz="1500" dirty="0" err="1">
                <a:latin typeface="Berkeley Mono" pitchFamily="49" charset="77"/>
              </a:rPr>
              <a:t>prediction_obstacles</a:t>
            </a:r>
            <a:r>
              <a:rPr lang="en-US" sz="1500" dirty="0">
                <a:latin typeface="Berkeley Mono" pitchFamily="49" charset="77"/>
              </a:rPr>
              <a:t>,</a:t>
            </a:r>
          </a:p>
          <a:p>
            <a:r>
              <a:rPr lang="en-US" sz="1500" dirty="0">
                <a:latin typeface="Berkeley Mono" pitchFamily="49" charset="77"/>
              </a:rPr>
              <a:t>  const std::</a:t>
            </a:r>
            <a:r>
              <a:rPr lang="en-US" sz="1500" dirty="0" err="1">
                <a:latin typeface="Berkeley Mono" pitchFamily="49" charset="77"/>
              </a:rPr>
              <a:t>shared_ptr</a:t>
            </a:r>
            <a:r>
              <a:rPr lang="en-US" sz="1500" dirty="0">
                <a:latin typeface="Berkeley Mono" pitchFamily="49" charset="77"/>
              </a:rPr>
              <a:t>&lt;</a:t>
            </a:r>
            <a:r>
              <a:rPr lang="en-US" sz="1500" dirty="0" err="1">
                <a:latin typeface="Berkeley Mono" pitchFamily="49" charset="77"/>
              </a:rPr>
              <a:t>canbus</a:t>
            </a:r>
            <a:r>
              <a:rPr lang="en-US" sz="1500" dirty="0">
                <a:latin typeface="Berkeley Mono" pitchFamily="49" charset="77"/>
              </a:rPr>
              <a:t>::</a:t>
            </a:r>
            <a:r>
              <a:rPr lang="en-US" sz="1500" b="1" u="sng" dirty="0">
                <a:solidFill>
                  <a:schemeClr val="accent5">
                    <a:lumMod val="60000"/>
                    <a:lumOff val="40000"/>
                  </a:schemeClr>
                </a:solidFill>
                <a:latin typeface="Berkeley Mono" pitchFamily="49" charset="77"/>
              </a:rPr>
              <a:t>Chassis</a:t>
            </a:r>
            <a:r>
              <a:rPr lang="en-US" sz="1500" dirty="0">
                <a:latin typeface="Berkeley Mono" pitchFamily="49" charset="77"/>
              </a:rPr>
              <a:t>&gt;&amp; chassis,</a:t>
            </a:r>
          </a:p>
          <a:p>
            <a:r>
              <a:rPr lang="en-US" sz="1500" dirty="0">
                <a:latin typeface="Berkeley Mono" pitchFamily="49" charset="77"/>
              </a:rPr>
              <a:t>  const std::</a:t>
            </a:r>
            <a:r>
              <a:rPr lang="en-US" sz="1500" dirty="0" err="1">
                <a:latin typeface="Berkeley Mono" pitchFamily="49" charset="77"/>
              </a:rPr>
              <a:t>shared_ptr</a:t>
            </a:r>
            <a:r>
              <a:rPr lang="en-US" sz="1500" dirty="0">
                <a:latin typeface="Berkeley Mono" pitchFamily="49" charset="77"/>
              </a:rPr>
              <a:t>&lt;localization::</a:t>
            </a:r>
            <a:r>
              <a:rPr lang="en-US" sz="1500" b="1" u="sng" dirty="0" err="1">
                <a:solidFill>
                  <a:srgbClr val="7030A0"/>
                </a:solidFill>
                <a:latin typeface="Berkeley Mono" pitchFamily="49" charset="77"/>
              </a:rPr>
              <a:t>LocalizationEstimate</a:t>
            </a:r>
            <a:r>
              <a:rPr lang="en-US" sz="1500" dirty="0">
                <a:latin typeface="Berkeley Mono" pitchFamily="49" charset="77"/>
              </a:rPr>
              <a:t>&gt;&amp;</a:t>
            </a:r>
          </a:p>
          <a:p>
            <a:r>
              <a:rPr lang="en-US" sz="1500" dirty="0">
                <a:latin typeface="Berkeley Mono" pitchFamily="49" charset="77"/>
              </a:rPr>
              <a:t>    </a:t>
            </a:r>
            <a:r>
              <a:rPr lang="en-US" sz="1500" dirty="0" err="1">
                <a:latin typeface="Berkeley Mono" pitchFamily="49" charset="77"/>
              </a:rPr>
              <a:t>localization_estimate</a:t>
            </a:r>
            <a:r>
              <a:rPr lang="en-US" sz="1500" dirty="0">
                <a:latin typeface="Berkeley Mono" pitchFamily="49" charset="77"/>
              </a:rPr>
              <a:t>) {</a:t>
            </a:r>
          </a:p>
          <a:p>
            <a:endParaRPr lang="en-US" sz="1500" dirty="0">
              <a:latin typeface="Berkeley Mono" pitchFamily="49" charset="77"/>
            </a:endParaRPr>
          </a:p>
          <a:p>
            <a:r>
              <a:rPr lang="en-US" sz="1500" dirty="0">
                <a:latin typeface="Berkeley Mono" pitchFamily="49" charset="77"/>
              </a:rPr>
              <a:t>  </a:t>
            </a:r>
            <a:r>
              <a:rPr lang="en-US" sz="1500" dirty="0" err="1">
                <a:latin typeface="Berkeley Mono" pitchFamily="49" charset="77"/>
              </a:rPr>
              <a:t>routing_reader</a:t>
            </a:r>
            <a:r>
              <a:rPr lang="en-US" sz="1500" dirty="0">
                <a:latin typeface="Berkeley Mono" pitchFamily="49" charset="77"/>
              </a:rPr>
              <a:t>_ = node_-&gt;</a:t>
            </a:r>
            <a:r>
              <a:rPr lang="en-US" sz="1500" dirty="0" err="1">
                <a:latin typeface="Berkeley Mono" pitchFamily="49" charset="77"/>
              </a:rPr>
              <a:t>CreateReader</a:t>
            </a:r>
            <a:r>
              <a:rPr lang="en-US" sz="1500" dirty="0">
                <a:latin typeface="Berkeley Mono" pitchFamily="49" charset="77"/>
              </a:rPr>
              <a:t>&lt;</a:t>
            </a:r>
            <a:r>
              <a:rPr lang="en-US" sz="1500" b="1" u="sng" dirty="0" err="1">
                <a:solidFill>
                  <a:srgbClr val="00B050"/>
                </a:solidFill>
                <a:latin typeface="Berkeley Mono" pitchFamily="49" charset="77"/>
              </a:rPr>
              <a:t>RoutingResponse</a:t>
            </a:r>
            <a:r>
              <a:rPr lang="en-US" sz="1500" dirty="0">
                <a:latin typeface="Berkeley Mono" pitchFamily="49" charset="77"/>
              </a:rPr>
              <a:t>&gt;(</a:t>
            </a:r>
          </a:p>
          <a:p>
            <a:r>
              <a:rPr lang="en-US" sz="1500" dirty="0">
                <a:latin typeface="Berkeley Mono" pitchFamily="49" charset="77"/>
              </a:rPr>
              <a:t>    PLANNING_TOPIC, </a:t>
            </a:r>
            <a:r>
              <a:rPr lang="en-US" sz="1500" dirty="0" err="1">
                <a:latin typeface="Berkeley Mono" pitchFamily="49" charset="77"/>
              </a:rPr>
              <a:t>routing_callback</a:t>
            </a:r>
            <a:endParaRPr lang="en-US" sz="1500" dirty="0">
              <a:latin typeface="Berkeley Mono" pitchFamily="49" charset="77"/>
            </a:endParaRPr>
          </a:p>
          <a:p>
            <a:r>
              <a:rPr lang="en-US" sz="1500" dirty="0">
                <a:latin typeface="Berkeley Mono" pitchFamily="49" charset="77"/>
              </a:rPr>
              <a:t>  });</a:t>
            </a:r>
          </a:p>
          <a:p>
            <a:endParaRPr lang="en-US" sz="1500" dirty="0">
              <a:latin typeface="Berkeley Mono" pitchFamily="49" charset="77"/>
            </a:endParaRPr>
          </a:p>
          <a:p>
            <a:r>
              <a:rPr lang="en-US" sz="1500" dirty="0">
                <a:latin typeface="Berkeley Mono" pitchFamily="49" charset="77"/>
              </a:rPr>
              <a:t>  ...</a:t>
            </a:r>
          </a:p>
          <a:p>
            <a:endParaRPr lang="en-US" sz="1500" dirty="0">
              <a:latin typeface="Berkeley Mono" pitchFamily="49" charset="77"/>
            </a:endParaRPr>
          </a:p>
          <a:p>
            <a:r>
              <a:rPr lang="en-US" sz="1500" dirty="0">
                <a:latin typeface="Berkeley Mono" pitchFamily="49" charset="77"/>
              </a:rPr>
              <a:t>  </a:t>
            </a:r>
            <a:r>
              <a:rPr lang="en-US" sz="1500" dirty="0" err="1">
                <a:latin typeface="Berkeley Mono" pitchFamily="49" charset="77"/>
              </a:rPr>
              <a:t>planning_writer</a:t>
            </a:r>
            <a:r>
              <a:rPr lang="en-US" sz="1500" dirty="0">
                <a:latin typeface="Berkeley Mono" pitchFamily="49" charset="77"/>
              </a:rPr>
              <a:t>_ = node_-&gt;</a:t>
            </a:r>
            <a:r>
              <a:rPr lang="en-US" sz="1500" dirty="0" err="1">
                <a:latin typeface="Berkeley Mono" pitchFamily="49" charset="77"/>
              </a:rPr>
              <a:t>CreateWriter</a:t>
            </a:r>
            <a:r>
              <a:rPr lang="en-US" sz="1500" dirty="0">
                <a:latin typeface="Berkeley Mono" pitchFamily="49" charset="77"/>
              </a:rPr>
              <a:t>&lt;</a:t>
            </a:r>
            <a:r>
              <a:rPr lang="en-US" sz="1500" b="1" u="sng" dirty="0" err="1">
                <a:solidFill>
                  <a:srgbClr val="FF0000"/>
                </a:solidFill>
                <a:latin typeface="Berkeley Mono" pitchFamily="49" charset="77"/>
              </a:rPr>
              <a:t>ADCTrajectory</a:t>
            </a:r>
            <a:r>
              <a:rPr lang="en-US" sz="1500" dirty="0">
                <a:latin typeface="Berkeley Mono" pitchFamily="49" charset="77"/>
              </a:rPr>
              <a:t>&gt;(</a:t>
            </a:r>
          </a:p>
          <a:p>
            <a:r>
              <a:rPr lang="en-US" sz="1500" dirty="0">
                <a:latin typeface="Berkeley Mono" pitchFamily="49" charset="77"/>
              </a:rPr>
              <a:t>    config_.</a:t>
            </a:r>
            <a:r>
              <a:rPr lang="en-US" sz="1500" dirty="0" err="1">
                <a:latin typeface="Berkeley Mono" pitchFamily="49" charset="77"/>
              </a:rPr>
              <a:t>topic_config</a:t>
            </a:r>
            <a:r>
              <a:rPr lang="en-US" sz="1500" dirty="0">
                <a:latin typeface="Berkeley Mono" pitchFamily="49" charset="77"/>
              </a:rPr>
              <a:t>().</a:t>
            </a:r>
            <a:r>
              <a:rPr lang="en-US" sz="1500" dirty="0" err="1">
                <a:latin typeface="Berkeley Mono" pitchFamily="49" charset="77"/>
              </a:rPr>
              <a:t>planning_trajectory_topic</a:t>
            </a:r>
            <a:r>
              <a:rPr lang="en-US" sz="1500" dirty="0">
                <a:latin typeface="Berkeley Mono" pitchFamily="49" charset="77"/>
              </a:rPr>
              <a:t>());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5201BE-F7CF-0E66-7ABB-90D153F903E6}"/>
              </a:ext>
            </a:extLst>
          </p:cNvPr>
          <p:cNvSpPr txBox="1"/>
          <p:nvPr/>
        </p:nvSpPr>
        <p:spPr>
          <a:xfrm>
            <a:off x="2520783" y="2362999"/>
            <a:ext cx="1338828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Static Analysis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F19DF3-9ADF-94CD-D938-F6E303AFE136}"/>
              </a:ext>
            </a:extLst>
          </p:cNvPr>
          <p:cNvSpPr txBox="1"/>
          <p:nvPr/>
        </p:nvSpPr>
        <p:spPr>
          <a:xfrm>
            <a:off x="10680209" y="2362999"/>
            <a:ext cx="1307592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Relevant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Msgs</a:t>
            </a:r>
            <a:endParaRPr lang="en-US" sz="1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38951758-1EC9-95E8-8AD4-A5C1E2F5D501}"/>
              </a:ext>
            </a:extLst>
          </p:cNvPr>
          <p:cNvSpPr/>
          <p:nvPr/>
        </p:nvSpPr>
        <p:spPr>
          <a:xfrm>
            <a:off x="10712672" y="2676119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23D10388-ABA4-07A9-26C5-AB4DAEC6B741}"/>
              </a:ext>
            </a:extLst>
          </p:cNvPr>
          <p:cNvSpPr/>
          <p:nvPr/>
        </p:nvSpPr>
        <p:spPr>
          <a:xfrm>
            <a:off x="10964464" y="2676119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1856243-246D-6CFE-ECDA-538A29D36C7E}"/>
              </a:ext>
            </a:extLst>
          </p:cNvPr>
          <p:cNvSpPr/>
          <p:nvPr/>
        </p:nvSpPr>
        <p:spPr>
          <a:xfrm>
            <a:off x="11216256" y="2676119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59D62AA-5149-F0E1-4806-50BB4B0BDDF7}"/>
              </a:ext>
            </a:extLst>
          </p:cNvPr>
          <p:cNvSpPr/>
          <p:nvPr/>
        </p:nvSpPr>
        <p:spPr>
          <a:xfrm>
            <a:off x="11468048" y="2676119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44231F55-8328-6CEF-DD74-A747512CEFCD}"/>
              </a:ext>
            </a:extLst>
          </p:cNvPr>
          <p:cNvSpPr/>
          <p:nvPr/>
        </p:nvSpPr>
        <p:spPr>
          <a:xfrm>
            <a:off x="11719840" y="2676119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95C777C-10B1-0ADF-19A7-4F9A18C61233}"/>
              </a:ext>
            </a:extLst>
          </p:cNvPr>
          <p:cNvSpPr/>
          <p:nvPr/>
        </p:nvSpPr>
        <p:spPr>
          <a:xfrm>
            <a:off x="10678580" y="2619860"/>
            <a:ext cx="1310850" cy="18805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2F6EA029-7D5B-F1CC-AD96-628876E3CABA}"/>
              </a:ext>
            </a:extLst>
          </p:cNvPr>
          <p:cNvSpPr/>
          <p:nvPr/>
        </p:nvSpPr>
        <p:spPr>
          <a:xfrm>
            <a:off x="10712672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4FA6976F-F500-3776-4313-AF4922CBBDA5}"/>
              </a:ext>
            </a:extLst>
          </p:cNvPr>
          <p:cNvSpPr/>
          <p:nvPr/>
        </p:nvSpPr>
        <p:spPr>
          <a:xfrm>
            <a:off x="10964464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C0DF956C-E6CF-0E64-BBDA-3E01927D0CF4}"/>
              </a:ext>
            </a:extLst>
          </p:cNvPr>
          <p:cNvSpPr/>
          <p:nvPr/>
        </p:nvSpPr>
        <p:spPr>
          <a:xfrm>
            <a:off x="11216256" y="2988166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6BEAC4A-F56B-8EB1-FDE6-23D7AE9DBE8F}"/>
              </a:ext>
            </a:extLst>
          </p:cNvPr>
          <p:cNvSpPr/>
          <p:nvPr/>
        </p:nvSpPr>
        <p:spPr>
          <a:xfrm>
            <a:off x="11468048" y="2988166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9A0B219D-806E-FA9A-0F29-165E7F26E151}"/>
              </a:ext>
            </a:extLst>
          </p:cNvPr>
          <p:cNvSpPr/>
          <p:nvPr/>
        </p:nvSpPr>
        <p:spPr>
          <a:xfrm>
            <a:off x="11719840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809E124D-500D-57F2-DE57-675440D1A803}"/>
              </a:ext>
            </a:extLst>
          </p:cNvPr>
          <p:cNvSpPr/>
          <p:nvPr/>
        </p:nvSpPr>
        <p:spPr>
          <a:xfrm>
            <a:off x="10712672" y="330021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8F92DE69-D9DE-326D-A556-8E0737514B6F}"/>
              </a:ext>
            </a:extLst>
          </p:cNvPr>
          <p:cNvSpPr/>
          <p:nvPr/>
        </p:nvSpPr>
        <p:spPr>
          <a:xfrm>
            <a:off x="10964464" y="3299467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D720AB78-23D5-F157-D82A-B212505417C0}"/>
              </a:ext>
            </a:extLst>
          </p:cNvPr>
          <p:cNvSpPr/>
          <p:nvPr/>
        </p:nvSpPr>
        <p:spPr>
          <a:xfrm>
            <a:off x="11216256" y="329946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2240393F-5E95-DB41-C6D1-59E387B9A4DA}"/>
              </a:ext>
            </a:extLst>
          </p:cNvPr>
          <p:cNvSpPr/>
          <p:nvPr/>
        </p:nvSpPr>
        <p:spPr>
          <a:xfrm>
            <a:off x="11468048" y="3299467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3461B948-BB52-E170-5629-4848B0FBC55F}"/>
              </a:ext>
            </a:extLst>
          </p:cNvPr>
          <p:cNvSpPr/>
          <p:nvPr/>
        </p:nvSpPr>
        <p:spPr>
          <a:xfrm>
            <a:off x="11719840" y="3299467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499BAE0-E80E-8264-FFDA-657A53AEFBF8}"/>
              </a:ext>
            </a:extLst>
          </p:cNvPr>
          <p:cNvSpPr/>
          <p:nvPr/>
        </p:nvSpPr>
        <p:spPr>
          <a:xfrm>
            <a:off x="10712672" y="3612260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4A66F79F-56C7-C852-3FDC-EA65EE6DDE69}"/>
              </a:ext>
            </a:extLst>
          </p:cNvPr>
          <p:cNvSpPr/>
          <p:nvPr/>
        </p:nvSpPr>
        <p:spPr>
          <a:xfrm>
            <a:off x="10962730" y="3610768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CEF42705-0012-7824-7C9D-8DC916B4E364}"/>
              </a:ext>
            </a:extLst>
          </p:cNvPr>
          <p:cNvSpPr/>
          <p:nvPr/>
        </p:nvSpPr>
        <p:spPr>
          <a:xfrm>
            <a:off x="11214522" y="3610768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97E5B52-D4EB-1EBD-B3D3-F4324F9E0773}"/>
              </a:ext>
            </a:extLst>
          </p:cNvPr>
          <p:cNvSpPr/>
          <p:nvPr/>
        </p:nvSpPr>
        <p:spPr>
          <a:xfrm>
            <a:off x="11466314" y="3610768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0C28E41-2913-D933-6983-0B4EFD23B82B}"/>
              </a:ext>
            </a:extLst>
          </p:cNvPr>
          <p:cNvSpPr/>
          <p:nvPr/>
        </p:nvSpPr>
        <p:spPr>
          <a:xfrm>
            <a:off x="11718106" y="3610768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0185326-39B1-C32C-7CA5-96C6BB987DF6}"/>
              </a:ext>
            </a:extLst>
          </p:cNvPr>
          <p:cNvSpPr/>
          <p:nvPr/>
        </p:nvSpPr>
        <p:spPr>
          <a:xfrm>
            <a:off x="10712672" y="392430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42621DC8-4135-0939-6E82-F3A5177D0CF3}"/>
              </a:ext>
            </a:extLst>
          </p:cNvPr>
          <p:cNvSpPr/>
          <p:nvPr/>
        </p:nvSpPr>
        <p:spPr>
          <a:xfrm>
            <a:off x="10962730" y="3924307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4714B65D-3DC3-1E9B-F55F-7DBEF02FED2F}"/>
              </a:ext>
            </a:extLst>
          </p:cNvPr>
          <p:cNvSpPr/>
          <p:nvPr/>
        </p:nvSpPr>
        <p:spPr>
          <a:xfrm>
            <a:off x="11214522" y="392430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7D306EE-2267-0F41-7320-31989737DF8D}"/>
              </a:ext>
            </a:extLst>
          </p:cNvPr>
          <p:cNvSpPr/>
          <p:nvPr/>
        </p:nvSpPr>
        <p:spPr>
          <a:xfrm>
            <a:off x="11466314" y="3924307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36E15F43-707A-E75E-39FE-F8B21E1A0E7A}"/>
              </a:ext>
            </a:extLst>
          </p:cNvPr>
          <p:cNvSpPr/>
          <p:nvPr/>
        </p:nvSpPr>
        <p:spPr>
          <a:xfrm>
            <a:off x="11718106" y="3924307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D7EF14F-EFB3-8A8C-1E5B-BBF3C551F2B0}"/>
              </a:ext>
            </a:extLst>
          </p:cNvPr>
          <p:cNvSpPr/>
          <p:nvPr/>
        </p:nvSpPr>
        <p:spPr>
          <a:xfrm>
            <a:off x="10712672" y="4236355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0D64D9BA-8449-4117-BE7C-FC5C3895C8A4}"/>
              </a:ext>
            </a:extLst>
          </p:cNvPr>
          <p:cNvSpPr/>
          <p:nvPr/>
        </p:nvSpPr>
        <p:spPr>
          <a:xfrm>
            <a:off x="10962730" y="4233370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ECCE6624-FD11-5CF3-E5A7-D114D77BD5A0}"/>
              </a:ext>
            </a:extLst>
          </p:cNvPr>
          <p:cNvSpPr/>
          <p:nvPr/>
        </p:nvSpPr>
        <p:spPr>
          <a:xfrm>
            <a:off x="11214522" y="4233370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0898CB18-C80D-8B49-5EE6-282A5258C184}"/>
              </a:ext>
            </a:extLst>
          </p:cNvPr>
          <p:cNvSpPr/>
          <p:nvPr/>
        </p:nvSpPr>
        <p:spPr>
          <a:xfrm>
            <a:off x="11466314" y="4233370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91E682F9-BEEC-BFC6-EC7A-F9E2B35A91E8}"/>
              </a:ext>
            </a:extLst>
          </p:cNvPr>
          <p:cNvSpPr/>
          <p:nvPr/>
        </p:nvSpPr>
        <p:spPr>
          <a:xfrm>
            <a:off x="11718106" y="4233370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FA0CC1B6-9A7F-FF1F-3DBE-848394E42A46}"/>
              </a:ext>
            </a:extLst>
          </p:cNvPr>
          <p:cNvCxnSpPr>
            <a:stCxn id="18" idx="3"/>
            <a:endCxn id="50" idx="1"/>
          </p:cNvCxnSpPr>
          <p:nvPr/>
        </p:nvCxnSpPr>
        <p:spPr>
          <a:xfrm flipV="1">
            <a:off x="1479328" y="2486110"/>
            <a:ext cx="1041455" cy="154836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3E4C2A8-E295-2A52-820F-5E019B3943BE}"/>
              </a:ext>
            </a:extLst>
          </p:cNvPr>
          <p:cNvCxnSpPr>
            <a:stCxn id="50" idx="3"/>
            <a:endCxn id="57" idx="1"/>
          </p:cNvCxnSpPr>
          <p:nvPr/>
        </p:nvCxnSpPr>
        <p:spPr>
          <a:xfrm>
            <a:off x="3859611" y="2486110"/>
            <a:ext cx="68205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A45D27D6-537C-5CDE-C2A6-FF8BAB923434}"/>
              </a:ext>
            </a:extLst>
          </p:cNvPr>
          <p:cNvSpPr txBox="1"/>
          <p:nvPr/>
        </p:nvSpPr>
        <p:spPr>
          <a:xfrm>
            <a:off x="144325" y="1411540"/>
            <a:ext cx="641714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 : all messages on the message bus.</a:t>
            </a:r>
            <a:br>
              <a:rPr lang="en-US" sz="15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S : set of channels the planning module </a:t>
            </a:r>
            <a:r>
              <a:rPr lang="en-US" sz="1500" b="1" u="sng" dirty="0">
                <a:latin typeface="Berkeley Mono" pitchFamily="49" charset="77"/>
              </a:rPr>
              <a:t>subscribes</a:t>
            </a:r>
            <a:r>
              <a:rPr lang="en-US" sz="1500" dirty="0">
                <a:latin typeface="Berkeley Mono" pitchFamily="49" charset="77"/>
              </a:rPr>
              <a:t> to.</a:t>
            </a:r>
            <a:br>
              <a:rPr lang="en-US" sz="15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P : set of channels the planning module </a:t>
            </a:r>
            <a:r>
              <a:rPr lang="en-US" sz="1500" b="1" u="sng" dirty="0">
                <a:latin typeface="Berkeley Mono" pitchFamily="49" charset="77"/>
              </a:rPr>
              <a:t>publishes</a:t>
            </a:r>
            <a:r>
              <a:rPr lang="en-US" sz="1500" dirty="0">
                <a:latin typeface="Berkeley Mono" pitchFamily="49" charset="77"/>
              </a:rPr>
              <a:t> to.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38BAF4E-979C-72DE-D613-6F75385DDE07}"/>
              </a:ext>
            </a:extLst>
          </p:cNvPr>
          <p:cNvSpPr txBox="1"/>
          <p:nvPr/>
        </p:nvSpPr>
        <p:spPr>
          <a:xfrm>
            <a:off x="7063854" y="1646213"/>
            <a:ext cx="4945265" cy="3847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500" dirty="0">
                <a:latin typeface="Berkeley Mono" pitchFamily="49" charset="77"/>
              </a:rPr>
              <a:t>R={</a:t>
            </a:r>
            <a:r>
              <a:rPr lang="en-US" sz="2500" dirty="0" err="1">
                <a:latin typeface="Berkeley Mono" pitchFamily="49" charset="77"/>
              </a:rPr>
              <a:t>m∈M</a:t>
            </a:r>
            <a:r>
              <a:rPr lang="en-US" sz="2500" dirty="0">
                <a:latin typeface="Berkeley Mono" pitchFamily="49" charset="77"/>
              </a:rPr>
              <a:t> ∣ channel(m) ∈ S∪P}</a:t>
            </a:r>
          </a:p>
        </p:txBody>
      </p:sp>
    </p:spTree>
    <p:extLst>
      <p:ext uri="{BB962C8B-B14F-4D97-AF65-F5344CB8AC3E}">
        <p14:creationId xmlns:p14="http://schemas.microsoft.com/office/powerpoint/2010/main" val="124212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9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FABB8-BC1F-5509-895B-D74FCAD70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56085AD1-325F-5DCE-3DAD-5AB42D0B6C6C}"/>
              </a:ext>
            </a:extLst>
          </p:cNvPr>
          <p:cNvCxnSpPr/>
          <p:nvPr/>
        </p:nvCxnSpPr>
        <p:spPr>
          <a:xfrm>
            <a:off x="2475835" y="2797281"/>
            <a:ext cx="90342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746F92C-5408-F786-B4D8-42D346AE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7BCD2-B1F5-CB0A-A3E8-BFB5DC63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51B69-ABDB-0282-3A09-6E056AE8C52A}"/>
              </a:ext>
            </a:extLst>
          </p:cNvPr>
          <p:cNvSpPr txBox="1"/>
          <p:nvPr/>
        </p:nvSpPr>
        <p:spPr>
          <a:xfrm>
            <a:off x="168478" y="684664"/>
            <a:ext cx="1107996" cy="63094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Filter</a:t>
            </a:r>
            <a:br>
              <a:rPr lang="en-US" sz="20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2F6E8-F6B8-3370-AEF9-C6BC5A9597A2}"/>
              </a:ext>
            </a:extLst>
          </p:cNvPr>
          <p:cNvSpPr txBox="1"/>
          <p:nvPr/>
        </p:nvSpPr>
        <p:spPr>
          <a:xfrm>
            <a:off x="1276474" y="684664"/>
            <a:ext cx="9316873" cy="630942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Reconstruct</a:t>
            </a:r>
          </a:p>
          <a:p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7BE990-A999-A60E-E154-D33C87ADEFA4}"/>
              </a:ext>
            </a:extLst>
          </p:cNvPr>
          <p:cNvSpPr txBox="1"/>
          <p:nvPr/>
        </p:nvSpPr>
        <p:spPr>
          <a:xfrm>
            <a:off x="10593347" y="684664"/>
            <a:ext cx="1415772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Validate</a:t>
            </a:r>
            <a:br>
              <a:rPr lang="en-US" sz="2000" dirty="0">
                <a:latin typeface="Berkeley Mono" pitchFamily="49" charset="77"/>
              </a:rPr>
            </a:br>
            <a:endParaRPr lang="en-US" sz="1500" dirty="0">
              <a:latin typeface="Berkeley Mono" pitchFamily="49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9AE01E-5BC2-B2E7-7632-2461B60DAEA6}"/>
              </a:ext>
            </a:extLst>
          </p:cNvPr>
          <p:cNvSpPr txBox="1"/>
          <p:nvPr/>
        </p:nvSpPr>
        <p:spPr>
          <a:xfrm>
            <a:off x="464419" y="17254"/>
            <a:ext cx="218360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De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terministic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667D34-DBA8-ECC0-A317-1FF0D4DB4BA2}"/>
              </a:ext>
            </a:extLst>
          </p:cNvPr>
          <p:cNvSpPr txBox="1"/>
          <p:nvPr/>
        </p:nvSpPr>
        <p:spPr>
          <a:xfrm>
            <a:off x="2635771" y="17254"/>
            <a:ext cx="309162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F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rame-based </a:t>
            </a:r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T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5AACE-576A-D749-F935-9C050166C98A}"/>
              </a:ext>
            </a:extLst>
          </p:cNvPr>
          <p:cNvSpPr txBox="1"/>
          <p:nvPr/>
        </p:nvSpPr>
        <p:spPr>
          <a:xfrm>
            <a:off x="1269407" y="972168"/>
            <a:ext cx="6878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When and what combination did the planning module process?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04ABD9-3DF7-48F8-7EC3-D1F42D5EEA61}"/>
              </a:ext>
            </a:extLst>
          </p:cNvPr>
          <p:cNvSpPr txBox="1"/>
          <p:nvPr/>
        </p:nvSpPr>
        <p:spPr>
          <a:xfrm>
            <a:off x="144325" y="1411540"/>
            <a:ext cx="118647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During system-level testing, Planning module is triggered by </a:t>
            </a:r>
            <a:r>
              <a:rPr lang="en-US" sz="1500" b="1" dirty="0">
                <a:latin typeface="Berkeley Mono" pitchFamily="49" charset="77"/>
              </a:rPr>
              <a:t>events</a:t>
            </a:r>
            <a:r>
              <a:rPr lang="en-US" sz="1500" dirty="0">
                <a:latin typeface="Berkeley Mono" pitchFamily="49" charset="77"/>
              </a:rPr>
              <a:t> to aggregate messages from different cannels to construct input frame F = ⟨ </a:t>
            </a:r>
            <a:r>
              <a:rPr lang="en-US" sz="1500" b="1" dirty="0" err="1">
                <a:solidFill>
                  <a:srgbClr val="00B05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00B050"/>
                </a:solidFill>
                <a:latin typeface="Berkeley Mono" pitchFamily="49" charset="77"/>
              </a:rPr>
              <a:t>routing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7030A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7030A0"/>
                </a:solidFill>
                <a:latin typeface="Berkeley Mono" pitchFamily="49" charset="77"/>
              </a:rPr>
              <a:t>localization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FFC00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FFC000"/>
                </a:solidFill>
                <a:latin typeface="Berkeley Mono" pitchFamily="49" charset="77"/>
              </a:rPr>
              <a:t>traffic_light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0070C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0070C0"/>
                </a:solidFill>
                <a:latin typeface="Berkeley Mono" pitchFamily="49" charset="77"/>
              </a:rPr>
              <a:t>prediction</a:t>
            </a:r>
            <a:r>
              <a:rPr lang="en-US" sz="1500" dirty="0">
                <a:latin typeface="Berkeley Mono" pitchFamily="49" charset="77"/>
              </a:rPr>
              <a:t> ⟩ at time </a:t>
            </a:r>
            <a:r>
              <a:rPr lang="en-US" sz="1500" b="1" dirty="0" err="1">
                <a:latin typeface="Berkeley Mono" pitchFamily="49" charset="77"/>
              </a:rPr>
              <a:t>t</a:t>
            </a:r>
            <a:r>
              <a:rPr lang="en-US" sz="1500" b="1" baseline="-25000" dirty="0" err="1">
                <a:latin typeface="Berkeley Mono" pitchFamily="49" charset="77"/>
              </a:rPr>
              <a:t>F</a:t>
            </a:r>
            <a:r>
              <a:rPr lang="en-US" sz="1500" dirty="0">
                <a:latin typeface="Berkeley Mono" pitchFamily="49" charset="77"/>
              </a:rPr>
              <a:t> to produce </a:t>
            </a:r>
            <a:r>
              <a:rPr lang="en-US" sz="1500" b="1" dirty="0" err="1">
                <a:solidFill>
                  <a:srgbClr val="C0000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C00000"/>
                </a:solidFill>
                <a:latin typeface="Berkeley Mono" pitchFamily="49" charset="77"/>
              </a:rPr>
              <a:t>planning</a:t>
            </a:r>
            <a:r>
              <a:rPr lang="en-US" sz="1500" dirty="0">
                <a:latin typeface="Berkeley Mono" pitchFamily="49" charset="77"/>
              </a:rPr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6BDD5A-D843-ECA5-D431-311ABF647B1E}"/>
              </a:ext>
            </a:extLst>
          </p:cNvPr>
          <p:cNvSpPr txBox="1"/>
          <p:nvPr/>
        </p:nvSpPr>
        <p:spPr>
          <a:xfrm>
            <a:off x="170107" y="2362999"/>
            <a:ext cx="1307592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Relevant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Msgs</a:t>
            </a:r>
            <a:endParaRPr lang="en-US" sz="1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66E2332-3272-B90C-34A7-C0D6F7971BEF}"/>
              </a:ext>
            </a:extLst>
          </p:cNvPr>
          <p:cNvSpPr/>
          <p:nvPr/>
        </p:nvSpPr>
        <p:spPr>
          <a:xfrm>
            <a:off x="202570" y="2676119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DB7A1E7-6BD6-FCBD-BE0C-76A39F64A3BB}"/>
              </a:ext>
            </a:extLst>
          </p:cNvPr>
          <p:cNvSpPr/>
          <p:nvPr/>
        </p:nvSpPr>
        <p:spPr>
          <a:xfrm>
            <a:off x="454362" y="2676119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6EC35106-7854-AA0F-AE14-AA9FF6C616D7}"/>
              </a:ext>
            </a:extLst>
          </p:cNvPr>
          <p:cNvSpPr/>
          <p:nvPr/>
        </p:nvSpPr>
        <p:spPr>
          <a:xfrm>
            <a:off x="706154" y="2676119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6617E63A-E7EF-E1FE-C386-8814AE3073CD}"/>
              </a:ext>
            </a:extLst>
          </p:cNvPr>
          <p:cNvSpPr/>
          <p:nvPr/>
        </p:nvSpPr>
        <p:spPr>
          <a:xfrm>
            <a:off x="957946" y="2676119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52C49396-0EA6-A938-8000-AFE074263125}"/>
              </a:ext>
            </a:extLst>
          </p:cNvPr>
          <p:cNvSpPr/>
          <p:nvPr/>
        </p:nvSpPr>
        <p:spPr>
          <a:xfrm>
            <a:off x="1209738" y="2676119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DA56D98-8CD1-5F6C-C5B1-137FB111A87A}"/>
              </a:ext>
            </a:extLst>
          </p:cNvPr>
          <p:cNvSpPr/>
          <p:nvPr/>
        </p:nvSpPr>
        <p:spPr>
          <a:xfrm>
            <a:off x="168478" y="2619860"/>
            <a:ext cx="1310850" cy="18805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C02DEDFD-B188-4488-E006-DF178AB89A6E}"/>
              </a:ext>
            </a:extLst>
          </p:cNvPr>
          <p:cNvSpPr/>
          <p:nvPr/>
        </p:nvSpPr>
        <p:spPr>
          <a:xfrm>
            <a:off x="202570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45059A30-6B9B-C666-0AA8-62695ACE37D2}"/>
              </a:ext>
            </a:extLst>
          </p:cNvPr>
          <p:cNvSpPr/>
          <p:nvPr/>
        </p:nvSpPr>
        <p:spPr>
          <a:xfrm>
            <a:off x="454362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74A33BB1-98AF-85C4-F38D-76F629F2C417}"/>
              </a:ext>
            </a:extLst>
          </p:cNvPr>
          <p:cNvSpPr/>
          <p:nvPr/>
        </p:nvSpPr>
        <p:spPr>
          <a:xfrm>
            <a:off x="706154" y="2988166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6160B797-FF8A-EFBA-C21B-B94686B386B0}"/>
              </a:ext>
            </a:extLst>
          </p:cNvPr>
          <p:cNvSpPr/>
          <p:nvPr/>
        </p:nvSpPr>
        <p:spPr>
          <a:xfrm>
            <a:off x="957946" y="2988166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F4789974-F87E-75A3-9B09-9394794B3414}"/>
              </a:ext>
            </a:extLst>
          </p:cNvPr>
          <p:cNvSpPr/>
          <p:nvPr/>
        </p:nvSpPr>
        <p:spPr>
          <a:xfrm>
            <a:off x="1209738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50B2799F-B826-A0CD-E5E7-510FCA8AD2D1}"/>
              </a:ext>
            </a:extLst>
          </p:cNvPr>
          <p:cNvSpPr/>
          <p:nvPr/>
        </p:nvSpPr>
        <p:spPr>
          <a:xfrm>
            <a:off x="202570" y="330021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08B390D3-AAF3-C336-5E2F-1B257932207D}"/>
              </a:ext>
            </a:extLst>
          </p:cNvPr>
          <p:cNvSpPr/>
          <p:nvPr/>
        </p:nvSpPr>
        <p:spPr>
          <a:xfrm>
            <a:off x="454362" y="3299467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FB24EFE3-9DBE-87D7-B58A-A4E8E0073456}"/>
              </a:ext>
            </a:extLst>
          </p:cNvPr>
          <p:cNvSpPr/>
          <p:nvPr/>
        </p:nvSpPr>
        <p:spPr>
          <a:xfrm>
            <a:off x="706154" y="329946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09634E02-FE18-689E-619B-366B73630499}"/>
              </a:ext>
            </a:extLst>
          </p:cNvPr>
          <p:cNvSpPr/>
          <p:nvPr/>
        </p:nvSpPr>
        <p:spPr>
          <a:xfrm>
            <a:off x="957946" y="3299467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C0030B4-3FE4-42CE-DF75-C309D2BBB36D}"/>
              </a:ext>
            </a:extLst>
          </p:cNvPr>
          <p:cNvSpPr/>
          <p:nvPr/>
        </p:nvSpPr>
        <p:spPr>
          <a:xfrm>
            <a:off x="1209738" y="3299467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50585E72-D857-B7CD-B7E0-D1D7C35ECDC6}"/>
              </a:ext>
            </a:extLst>
          </p:cNvPr>
          <p:cNvSpPr/>
          <p:nvPr/>
        </p:nvSpPr>
        <p:spPr>
          <a:xfrm>
            <a:off x="202570" y="3612260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15A5C92A-5C11-9E50-A604-5F33E3F1432A}"/>
              </a:ext>
            </a:extLst>
          </p:cNvPr>
          <p:cNvSpPr/>
          <p:nvPr/>
        </p:nvSpPr>
        <p:spPr>
          <a:xfrm>
            <a:off x="452628" y="3610768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F23652C-09F2-AF55-7415-A426BE4F3D97}"/>
              </a:ext>
            </a:extLst>
          </p:cNvPr>
          <p:cNvSpPr/>
          <p:nvPr/>
        </p:nvSpPr>
        <p:spPr>
          <a:xfrm>
            <a:off x="704420" y="3610768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839B65B-10ED-61F9-5E45-EE9C524EC8F3}"/>
              </a:ext>
            </a:extLst>
          </p:cNvPr>
          <p:cNvSpPr/>
          <p:nvPr/>
        </p:nvSpPr>
        <p:spPr>
          <a:xfrm>
            <a:off x="956212" y="3610768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17E4E62A-0A7D-53B0-8C69-BB013E64EDE2}"/>
              </a:ext>
            </a:extLst>
          </p:cNvPr>
          <p:cNvSpPr/>
          <p:nvPr/>
        </p:nvSpPr>
        <p:spPr>
          <a:xfrm>
            <a:off x="1208004" y="3610768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3EA29AB3-9268-D10D-CF7F-B96C66896927}"/>
              </a:ext>
            </a:extLst>
          </p:cNvPr>
          <p:cNvSpPr/>
          <p:nvPr/>
        </p:nvSpPr>
        <p:spPr>
          <a:xfrm>
            <a:off x="202570" y="392430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9D106489-CD16-D51D-3273-31C88A1B442C}"/>
              </a:ext>
            </a:extLst>
          </p:cNvPr>
          <p:cNvSpPr/>
          <p:nvPr/>
        </p:nvSpPr>
        <p:spPr>
          <a:xfrm>
            <a:off x="452628" y="3924307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CE367754-744F-E828-294E-144EC5BCA776}"/>
              </a:ext>
            </a:extLst>
          </p:cNvPr>
          <p:cNvSpPr/>
          <p:nvPr/>
        </p:nvSpPr>
        <p:spPr>
          <a:xfrm>
            <a:off x="704420" y="392430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4769C2A-7875-6B36-9802-026D0E972389}"/>
              </a:ext>
            </a:extLst>
          </p:cNvPr>
          <p:cNvSpPr/>
          <p:nvPr/>
        </p:nvSpPr>
        <p:spPr>
          <a:xfrm>
            <a:off x="956212" y="3924307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9D8C7F91-21FA-AB54-D10E-FF35379E734C}"/>
              </a:ext>
            </a:extLst>
          </p:cNvPr>
          <p:cNvSpPr/>
          <p:nvPr/>
        </p:nvSpPr>
        <p:spPr>
          <a:xfrm>
            <a:off x="1208004" y="3924307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DA5F5FF5-B364-B12C-0619-88502BB528C7}"/>
              </a:ext>
            </a:extLst>
          </p:cNvPr>
          <p:cNvSpPr/>
          <p:nvPr/>
        </p:nvSpPr>
        <p:spPr>
          <a:xfrm>
            <a:off x="202570" y="4236355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1CB49A93-E7D3-98D4-B979-5824BA8872BF}"/>
              </a:ext>
            </a:extLst>
          </p:cNvPr>
          <p:cNvSpPr/>
          <p:nvPr/>
        </p:nvSpPr>
        <p:spPr>
          <a:xfrm>
            <a:off x="452628" y="4233370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90AD343B-F579-0782-0095-9BD434597EBB}"/>
              </a:ext>
            </a:extLst>
          </p:cNvPr>
          <p:cNvSpPr/>
          <p:nvPr/>
        </p:nvSpPr>
        <p:spPr>
          <a:xfrm>
            <a:off x="704420" y="4233370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922288AB-7F15-EC29-3437-8C54A14BF824}"/>
              </a:ext>
            </a:extLst>
          </p:cNvPr>
          <p:cNvSpPr/>
          <p:nvPr/>
        </p:nvSpPr>
        <p:spPr>
          <a:xfrm>
            <a:off x="956212" y="4233370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B955FEA-1E36-5864-0226-4D74483FD432}"/>
              </a:ext>
            </a:extLst>
          </p:cNvPr>
          <p:cNvSpPr/>
          <p:nvPr/>
        </p:nvSpPr>
        <p:spPr>
          <a:xfrm>
            <a:off x="1208004" y="4233370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DA60E4DA-B60D-9C8D-AD73-A1CB290B1F0D}"/>
              </a:ext>
            </a:extLst>
          </p:cNvPr>
          <p:cNvSpPr/>
          <p:nvPr/>
        </p:nvSpPr>
        <p:spPr>
          <a:xfrm>
            <a:off x="2570294" y="2677593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E83DD88A-07CA-515E-5974-AE73705C2B84}"/>
              </a:ext>
            </a:extLst>
          </p:cNvPr>
          <p:cNvSpPr/>
          <p:nvPr/>
        </p:nvSpPr>
        <p:spPr>
          <a:xfrm>
            <a:off x="307471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EEA13647-70D9-2138-C649-81C19C912DE8}"/>
              </a:ext>
            </a:extLst>
          </p:cNvPr>
          <p:cNvSpPr/>
          <p:nvPr/>
        </p:nvSpPr>
        <p:spPr>
          <a:xfrm>
            <a:off x="332691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A8978F79-9388-A0AF-9D25-8C45BD9D7892}"/>
              </a:ext>
            </a:extLst>
          </p:cNvPr>
          <p:cNvSpPr/>
          <p:nvPr/>
        </p:nvSpPr>
        <p:spPr>
          <a:xfrm>
            <a:off x="3579126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0F2528E8-F48D-B895-A0FB-10B5D442EC32}"/>
              </a:ext>
            </a:extLst>
          </p:cNvPr>
          <p:cNvSpPr/>
          <p:nvPr/>
        </p:nvSpPr>
        <p:spPr>
          <a:xfrm>
            <a:off x="4335750" y="2677593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E3CBD0E9-BC0A-7599-FF44-5647B4A4ACFB}"/>
              </a:ext>
            </a:extLst>
          </p:cNvPr>
          <p:cNvSpPr/>
          <p:nvPr/>
        </p:nvSpPr>
        <p:spPr>
          <a:xfrm>
            <a:off x="4587958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0D153A0B-1810-21AE-DB1E-501194254E9B}"/>
              </a:ext>
            </a:extLst>
          </p:cNvPr>
          <p:cNvSpPr/>
          <p:nvPr/>
        </p:nvSpPr>
        <p:spPr>
          <a:xfrm>
            <a:off x="5092374" y="267759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6FED29DF-0392-B327-BE00-8A4063BB1234}"/>
              </a:ext>
            </a:extLst>
          </p:cNvPr>
          <p:cNvSpPr/>
          <p:nvPr/>
        </p:nvSpPr>
        <p:spPr>
          <a:xfrm>
            <a:off x="559679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E8553AE6-E2C0-4D92-FAE4-8596CF1834D8}"/>
              </a:ext>
            </a:extLst>
          </p:cNvPr>
          <p:cNvSpPr/>
          <p:nvPr/>
        </p:nvSpPr>
        <p:spPr>
          <a:xfrm>
            <a:off x="584899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A27B16D6-A257-4B4F-CC3C-391AF7B731DD}"/>
              </a:ext>
            </a:extLst>
          </p:cNvPr>
          <p:cNvSpPr/>
          <p:nvPr/>
        </p:nvSpPr>
        <p:spPr>
          <a:xfrm>
            <a:off x="6101206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FF30EC22-EDD4-BDAE-6254-84AE51CF0164}"/>
              </a:ext>
            </a:extLst>
          </p:cNvPr>
          <p:cNvSpPr/>
          <p:nvPr/>
        </p:nvSpPr>
        <p:spPr>
          <a:xfrm>
            <a:off x="6353414" y="2677593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40C55194-CE45-3D71-FFA3-9477463D5174}"/>
              </a:ext>
            </a:extLst>
          </p:cNvPr>
          <p:cNvSpPr/>
          <p:nvPr/>
        </p:nvSpPr>
        <p:spPr>
          <a:xfrm>
            <a:off x="6857830" y="267759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ABC46A93-3406-C537-18E4-408C95C26F31}"/>
              </a:ext>
            </a:extLst>
          </p:cNvPr>
          <p:cNvSpPr/>
          <p:nvPr/>
        </p:nvSpPr>
        <p:spPr>
          <a:xfrm>
            <a:off x="7110038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2C971958-1825-2FED-CC85-08C16EDD31A6}"/>
              </a:ext>
            </a:extLst>
          </p:cNvPr>
          <p:cNvSpPr/>
          <p:nvPr/>
        </p:nvSpPr>
        <p:spPr>
          <a:xfrm>
            <a:off x="7362246" y="2677593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F42C9C1E-6B9D-8091-0C62-1D7A45A94DB0}"/>
              </a:ext>
            </a:extLst>
          </p:cNvPr>
          <p:cNvSpPr/>
          <p:nvPr/>
        </p:nvSpPr>
        <p:spPr>
          <a:xfrm>
            <a:off x="7614454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DF95B4C4-BF65-9225-8FD7-04A580F1725B}"/>
              </a:ext>
            </a:extLst>
          </p:cNvPr>
          <p:cNvSpPr/>
          <p:nvPr/>
        </p:nvSpPr>
        <p:spPr>
          <a:xfrm>
            <a:off x="7866662" y="267759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54ABE52B-D22B-B6C8-3ACD-CB9B0CECE187}"/>
              </a:ext>
            </a:extLst>
          </p:cNvPr>
          <p:cNvSpPr/>
          <p:nvPr/>
        </p:nvSpPr>
        <p:spPr>
          <a:xfrm>
            <a:off x="811887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C7C871CC-4D1A-C36E-9E12-8D9EB2959EC7}"/>
              </a:ext>
            </a:extLst>
          </p:cNvPr>
          <p:cNvSpPr/>
          <p:nvPr/>
        </p:nvSpPr>
        <p:spPr>
          <a:xfrm>
            <a:off x="837107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0BA57F92-B6CE-BB9D-E432-14A0F17ED80A}"/>
              </a:ext>
            </a:extLst>
          </p:cNvPr>
          <p:cNvSpPr/>
          <p:nvPr/>
        </p:nvSpPr>
        <p:spPr>
          <a:xfrm>
            <a:off x="8623286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4ACBFCBC-B691-2885-5356-48F34CD39EFF}"/>
              </a:ext>
            </a:extLst>
          </p:cNvPr>
          <p:cNvSpPr/>
          <p:nvPr/>
        </p:nvSpPr>
        <p:spPr>
          <a:xfrm>
            <a:off x="8875494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671AA687-3145-6CDF-AFBA-11A1F3944D3A}"/>
              </a:ext>
            </a:extLst>
          </p:cNvPr>
          <p:cNvSpPr/>
          <p:nvPr/>
        </p:nvSpPr>
        <p:spPr>
          <a:xfrm>
            <a:off x="937991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16DD6E1E-3C08-4308-5E24-6C9408A93263}"/>
              </a:ext>
            </a:extLst>
          </p:cNvPr>
          <p:cNvSpPr/>
          <p:nvPr/>
        </p:nvSpPr>
        <p:spPr>
          <a:xfrm>
            <a:off x="963211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EF3A3AB2-DB69-C968-2DE8-AC9A59AA3A0D}"/>
              </a:ext>
            </a:extLst>
          </p:cNvPr>
          <p:cNvSpPr/>
          <p:nvPr/>
        </p:nvSpPr>
        <p:spPr>
          <a:xfrm>
            <a:off x="9884313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814A837-6800-DD1F-F7B0-D24B24E4572E}"/>
              </a:ext>
            </a:extLst>
          </p:cNvPr>
          <p:cNvSpPr txBox="1"/>
          <p:nvPr/>
        </p:nvSpPr>
        <p:spPr>
          <a:xfrm>
            <a:off x="2475835" y="2362999"/>
            <a:ext cx="2800768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Time-Sensitive Input Search Engine</a:t>
            </a: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8599D0A9-1CBE-207C-373A-D6134BAEED59}"/>
              </a:ext>
            </a:extLst>
          </p:cNvPr>
          <p:cNvCxnSpPr>
            <a:stCxn id="53" idx="3"/>
            <a:endCxn id="160" idx="1"/>
          </p:cNvCxnSpPr>
          <p:nvPr/>
        </p:nvCxnSpPr>
        <p:spPr>
          <a:xfrm flipV="1">
            <a:off x="1479328" y="2486110"/>
            <a:ext cx="996507" cy="107400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56D7715-0B42-D805-0747-7797C369B61B}"/>
              </a:ext>
            </a:extLst>
          </p:cNvPr>
          <p:cNvSpPr/>
          <p:nvPr/>
        </p:nvSpPr>
        <p:spPr>
          <a:xfrm>
            <a:off x="2822489" y="2676119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67C56A-EF61-0783-2761-CCF0D49EB7A2}"/>
              </a:ext>
            </a:extLst>
          </p:cNvPr>
          <p:cNvSpPr txBox="1"/>
          <p:nvPr/>
        </p:nvSpPr>
        <p:spPr>
          <a:xfrm>
            <a:off x="2475835" y="3265042"/>
            <a:ext cx="93649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Berkeley Mono" pitchFamily="49" charset="77"/>
              </a:rPr>
              <a:t>* Timing -&gt; </a:t>
            </a:r>
            <a:r>
              <a:rPr lang="en-US" sz="1500" dirty="0">
                <a:latin typeface="Berkeley Mono" pitchFamily="49" charset="77"/>
              </a:rPr>
              <a:t>Input frames must be constructed at a valid timestamp bounded by the </a:t>
            </a:r>
            <a:br>
              <a:rPr lang="en-US" sz="15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  triggering event and the output time.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86F8EA-B280-BD3C-06BB-1D8814F7CCFD}"/>
              </a:ext>
            </a:extLst>
          </p:cNvPr>
          <p:cNvSpPr txBox="1"/>
          <p:nvPr/>
        </p:nvSpPr>
        <p:spPr>
          <a:xfrm>
            <a:off x="2480420" y="4312642"/>
            <a:ext cx="93603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Berkeley Mono" pitchFamily="49" charset="77"/>
              </a:rPr>
              <a:t>* Recency -&gt; </a:t>
            </a:r>
            <a:r>
              <a:rPr lang="en-US" sz="1500" dirty="0">
                <a:latin typeface="Berkeley Mono" pitchFamily="49" charset="77"/>
              </a:rPr>
              <a:t>More recently published messages before the frame construction time </a:t>
            </a:r>
            <a:br>
              <a:rPr lang="en-US" sz="15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  are more likely to be part of the input.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C8C8CB-64D3-ABD3-AFDA-ACEA71E654B1}"/>
              </a:ext>
            </a:extLst>
          </p:cNvPr>
          <p:cNvSpPr txBox="1"/>
          <p:nvPr/>
        </p:nvSpPr>
        <p:spPr>
          <a:xfrm>
            <a:off x="2475835" y="5360242"/>
            <a:ext cx="95332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Berkeley Mono" pitchFamily="49" charset="77"/>
              </a:rPr>
              <a:t>* Monotonicity -&gt;</a:t>
            </a:r>
            <a:r>
              <a:rPr lang="en-US" sz="1500" dirty="0">
                <a:latin typeface="Berkeley Mono" pitchFamily="49" charset="77"/>
              </a:rPr>
              <a:t> Each frame should not include older messages than those used in </a:t>
            </a:r>
            <a:br>
              <a:rPr lang="en-US" sz="15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  previous frames for the same message type.</a:t>
            </a:r>
          </a:p>
        </p:txBody>
      </p:sp>
    </p:spTree>
    <p:extLst>
      <p:ext uri="{BB962C8B-B14F-4D97-AF65-F5344CB8AC3E}">
        <p14:creationId xmlns:p14="http://schemas.microsoft.com/office/powerpoint/2010/main" val="3411942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127" grpId="0" animBg="1"/>
      <p:bldP spid="129" grpId="0" animBg="1"/>
      <p:bldP spid="130" grpId="0" animBg="1"/>
      <p:bldP spid="131" grpId="0" animBg="1"/>
      <p:bldP spid="134" grpId="0" animBg="1"/>
      <p:bldP spid="135" grpId="0" animBg="1"/>
      <p:bldP spid="137" grpId="0" animBg="1"/>
      <p:bldP spid="139" grpId="0" animBg="1"/>
      <p:bldP spid="140" grpId="0" animBg="1"/>
      <p:bldP spid="141" grpId="0" animBg="1"/>
      <p:bldP spid="142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4" grpId="0" animBg="1"/>
      <p:bldP spid="155" grpId="0" animBg="1"/>
      <p:bldP spid="156" grpId="0" animBg="1"/>
      <p:bldP spid="160" grpId="0" animBg="1"/>
      <p:bldP spid="4" grpId="0" animBg="1"/>
      <p:bldP spid="12" grpId="0"/>
      <p:bldP spid="13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65BEF-EB3C-0E00-73BF-02EBA5727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E3CE9D30-5421-43B2-4344-8A2457BD59B4}"/>
              </a:ext>
            </a:extLst>
          </p:cNvPr>
          <p:cNvCxnSpPr/>
          <p:nvPr/>
        </p:nvCxnSpPr>
        <p:spPr>
          <a:xfrm>
            <a:off x="2475835" y="2797281"/>
            <a:ext cx="90342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D605584-C986-1B81-7230-D947F324E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765D64-0785-8392-1C1F-CD60537BE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DDA1B-6C8A-7D9F-68E9-2BBF4B1E596D}"/>
              </a:ext>
            </a:extLst>
          </p:cNvPr>
          <p:cNvSpPr txBox="1"/>
          <p:nvPr/>
        </p:nvSpPr>
        <p:spPr>
          <a:xfrm>
            <a:off x="168478" y="684664"/>
            <a:ext cx="1107996" cy="63094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Filter</a:t>
            </a:r>
            <a:br>
              <a:rPr lang="en-US" sz="20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5BA39A-779A-965E-C504-1BF7B5EAC145}"/>
              </a:ext>
            </a:extLst>
          </p:cNvPr>
          <p:cNvSpPr txBox="1"/>
          <p:nvPr/>
        </p:nvSpPr>
        <p:spPr>
          <a:xfrm>
            <a:off x="1276474" y="684664"/>
            <a:ext cx="9316873" cy="630942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Reconstruct</a:t>
            </a:r>
          </a:p>
          <a:p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2D932-3458-84D3-464F-CDFCF5011754}"/>
              </a:ext>
            </a:extLst>
          </p:cNvPr>
          <p:cNvSpPr txBox="1"/>
          <p:nvPr/>
        </p:nvSpPr>
        <p:spPr>
          <a:xfrm>
            <a:off x="10593347" y="684664"/>
            <a:ext cx="1415772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Validate</a:t>
            </a:r>
            <a:br>
              <a:rPr lang="en-US" sz="2000" dirty="0">
                <a:latin typeface="Berkeley Mono" pitchFamily="49" charset="77"/>
              </a:rPr>
            </a:br>
            <a:endParaRPr lang="en-US" sz="1500" dirty="0">
              <a:latin typeface="Berkeley Mono" pitchFamily="49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080E37-2300-C7F5-026B-D344E956E5D6}"/>
              </a:ext>
            </a:extLst>
          </p:cNvPr>
          <p:cNvSpPr txBox="1"/>
          <p:nvPr/>
        </p:nvSpPr>
        <p:spPr>
          <a:xfrm>
            <a:off x="464419" y="17254"/>
            <a:ext cx="218360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De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terministic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B79A85-96BA-7197-C4D4-EC3933FFE7AA}"/>
              </a:ext>
            </a:extLst>
          </p:cNvPr>
          <p:cNvSpPr txBox="1"/>
          <p:nvPr/>
        </p:nvSpPr>
        <p:spPr>
          <a:xfrm>
            <a:off x="2635771" y="17254"/>
            <a:ext cx="309162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F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rame-based </a:t>
            </a:r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T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0D6A8E-0F7A-95E7-F964-123D1350C61A}"/>
              </a:ext>
            </a:extLst>
          </p:cNvPr>
          <p:cNvSpPr txBox="1"/>
          <p:nvPr/>
        </p:nvSpPr>
        <p:spPr>
          <a:xfrm>
            <a:off x="1269407" y="972168"/>
            <a:ext cx="6878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When and what combination did the planning module process?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121F6-47BD-3E36-0CFE-0A3813152D4E}"/>
              </a:ext>
            </a:extLst>
          </p:cNvPr>
          <p:cNvSpPr txBox="1"/>
          <p:nvPr/>
        </p:nvSpPr>
        <p:spPr>
          <a:xfrm>
            <a:off x="144325" y="1411540"/>
            <a:ext cx="118647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During system-level testing, Planning module is triggered by </a:t>
            </a:r>
            <a:r>
              <a:rPr lang="en-US" sz="1500" b="1" dirty="0">
                <a:latin typeface="Berkeley Mono" pitchFamily="49" charset="77"/>
              </a:rPr>
              <a:t>events</a:t>
            </a:r>
            <a:r>
              <a:rPr lang="en-US" sz="1500" dirty="0">
                <a:latin typeface="Berkeley Mono" pitchFamily="49" charset="77"/>
              </a:rPr>
              <a:t> to aggregate messages from different cannels to construct input frame F = ⟨ </a:t>
            </a:r>
            <a:r>
              <a:rPr lang="en-US" sz="1500" b="1" dirty="0" err="1">
                <a:solidFill>
                  <a:srgbClr val="00B05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00B050"/>
                </a:solidFill>
                <a:latin typeface="Berkeley Mono" pitchFamily="49" charset="77"/>
              </a:rPr>
              <a:t>routing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7030A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7030A0"/>
                </a:solidFill>
                <a:latin typeface="Berkeley Mono" pitchFamily="49" charset="77"/>
              </a:rPr>
              <a:t>localization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FFC00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FFC000"/>
                </a:solidFill>
                <a:latin typeface="Berkeley Mono" pitchFamily="49" charset="77"/>
              </a:rPr>
              <a:t>traffic_light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0070C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0070C0"/>
                </a:solidFill>
                <a:latin typeface="Berkeley Mono" pitchFamily="49" charset="77"/>
              </a:rPr>
              <a:t>prediction</a:t>
            </a:r>
            <a:r>
              <a:rPr lang="en-US" sz="1500" dirty="0">
                <a:latin typeface="Berkeley Mono" pitchFamily="49" charset="77"/>
              </a:rPr>
              <a:t> ⟩ at time </a:t>
            </a:r>
            <a:r>
              <a:rPr lang="en-US" sz="1500" b="1" dirty="0" err="1">
                <a:latin typeface="Berkeley Mono" pitchFamily="49" charset="77"/>
              </a:rPr>
              <a:t>t</a:t>
            </a:r>
            <a:r>
              <a:rPr lang="en-US" sz="1500" b="1" baseline="-25000" dirty="0" err="1">
                <a:latin typeface="Berkeley Mono" pitchFamily="49" charset="77"/>
              </a:rPr>
              <a:t>F</a:t>
            </a:r>
            <a:r>
              <a:rPr lang="en-US" sz="1500" dirty="0">
                <a:latin typeface="Berkeley Mono" pitchFamily="49" charset="77"/>
              </a:rPr>
              <a:t> to produce </a:t>
            </a:r>
            <a:r>
              <a:rPr lang="en-US" sz="1500" b="1" dirty="0" err="1">
                <a:solidFill>
                  <a:srgbClr val="C0000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C00000"/>
                </a:solidFill>
                <a:latin typeface="Berkeley Mono" pitchFamily="49" charset="77"/>
              </a:rPr>
              <a:t>planning</a:t>
            </a:r>
            <a:r>
              <a:rPr lang="en-US" sz="1500" dirty="0">
                <a:latin typeface="Berkeley Mono" pitchFamily="49" charset="77"/>
              </a:rPr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00EE41-DCD7-C2B8-19D1-FB8A4D02469D}"/>
              </a:ext>
            </a:extLst>
          </p:cNvPr>
          <p:cNvSpPr txBox="1"/>
          <p:nvPr/>
        </p:nvSpPr>
        <p:spPr>
          <a:xfrm>
            <a:off x="170107" y="2362999"/>
            <a:ext cx="1307592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Relevant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Msgs</a:t>
            </a:r>
            <a:endParaRPr lang="en-US" sz="1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57ADF6DF-DF8E-09C3-1CF3-74B84DC2ACBA}"/>
              </a:ext>
            </a:extLst>
          </p:cNvPr>
          <p:cNvSpPr/>
          <p:nvPr/>
        </p:nvSpPr>
        <p:spPr>
          <a:xfrm>
            <a:off x="202570" y="2676119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6B38FAF8-DB62-A2CF-487C-4F8BFBE39C36}"/>
              </a:ext>
            </a:extLst>
          </p:cNvPr>
          <p:cNvSpPr/>
          <p:nvPr/>
        </p:nvSpPr>
        <p:spPr>
          <a:xfrm>
            <a:off x="454362" y="2676119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E6D0B637-98E5-93BD-06AD-C8C4E7EC9D9C}"/>
              </a:ext>
            </a:extLst>
          </p:cNvPr>
          <p:cNvSpPr/>
          <p:nvPr/>
        </p:nvSpPr>
        <p:spPr>
          <a:xfrm>
            <a:off x="706154" y="2676119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1F62F3C-35E2-720D-4F6A-C1549CF4065D}"/>
              </a:ext>
            </a:extLst>
          </p:cNvPr>
          <p:cNvSpPr/>
          <p:nvPr/>
        </p:nvSpPr>
        <p:spPr>
          <a:xfrm>
            <a:off x="957946" y="2676119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8A9A7AD-51AF-662A-F467-32C4B9C66810}"/>
              </a:ext>
            </a:extLst>
          </p:cNvPr>
          <p:cNvSpPr/>
          <p:nvPr/>
        </p:nvSpPr>
        <p:spPr>
          <a:xfrm>
            <a:off x="1209738" y="2676119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7A0240B-112C-496F-57EC-BFF4E3202EFF}"/>
              </a:ext>
            </a:extLst>
          </p:cNvPr>
          <p:cNvSpPr/>
          <p:nvPr/>
        </p:nvSpPr>
        <p:spPr>
          <a:xfrm>
            <a:off x="168478" y="2619860"/>
            <a:ext cx="1310850" cy="18805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4834D61-66E2-6847-A974-4AAD0969E559}"/>
              </a:ext>
            </a:extLst>
          </p:cNvPr>
          <p:cNvSpPr/>
          <p:nvPr/>
        </p:nvSpPr>
        <p:spPr>
          <a:xfrm>
            <a:off x="202570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CFB819D7-19D4-95E0-9F6E-E20740E64702}"/>
              </a:ext>
            </a:extLst>
          </p:cNvPr>
          <p:cNvSpPr/>
          <p:nvPr/>
        </p:nvSpPr>
        <p:spPr>
          <a:xfrm>
            <a:off x="454362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F1AE3BE8-1227-1BAB-F563-61C12282A721}"/>
              </a:ext>
            </a:extLst>
          </p:cNvPr>
          <p:cNvSpPr/>
          <p:nvPr/>
        </p:nvSpPr>
        <p:spPr>
          <a:xfrm>
            <a:off x="706154" y="2988166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7DBD456D-80B7-76E0-39C7-BEC67A2CBC31}"/>
              </a:ext>
            </a:extLst>
          </p:cNvPr>
          <p:cNvSpPr/>
          <p:nvPr/>
        </p:nvSpPr>
        <p:spPr>
          <a:xfrm>
            <a:off x="957946" y="2988166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DFBC036F-4286-5264-A5E9-11D90E077C93}"/>
              </a:ext>
            </a:extLst>
          </p:cNvPr>
          <p:cNvSpPr/>
          <p:nvPr/>
        </p:nvSpPr>
        <p:spPr>
          <a:xfrm>
            <a:off x="1209738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D621351-14C8-36FF-383C-CF68CF44B0BE}"/>
              </a:ext>
            </a:extLst>
          </p:cNvPr>
          <p:cNvSpPr/>
          <p:nvPr/>
        </p:nvSpPr>
        <p:spPr>
          <a:xfrm>
            <a:off x="202570" y="330021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A5B6B14D-C475-734A-60B8-5A905CFFEA7F}"/>
              </a:ext>
            </a:extLst>
          </p:cNvPr>
          <p:cNvSpPr/>
          <p:nvPr/>
        </p:nvSpPr>
        <p:spPr>
          <a:xfrm>
            <a:off x="454362" y="3299467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4F80A945-8417-7683-9C00-A8B50EC02DB3}"/>
              </a:ext>
            </a:extLst>
          </p:cNvPr>
          <p:cNvSpPr/>
          <p:nvPr/>
        </p:nvSpPr>
        <p:spPr>
          <a:xfrm>
            <a:off x="706154" y="329946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7AD3224A-8E7E-A920-8B84-C979C06296B0}"/>
              </a:ext>
            </a:extLst>
          </p:cNvPr>
          <p:cNvSpPr/>
          <p:nvPr/>
        </p:nvSpPr>
        <p:spPr>
          <a:xfrm>
            <a:off x="957946" y="3299467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4571B561-F03C-FC58-82F9-934AC05C3136}"/>
              </a:ext>
            </a:extLst>
          </p:cNvPr>
          <p:cNvSpPr/>
          <p:nvPr/>
        </p:nvSpPr>
        <p:spPr>
          <a:xfrm>
            <a:off x="1209738" y="3299467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38C33DDA-6F84-557C-CA34-4748E14E64F5}"/>
              </a:ext>
            </a:extLst>
          </p:cNvPr>
          <p:cNvSpPr/>
          <p:nvPr/>
        </p:nvSpPr>
        <p:spPr>
          <a:xfrm>
            <a:off x="202570" y="3612260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FD0EFDAF-7B45-339C-A1CC-DC878B37D88E}"/>
              </a:ext>
            </a:extLst>
          </p:cNvPr>
          <p:cNvSpPr/>
          <p:nvPr/>
        </p:nvSpPr>
        <p:spPr>
          <a:xfrm>
            <a:off x="452628" y="3610768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4F3C1905-8D87-C139-982E-1587F6884FB3}"/>
              </a:ext>
            </a:extLst>
          </p:cNvPr>
          <p:cNvSpPr/>
          <p:nvPr/>
        </p:nvSpPr>
        <p:spPr>
          <a:xfrm>
            <a:off x="704420" y="3610768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D35054A-E542-9125-0D38-664840059E8D}"/>
              </a:ext>
            </a:extLst>
          </p:cNvPr>
          <p:cNvSpPr/>
          <p:nvPr/>
        </p:nvSpPr>
        <p:spPr>
          <a:xfrm>
            <a:off x="956212" y="3610768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CA102F38-F105-88BB-AD15-D781698DADD7}"/>
              </a:ext>
            </a:extLst>
          </p:cNvPr>
          <p:cNvSpPr/>
          <p:nvPr/>
        </p:nvSpPr>
        <p:spPr>
          <a:xfrm>
            <a:off x="1208004" y="3610768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15A00BE0-D60E-E699-B338-EF76CE6936B0}"/>
              </a:ext>
            </a:extLst>
          </p:cNvPr>
          <p:cNvSpPr/>
          <p:nvPr/>
        </p:nvSpPr>
        <p:spPr>
          <a:xfrm>
            <a:off x="202570" y="392430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A4620173-3602-AA36-4962-9CC5CDD26220}"/>
              </a:ext>
            </a:extLst>
          </p:cNvPr>
          <p:cNvSpPr/>
          <p:nvPr/>
        </p:nvSpPr>
        <p:spPr>
          <a:xfrm>
            <a:off x="452628" y="3924307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6D77F13-103A-D6A6-DFDD-C581290B0A28}"/>
              </a:ext>
            </a:extLst>
          </p:cNvPr>
          <p:cNvSpPr/>
          <p:nvPr/>
        </p:nvSpPr>
        <p:spPr>
          <a:xfrm>
            <a:off x="704420" y="392430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9BD8CAA5-054A-2768-2D44-410183193813}"/>
              </a:ext>
            </a:extLst>
          </p:cNvPr>
          <p:cNvSpPr/>
          <p:nvPr/>
        </p:nvSpPr>
        <p:spPr>
          <a:xfrm>
            <a:off x="956212" y="3924307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DCFF4B1C-05BF-20DB-9FE2-847141D7FE59}"/>
              </a:ext>
            </a:extLst>
          </p:cNvPr>
          <p:cNvSpPr/>
          <p:nvPr/>
        </p:nvSpPr>
        <p:spPr>
          <a:xfrm>
            <a:off x="1208004" y="3924307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F9FD4278-06C7-B049-F1B3-6755FB722EDD}"/>
              </a:ext>
            </a:extLst>
          </p:cNvPr>
          <p:cNvSpPr/>
          <p:nvPr/>
        </p:nvSpPr>
        <p:spPr>
          <a:xfrm>
            <a:off x="202570" y="4236355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846D654F-59D9-3659-9394-76001632650A}"/>
              </a:ext>
            </a:extLst>
          </p:cNvPr>
          <p:cNvSpPr/>
          <p:nvPr/>
        </p:nvSpPr>
        <p:spPr>
          <a:xfrm>
            <a:off x="452628" y="4233370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53085D2E-CF80-41C3-7819-A58DF6DA71E7}"/>
              </a:ext>
            </a:extLst>
          </p:cNvPr>
          <p:cNvSpPr/>
          <p:nvPr/>
        </p:nvSpPr>
        <p:spPr>
          <a:xfrm>
            <a:off x="704420" y="4233370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63F9B6D7-6EAB-AAAB-E3E0-42EDC4DE90E9}"/>
              </a:ext>
            </a:extLst>
          </p:cNvPr>
          <p:cNvSpPr/>
          <p:nvPr/>
        </p:nvSpPr>
        <p:spPr>
          <a:xfrm>
            <a:off x="956212" y="4233370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7027207B-C68B-3D90-6333-9C8A7022A16B}"/>
              </a:ext>
            </a:extLst>
          </p:cNvPr>
          <p:cNvSpPr/>
          <p:nvPr/>
        </p:nvSpPr>
        <p:spPr>
          <a:xfrm>
            <a:off x="1208004" y="4233370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FAB7C468-418F-F0EB-BDE1-82FEB89FCDA3}"/>
              </a:ext>
            </a:extLst>
          </p:cNvPr>
          <p:cNvSpPr/>
          <p:nvPr/>
        </p:nvSpPr>
        <p:spPr>
          <a:xfrm>
            <a:off x="2570294" y="2677593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E31C2DA7-165F-5F0D-3232-51D7643E8FF4}"/>
              </a:ext>
            </a:extLst>
          </p:cNvPr>
          <p:cNvSpPr/>
          <p:nvPr/>
        </p:nvSpPr>
        <p:spPr>
          <a:xfrm>
            <a:off x="307471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BE5B86C6-27EB-D259-AE80-8C8B22B0D931}"/>
              </a:ext>
            </a:extLst>
          </p:cNvPr>
          <p:cNvSpPr/>
          <p:nvPr/>
        </p:nvSpPr>
        <p:spPr>
          <a:xfrm>
            <a:off x="332691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B2395A31-BA32-EC0E-91DF-892A4A6D90B0}"/>
              </a:ext>
            </a:extLst>
          </p:cNvPr>
          <p:cNvSpPr/>
          <p:nvPr/>
        </p:nvSpPr>
        <p:spPr>
          <a:xfrm>
            <a:off x="3579126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554CCC83-7942-CDEB-10B8-0260C3CCEA4A}"/>
              </a:ext>
            </a:extLst>
          </p:cNvPr>
          <p:cNvSpPr/>
          <p:nvPr/>
        </p:nvSpPr>
        <p:spPr>
          <a:xfrm>
            <a:off x="4335750" y="2677593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06993FB6-DD87-87B0-D166-CBA0CB298B99}"/>
              </a:ext>
            </a:extLst>
          </p:cNvPr>
          <p:cNvSpPr/>
          <p:nvPr/>
        </p:nvSpPr>
        <p:spPr>
          <a:xfrm>
            <a:off x="4587958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724043DC-8904-061C-89CA-7E8653C64D2A}"/>
              </a:ext>
            </a:extLst>
          </p:cNvPr>
          <p:cNvSpPr/>
          <p:nvPr/>
        </p:nvSpPr>
        <p:spPr>
          <a:xfrm>
            <a:off x="5092374" y="267759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6E69D3B8-8D81-98A5-8175-0C3E1DA9D036}"/>
              </a:ext>
            </a:extLst>
          </p:cNvPr>
          <p:cNvSpPr/>
          <p:nvPr/>
        </p:nvSpPr>
        <p:spPr>
          <a:xfrm>
            <a:off x="559679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0044D785-AC12-B08A-F3F2-C7F9ABD71A45}"/>
              </a:ext>
            </a:extLst>
          </p:cNvPr>
          <p:cNvSpPr/>
          <p:nvPr/>
        </p:nvSpPr>
        <p:spPr>
          <a:xfrm>
            <a:off x="584899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E1A83415-21A8-F9A4-B901-B3DB9CB33854}"/>
              </a:ext>
            </a:extLst>
          </p:cNvPr>
          <p:cNvSpPr/>
          <p:nvPr/>
        </p:nvSpPr>
        <p:spPr>
          <a:xfrm>
            <a:off x="6101206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FE68E827-1B11-77D2-4D45-E22E1B1A1657}"/>
              </a:ext>
            </a:extLst>
          </p:cNvPr>
          <p:cNvSpPr/>
          <p:nvPr/>
        </p:nvSpPr>
        <p:spPr>
          <a:xfrm>
            <a:off x="6353414" y="2677593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F5BB2EA3-1A3D-871E-E77C-A7E8761799B6}"/>
              </a:ext>
            </a:extLst>
          </p:cNvPr>
          <p:cNvSpPr/>
          <p:nvPr/>
        </p:nvSpPr>
        <p:spPr>
          <a:xfrm>
            <a:off x="6857830" y="267759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0079BD58-054A-53C0-6B65-72B79149BEF1}"/>
              </a:ext>
            </a:extLst>
          </p:cNvPr>
          <p:cNvSpPr/>
          <p:nvPr/>
        </p:nvSpPr>
        <p:spPr>
          <a:xfrm>
            <a:off x="7110038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7120A09E-06B5-C48F-F476-6069EE0C2D7D}"/>
              </a:ext>
            </a:extLst>
          </p:cNvPr>
          <p:cNvSpPr/>
          <p:nvPr/>
        </p:nvSpPr>
        <p:spPr>
          <a:xfrm>
            <a:off x="7362246" y="2677593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5C7B5948-12E1-FB36-3FBA-4D45B59D3D39}"/>
              </a:ext>
            </a:extLst>
          </p:cNvPr>
          <p:cNvSpPr/>
          <p:nvPr/>
        </p:nvSpPr>
        <p:spPr>
          <a:xfrm>
            <a:off x="7614454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A0616ED1-AA62-4D48-E0E2-3513C976712E}"/>
              </a:ext>
            </a:extLst>
          </p:cNvPr>
          <p:cNvSpPr/>
          <p:nvPr/>
        </p:nvSpPr>
        <p:spPr>
          <a:xfrm>
            <a:off x="7866662" y="267759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47163E24-90F2-2393-E9B4-D8DBEE149488}"/>
              </a:ext>
            </a:extLst>
          </p:cNvPr>
          <p:cNvSpPr/>
          <p:nvPr/>
        </p:nvSpPr>
        <p:spPr>
          <a:xfrm>
            <a:off x="811887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FD0A22AD-5028-44C8-F121-A14B079C33B4}"/>
              </a:ext>
            </a:extLst>
          </p:cNvPr>
          <p:cNvSpPr/>
          <p:nvPr/>
        </p:nvSpPr>
        <p:spPr>
          <a:xfrm>
            <a:off x="837107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0435F091-96EA-69FB-ABF2-5DB16054F3DF}"/>
              </a:ext>
            </a:extLst>
          </p:cNvPr>
          <p:cNvSpPr/>
          <p:nvPr/>
        </p:nvSpPr>
        <p:spPr>
          <a:xfrm>
            <a:off x="8623286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5CE9CD9D-A330-839A-62EF-AB1198B2971E}"/>
              </a:ext>
            </a:extLst>
          </p:cNvPr>
          <p:cNvSpPr/>
          <p:nvPr/>
        </p:nvSpPr>
        <p:spPr>
          <a:xfrm>
            <a:off x="8875494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CDFDF851-AE19-4737-4D3A-D30AB402B7ED}"/>
              </a:ext>
            </a:extLst>
          </p:cNvPr>
          <p:cNvSpPr/>
          <p:nvPr/>
        </p:nvSpPr>
        <p:spPr>
          <a:xfrm>
            <a:off x="937991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B609DAF1-B7A2-C5F6-ED8B-78097B513CF6}"/>
              </a:ext>
            </a:extLst>
          </p:cNvPr>
          <p:cNvSpPr/>
          <p:nvPr/>
        </p:nvSpPr>
        <p:spPr>
          <a:xfrm>
            <a:off x="963211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6A6063E8-5EE6-6C9F-0E04-B453DE8163FB}"/>
              </a:ext>
            </a:extLst>
          </p:cNvPr>
          <p:cNvSpPr/>
          <p:nvPr/>
        </p:nvSpPr>
        <p:spPr>
          <a:xfrm>
            <a:off x="9884313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1D130E5-3853-CB06-D66B-C39AAABCC317}"/>
              </a:ext>
            </a:extLst>
          </p:cNvPr>
          <p:cNvSpPr txBox="1"/>
          <p:nvPr/>
        </p:nvSpPr>
        <p:spPr>
          <a:xfrm>
            <a:off x="2475835" y="2362999"/>
            <a:ext cx="2800768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Time-Sensitive Input Search Engine</a:t>
            </a: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E2560DA7-7A76-76F1-B968-8346F6B65B9B}"/>
              </a:ext>
            </a:extLst>
          </p:cNvPr>
          <p:cNvCxnSpPr>
            <a:stCxn id="53" idx="3"/>
            <a:endCxn id="160" idx="1"/>
          </p:cNvCxnSpPr>
          <p:nvPr/>
        </p:nvCxnSpPr>
        <p:spPr>
          <a:xfrm flipV="1">
            <a:off x="1479328" y="2486110"/>
            <a:ext cx="996507" cy="107400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303A257-CB95-02E3-EE00-027981965F91}"/>
              </a:ext>
            </a:extLst>
          </p:cNvPr>
          <p:cNvGrpSpPr/>
          <p:nvPr/>
        </p:nvGrpSpPr>
        <p:grpSpPr>
          <a:xfrm>
            <a:off x="2486275" y="3221581"/>
            <a:ext cx="2934624" cy="338536"/>
            <a:chOff x="2486275" y="3221581"/>
            <a:chExt cx="2934624" cy="338536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3B33260-4D7D-867A-10A1-401E212DA144}"/>
                </a:ext>
              </a:extLst>
            </p:cNvPr>
            <p:cNvSpPr/>
            <p:nvPr/>
          </p:nvSpPr>
          <p:spPr>
            <a:xfrm>
              <a:off x="3208245" y="3221582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5EB4E99E-50EB-66B6-9628-57673E0374DC}"/>
                </a:ext>
              </a:extLst>
            </p:cNvPr>
            <p:cNvSpPr/>
            <p:nvPr/>
          </p:nvSpPr>
          <p:spPr>
            <a:xfrm>
              <a:off x="3685558" y="3276549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84B46114-BFD6-E389-DA4F-2C0CF97405E9}"/>
                </a:ext>
              </a:extLst>
            </p:cNvPr>
            <p:cNvSpPr/>
            <p:nvPr/>
          </p:nvSpPr>
          <p:spPr>
            <a:xfrm>
              <a:off x="4120150" y="3276549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535BF568-4434-22EA-DB0F-59943D9F2D1C}"/>
                </a:ext>
              </a:extLst>
            </p:cNvPr>
            <p:cNvSpPr/>
            <p:nvPr/>
          </p:nvSpPr>
          <p:spPr>
            <a:xfrm>
              <a:off x="4554743" y="3276549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9" name="Rounded Rectangle 118">
              <a:extLst>
                <a:ext uri="{FF2B5EF4-FFF2-40B4-BE49-F238E27FC236}">
                  <a16:creationId xmlns:a16="http://schemas.microsoft.com/office/drawing/2014/main" id="{D592E4D1-87E7-AD81-F424-8D5C289CAE1A}"/>
                </a:ext>
              </a:extLst>
            </p:cNvPr>
            <p:cNvSpPr/>
            <p:nvPr/>
          </p:nvSpPr>
          <p:spPr>
            <a:xfrm>
              <a:off x="3250966" y="3276549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20" name="Rounded Rectangle 119">
              <a:extLst>
                <a:ext uri="{FF2B5EF4-FFF2-40B4-BE49-F238E27FC236}">
                  <a16:creationId xmlns:a16="http://schemas.microsoft.com/office/drawing/2014/main" id="{04FE8CA4-3A14-CB4B-0968-55886320C357}"/>
                </a:ext>
              </a:extLst>
            </p:cNvPr>
            <p:cNvSpPr/>
            <p:nvPr/>
          </p:nvSpPr>
          <p:spPr>
            <a:xfrm>
              <a:off x="5004035" y="3276549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BA055D5B-9C02-AB2C-89F4-74EF71E1F958}"/>
                </a:ext>
              </a:extLst>
            </p:cNvPr>
            <p:cNvSpPr/>
            <p:nvPr/>
          </p:nvSpPr>
          <p:spPr>
            <a:xfrm>
              <a:off x="4964286" y="3221581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A1455187-A5A7-EE7C-1242-29B68801EDF5}"/>
                </a:ext>
              </a:extLst>
            </p:cNvPr>
            <p:cNvSpPr/>
            <p:nvPr/>
          </p:nvSpPr>
          <p:spPr>
            <a:xfrm>
              <a:off x="2486275" y="3221581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1</a:t>
              </a:r>
            </a:p>
          </p:txBody>
        </p:sp>
      </p:grp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E2CBF9F2-426C-785B-3157-487AFA06BBB9}"/>
              </a:ext>
            </a:extLst>
          </p:cNvPr>
          <p:cNvCxnSpPr>
            <a:stCxn id="131" idx="2"/>
            <a:endCxn id="120" idx="0"/>
          </p:cNvCxnSpPr>
          <p:nvPr/>
        </p:nvCxnSpPr>
        <p:spPr>
          <a:xfrm rot="16200000" flipH="1">
            <a:off x="4254992" y="2344626"/>
            <a:ext cx="370356" cy="1493489"/>
          </a:xfrm>
          <a:prstGeom prst="curvedConnector3">
            <a:avLst>
              <a:gd name="adj1" fmla="val 35081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4BA0BBA2-6C84-F53B-5B56-6CB0692C9305}"/>
              </a:ext>
            </a:extLst>
          </p:cNvPr>
          <p:cNvCxnSpPr>
            <a:cxnSpLocks/>
            <a:stCxn id="127" idx="2"/>
            <a:endCxn id="119" idx="0"/>
          </p:cNvCxnSpPr>
          <p:nvPr/>
        </p:nvCxnSpPr>
        <p:spPr>
          <a:xfrm rot="16200000" flipH="1">
            <a:off x="2874042" y="2716745"/>
            <a:ext cx="370356" cy="749252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E6110941-5B17-A497-CD5A-B762E109F944}"/>
              </a:ext>
            </a:extLst>
          </p:cNvPr>
          <p:cNvCxnSpPr>
            <a:cxnSpLocks/>
            <a:stCxn id="12" idx="2"/>
            <a:endCxn id="116" idx="0"/>
          </p:cNvCxnSpPr>
          <p:nvPr/>
        </p:nvCxnSpPr>
        <p:spPr>
          <a:xfrm rot="16200000" flipH="1">
            <a:off x="3216698" y="2624809"/>
            <a:ext cx="371830" cy="931649"/>
          </a:xfrm>
          <a:prstGeom prst="curved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0B8FEA48-37FC-7A3D-1E79-97EA7D2B46D1}"/>
              </a:ext>
            </a:extLst>
          </p:cNvPr>
          <p:cNvCxnSpPr>
            <a:stCxn id="129" idx="2"/>
            <a:endCxn id="118" idx="0"/>
          </p:cNvCxnSpPr>
          <p:nvPr/>
        </p:nvCxnSpPr>
        <p:spPr>
          <a:xfrm rot="16200000" flipH="1">
            <a:off x="3778138" y="2317064"/>
            <a:ext cx="370356" cy="1548613"/>
          </a:xfrm>
          <a:prstGeom prst="curvedConnector3">
            <a:avLst>
              <a:gd name="adj1" fmla="val 48319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BFE9E79-71C6-193C-DE60-6BA6759C61C6}"/>
              </a:ext>
            </a:extLst>
          </p:cNvPr>
          <p:cNvSpPr/>
          <p:nvPr/>
        </p:nvSpPr>
        <p:spPr>
          <a:xfrm>
            <a:off x="2822489" y="2676119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460430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07E0-72F3-E7B7-B234-E146CEB6B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351FF390-AE15-12C1-EA48-E87650718CC3}"/>
              </a:ext>
            </a:extLst>
          </p:cNvPr>
          <p:cNvCxnSpPr/>
          <p:nvPr/>
        </p:nvCxnSpPr>
        <p:spPr>
          <a:xfrm>
            <a:off x="2475835" y="2797281"/>
            <a:ext cx="90342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B08E22E-8527-119C-0966-48732C5F1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8737EB-FD42-A5DE-E51B-02312DD0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732C1-3175-B334-B449-489D8D8FD8C2}"/>
              </a:ext>
            </a:extLst>
          </p:cNvPr>
          <p:cNvSpPr txBox="1"/>
          <p:nvPr/>
        </p:nvSpPr>
        <p:spPr>
          <a:xfrm>
            <a:off x="168478" y="684664"/>
            <a:ext cx="1107996" cy="63094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Filter</a:t>
            </a:r>
            <a:br>
              <a:rPr lang="en-US" sz="20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0C4882-62AF-DC7F-6D66-8E3CE149B20B}"/>
              </a:ext>
            </a:extLst>
          </p:cNvPr>
          <p:cNvSpPr txBox="1"/>
          <p:nvPr/>
        </p:nvSpPr>
        <p:spPr>
          <a:xfrm>
            <a:off x="1276474" y="684664"/>
            <a:ext cx="9316873" cy="630942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Reconstruct</a:t>
            </a:r>
          </a:p>
          <a:p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4E6E7-F8A9-D853-77C9-98E6CEA30BF8}"/>
              </a:ext>
            </a:extLst>
          </p:cNvPr>
          <p:cNvSpPr txBox="1"/>
          <p:nvPr/>
        </p:nvSpPr>
        <p:spPr>
          <a:xfrm>
            <a:off x="10593347" y="684664"/>
            <a:ext cx="1415772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Validate</a:t>
            </a:r>
            <a:br>
              <a:rPr lang="en-US" sz="2000" dirty="0">
                <a:latin typeface="Berkeley Mono" pitchFamily="49" charset="77"/>
              </a:rPr>
            </a:br>
            <a:endParaRPr lang="en-US" sz="1500" dirty="0">
              <a:latin typeface="Berkeley Mono" pitchFamily="49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3314AC-A7A9-ED58-8AC9-9B7472A1D222}"/>
              </a:ext>
            </a:extLst>
          </p:cNvPr>
          <p:cNvSpPr txBox="1"/>
          <p:nvPr/>
        </p:nvSpPr>
        <p:spPr>
          <a:xfrm>
            <a:off x="464419" y="17254"/>
            <a:ext cx="218360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De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terministic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BFA09-7EA2-03EA-7D65-66F1C217EB37}"/>
              </a:ext>
            </a:extLst>
          </p:cNvPr>
          <p:cNvSpPr txBox="1"/>
          <p:nvPr/>
        </p:nvSpPr>
        <p:spPr>
          <a:xfrm>
            <a:off x="2635771" y="17254"/>
            <a:ext cx="309162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F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rame-based </a:t>
            </a:r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T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2DF0A-2E39-3CDA-F51F-6634FAB21BC2}"/>
              </a:ext>
            </a:extLst>
          </p:cNvPr>
          <p:cNvSpPr txBox="1"/>
          <p:nvPr/>
        </p:nvSpPr>
        <p:spPr>
          <a:xfrm>
            <a:off x="1269407" y="972168"/>
            <a:ext cx="6878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When and what combination did the planning module process?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09E243-5C9C-B79D-CD3B-B05A9A487A38}"/>
              </a:ext>
            </a:extLst>
          </p:cNvPr>
          <p:cNvSpPr txBox="1"/>
          <p:nvPr/>
        </p:nvSpPr>
        <p:spPr>
          <a:xfrm>
            <a:off x="144325" y="1411540"/>
            <a:ext cx="118647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During system-level testing, Planning module is triggered by </a:t>
            </a:r>
            <a:r>
              <a:rPr lang="en-US" sz="1500" b="1" dirty="0">
                <a:latin typeface="Berkeley Mono" pitchFamily="49" charset="77"/>
              </a:rPr>
              <a:t>events</a:t>
            </a:r>
            <a:r>
              <a:rPr lang="en-US" sz="1500" dirty="0">
                <a:latin typeface="Berkeley Mono" pitchFamily="49" charset="77"/>
              </a:rPr>
              <a:t> to aggregate messages from different cannels to construct input frame F = ⟨ </a:t>
            </a:r>
            <a:r>
              <a:rPr lang="en-US" sz="1500" b="1" dirty="0" err="1">
                <a:solidFill>
                  <a:srgbClr val="00B05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00B050"/>
                </a:solidFill>
                <a:latin typeface="Berkeley Mono" pitchFamily="49" charset="77"/>
              </a:rPr>
              <a:t>routing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7030A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7030A0"/>
                </a:solidFill>
                <a:latin typeface="Berkeley Mono" pitchFamily="49" charset="77"/>
              </a:rPr>
              <a:t>localization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FFC00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FFC000"/>
                </a:solidFill>
                <a:latin typeface="Berkeley Mono" pitchFamily="49" charset="77"/>
              </a:rPr>
              <a:t>traffic_light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0070C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0070C0"/>
                </a:solidFill>
                <a:latin typeface="Berkeley Mono" pitchFamily="49" charset="77"/>
              </a:rPr>
              <a:t>prediction</a:t>
            </a:r>
            <a:r>
              <a:rPr lang="en-US" sz="1500" dirty="0">
                <a:latin typeface="Berkeley Mono" pitchFamily="49" charset="77"/>
              </a:rPr>
              <a:t> ⟩ at time </a:t>
            </a:r>
            <a:r>
              <a:rPr lang="en-US" sz="1500" b="1" dirty="0" err="1">
                <a:latin typeface="Berkeley Mono" pitchFamily="49" charset="77"/>
              </a:rPr>
              <a:t>t</a:t>
            </a:r>
            <a:r>
              <a:rPr lang="en-US" sz="1500" b="1" baseline="-25000" dirty="0" err="1">
                <a:latin typeface="Berkeley Mono" pitchFamily="49" charset="77"/>
              </a:rPr>
              <a:t>F</a:t>
            </a:r>
            <a:r>
              <a:rPr lang="en-US" sz="1500" dirty="0">
                <a:latin typeface="Berkeley Mono" pitchFamily="49" charset="77"/>
              </a:rPr>
              <a:t> to produce </a:t>
            </a:r>
            <a:r>
              <a:rPr lang="en-US" sz="1500" b="1" dirty="0" err="1">
                <a:solidFill>
                  <a:srgbClr val="C0000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C00000"/>
                </a:solidFill>
                <a:latin typeface="Berkeley Mono" pitchFamily="49" charset="77"/>
              </a:rPr>
              <a:t>planning</a:t>
            </a:r>
            <a:r>
              <a:rPr lang="en-US" sz="1500" dirty="0">
                <a:latin typeface="Berkeley Mono" pitchFamily="49" charset="77"/>
              </a:rPr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933B66-693D-35AB-4610-12FA0B4A1CAA}"/>
              </a:ext>
            </a:extLst>
          </p:cNvPr>
          <p:cNvSpPr txBox="1"/>
          <p:nvPr/>
        </p:nvSpPr>
        <p:spPr>
          <a:xfrm>
            <a:off x="170107" y="2362999"/>
            <a:ext cx="1307592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Relevant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Msgs</a:t>
            </a:r>
            <a:endParaRPr lang="en-US" sz="1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1CB412CD-637C-EC6D-BBE0-298A58B82589}"/>
              </a:ext>
            </a:extLst>
          </p:cNvPr>
          <p:cNvSpPr/>
          <p:nvPr/>
        </p:nvSpPr>
        <p:spPr>
          <a:xfrm>
            <a:off x="202570" y="2676119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1DFB0E68-E751-75A9-8458-149AAFC7830D}"/>
              </a:ext>
            </a:extLst>
          </p:cNvPr>
          <p:cNvSpPr/>
          <p:nvPr/>
        </p:nvSpPr>
        <p:spPr>
          <a:xfrm>
            <a:off x="454362" y="2676119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536AC091-ED46-F03D-D67B-EC961D6F8C90}"/>
              </a:ext>
            </a:extLst>
          </p:cNvPr>
          <p:cNvSpPr/>
          <p:nvPr/>
        </p:nvSpPr>
        <p:spPr>
          <a:xfrm>
            <a:off x="706154" y="2676119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BFD8E57-11D5-4682-70F7-1E2292EA052D}"/>
              </a:ext>
            </a:extLst>
          </p:cNvPr>
          <p:cNvSpPr/>
          <p:nvPr/>
        </p:nvSpPr>
        <p:spPr>
          <a:xfrm>
            <a:off x="957946" y="2676119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5B32C875-23A4-9146-1196-2E9EF1BC5471}"/>
              </a:ext>
            </a:extLst>
          </p:cNvPr>
          <p:cNvSpPr/>
          <p:nvPr/>
        </p:nvSpPr>
        <p:spPr>
          <a:xfrm>
            <a:off x="1209738" y="2676119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65DB597-5FCD-8BBA-F0E9-246C4110BB2E}"/>
              </a:ext>
            </a:extLst>
          </p:cNvPr>
          <p:cNvSpPr/>
          <p:nvPr/>
        </p:nvSpPr>
        <p:spPr>
          <a:xfrm>
            <a:off x="168478" y="2619860"/>
            <a:ext cx="1310850" cy="18805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F2AE66E5-BB22-B21D-C474-48FF88B8B6DC}"/>
              </a:ext>
            </a:extLst>
          </p:cNvPr>
          <p:cNvSpPr/>
          <p:nvPr/>
        </p:nvSpPr>
        <p:spPr>
          <a:xfrm>
            <a:off x="202570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275AEF0-02E6-FF27-FD3B-809BDC44FCB4}"/>
              </a:ext>
            </a:extLst>
          </p:cNvPr>
          <p:cNvSpPr/>
          <p:nvPr/>
        </p:nvSpPr>
        <p:spPr>
          <a:xfrm>
            <a:off x="454362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46646395-A6CF-7476-D896-F9F97E37749B}"/>
              </a:ext>
            </a:extLst>
          </p:cNvPr>
          <p:cNvSpPr/>
          <p:nvPr/>
        </p:nvSpPr>
        <p:spPr>
          <a:xfrm>
            <a:off x="706154" y="2988166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870C8FD-D64C-598C-55AC-CDB866775AED}"/>
              </a:ext>
            </a:extLst>
          </p:cNvPr>
          <p:cNvSpPr/>
          <p:nvPr/>
        </p:nvSpPr>
        <p:spPr>
          <a:xfrm>
            <a:off x="957946" y="2988166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88A10235-E66C-C208-DB62-EE8FF3308667}"/>
              </a:ext>
            </a:extLst>
          </p:cNvPr>
          <p:cNvSpPr/>
          <p:nvPr/>
        </p:nvSpPr>
        <p:spPr>
          <a:xfrm>
            <a:off x="1209738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819ABBB6-6F41-125F-E9AC-B0560432EB9E}"/>
              </a:ext>
            </a:extLst>
          </p:cNvPr>
          <p:cNvSpPr/>
          <p:nvPr/>
        </p:nvSpPr>
        <p:spPr>
          <a:xfrm>
            <a:off x="202570" y="330021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F23EB9C0-4DBA-EF9C-01BD-8006631CEBA0}"/>
              </a:ext>
            </a:extLst>
          </p:cNvPr>
          <p:cNvSpPr/>
          <p:nvPr/>
        </p:nvSpPr>
        <p:spPr>
          <a:xfrm>
            <a:off x="454362" y="3299467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5F23F86B-AAB9-55B6-E2D4-D51E5C5328CB}"/>
              </a:ext>
            </a:extLst>
          </p:cNvPr>
          <p:cNvSpPr/>
          <p:nvPr/>
        </p:nvSpPr>
        <p:spPr>
          <a:xfrm>
            <a:off x="706154" y="329946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6E583FE7-1E98-7F99-AD75-06CCB7345AF6}"/>
              </a:ext>
            </a:extLst>
          </p:cNvPr>
          <p:cNvSpPr/>
          <p:nvPr/>
        </p:nvSpPr>
        <p:spPr>
          <a:xfrm>
            <a:off x="957946" y="3299467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1EF4FECB-8CEB-9698-36F2-4EA7FD879C51}"/>
              </a:ext>
            </a:extLst>
          </p:cNvPr>
          <p:cNvSpPr/>
          <p:nvPr/>
        </p:nvSpPr>
        <p:spPr>
          <a:xfrm>
            <a:off x="1209738" y="3299467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DFA3B1BB-B468-C3A6-2A9F-AB1ED99338D0}"/>
              </a:ext>
            </a:extLst>
          </p:cNvPr>
          <p:cNvSpPr/>
          <p:nvPr/>
        </p:nvSpPr>
        <p:spPr>
          <a:xfrm>
            <a:off x="202570" y="3612260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373507F1-C2F8-1079-E644-BE7119F73FB4}"/>
              </a:ext>
            </a:extLst>
          </p:cNvPr>
          <p:cNvSpPr/>
          <p:nvPr/>
        </p:nvSpPr>
        <p:spPr>
          <a:xfrm>
            <a:off x="452628" y="3610768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77A8A75C-FA80-7AC4-160B-0F2174568979}"/>
              </a:ext>
            </a:extLst>
          </p:cNvPr>
          <p:cNvSpPr/>
          <p:nvPr/>
        </p:nvSpPr>
        <p:spPr>
          <a:xfrm>
            <a:off x="704420" y="3610768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3B157D9-8A80-1159-680B-4339E538115A}"/>
              </a:ext>
            </a:extLst>
          </p:cNvPr>
          <p:cNvSpPr/>
          <p:nvPr/>
        </p:nvSpPr>
        <p:spPr>
          <a:xfrm>
            <a:off x="956212" y="3610768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1D909C5C-A7A2-7E24-3173-B87664E544BE}"/>
              </a:ext>
            </a:extLst>
          </p:cNvPr>
          <p:cNvSpPr/>
          <p:nvPr/>
        </p:nvSpPr>
        <p:spPr>
          <a:xfrm>
            <a:off x="1208004" y="3610768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12603D01-B879-CBD8-1405-A3A22E918B2B}"/>
              </a:ext>
            </a:extLst>
          </p:cNvPr>
          <p:cNvSpPr/>
          <p:nvPr/>
        </p:nvSpPr>
        <p:spPr>
          <a:xfrm>
            <a:off x="202570" y="392430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3ABE6BF5-5EAC-82FA-080F-1E05391BAABF}"/>
              </a:ext>
            </a:extLst>
          </p:cNvPr>
          <p:cNvSpPr/>
          <p:nvPr/>
        </p:nvSpPr>
        <p:spPr>
          <a:xfrm>
            <a:off x="452628" y="3924307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4C1BBD5-E49D-FB27-CBC2-16091C23652A}"/>
              </a:ext>
            </a:extLst>
          </p:cNvPr>
          <p:cNvSpPr/>
          <p:nvPr/>
        </p:nvSpPr>
        <p:spPr>
          <a:xfrm>
            <a:off x="704420" y="392430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2F4C9ACA-63EE-34EE-F655-171F505F0DB1}"/>
              </a:ext>
            </a:extLst>
          </p:cNvPr>
          <p:cNvSpPr/>
          <p:nvPr/>
        </p:nvSpPr>
        <p:spPr>
          <a:xfrm>
            <a:off x="956212" y="3924307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07EFBCAA-A94E-5402-EA75-6955CC3FCFC7}"/>
              </a:ext>
            </a:extLst>
          </p:cNvPr>
          <p:cNvSpPr/>
          <p:nvPr/>
        </p:nvSpPr>
        <p:spPr>
          <a:xfrm>
            <a:off x="1208004" y="3924307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9C82943-C0A4-9802-CD39-F585EEFCC595}"/>
              </a:ext>
            </a:extLst>
          </p:cNvPr>
          <p:cNvSpPr/>
          <p:nvPr/>
        </p:nvSpPr>
        <p:spPr>
          <a:xfrm>
            <a:off x="202570" y="4236355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CF75F682-5710-D2D8-85AD-8E8B2AFC490A}"/>
              </a:ext>
            </a:extLst>
          </p:cNvPr>
          <p:cNvSpPr/>
          <p:nvPr/>
        </p:nvSpPr>
        <p:spPr>
          <a:xfrm>
            <a:off x="452628" y="4233370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E32314A6-80CE-8F56-A685-2DF4D8F73E7E}"/>
              </a:ext>
            </a:extLst>
          </p:cNvPr>
          <p:cNvSpPr/>
          <p:nvPr/>
        </p:nvSpPr>
        <p:spPr>
          <a:xfrm>
            <a:off x="704420" y="4233370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4FBB381-5920-C363-1599-71BCE6D09BD8}"/>
              </a:ext>
            </a:extLst>
          </p:cNvPr>
          <p:cNvSpPr/>
          <p:nvPr/>
        </p:nvSpPr>
        <p:spPr>
          <a:xfrm>
            <a:off x="956212" y="4233370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AE8F7F82-4286-4D5D-32E9-E0A042293E24}"/>
              </a:ext>
            </a:extLst>
          </p:cNvPr>
          <p:cNvSpPr/>
          <p:nvPr/>
        </p:nvSpPr>
        <p:spPr>
          <a:xfrm>
            <a:off x="1208004" y="4233370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F9080321-A35A-DDF5-1177-75DB6EFF04C2}"/>
              </a:ext>
            </a:extLst>
          </p:cNvPr>
          <p:cNvSpPr/>
          <p:nvPr/>
        </p:nvSpPr>
        <p:spPr>
          <a:xfrm>
            <a:off x="2570294" y="2677593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82A528EE-1AB0-3081-C93A-08F09814AF56}"/>
              </a:ext>
            </a:extLst>
          </p:cNvPr>
          <p:cNvSpPr/>
          <p:nvPr/>
        </p:nvSpPr>
        <p:spPr>
          <a:xfrm>
            <a:off x="307471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725D9AA8-A80A-0833-F013-3D497A17FA23}"/>
              </a:ext>
            </a:extLst>
          </p:cNvPr>
          <p:cNvSpPr/>
          <p:nvPr/>
        </p:nvSpPr>
        <p:spPr>
          <a:xfrm>
            <a:off x="332691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3EAF2649-7A64-3B69-6EF0-792DF6D28F07}"/>
              </a:ext>
            </a:extLst>
          </p:cNvPr>
          <p:cNvSpPr/>
          <p:nvPr/>
        </p:nvSpPr>
        <p:spPr>
          <a:xfrm>
            <a:off x="3579126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DF647699-267D-9FBC-4DA1-81969FC1BCC4}"/>
              </a:ext>
            </a:extLst>
          </p:cNvPr>
          <p:cNvSpPr/>
          <p:nvPr/>
        </p:nvSpPr>
        <p:spPr>
          <a:xfrm>
            <a:off x="4335750" y="2677593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1E4A8EFD-B6F0-FE74-4210-6A1D0A0B84C4}"/>
              </a:ext>
            </a:extLst>
          </p:cNvPr>
          <p:cNvSpPr/>
          <p:nvPr/>
        </p:nvSpPr>
        <p:spPr>
          <a:xfrm>
            <a:off x="4587958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F62FAC74-FA5F-0E79-69D8-2B47A70E4790}"/>
              </a:ext>
            </a:extLst>
          </p:cNvPr>
          <p:cNvSpPr/>
          <p:nvPr/>
        </p:nvSpPr>
        <p:spPr>
          <a:xfrm>
            <a:off x="5092374" y="267759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62DFCB3B-D24E-CB9D-92CC-E872EAB3BE42}"/>
              </a:ext>
            </a:extLst>
          </p:cNvPr>
          <p:cNvSpPr/>
          <p:nvPr/>
        </p:nvSpPr>
        <p:spPr>
          <a:xfrm>
            <a:off x="559679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184668FD-19F1-4B06-A55A-30AA3F15C322}"/>
              </a:ext>
            </a:extLst>
          </p:cNvPr>
          <p:cNvSpPr/>
          <p:nvPr/>
        </p:nvSpPr>
        <p:spPr>
          <a:xfrm>
            <a:off x="584899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5A932499-C4DD-7081-B091-B71D27C1E82E}"/>
              </a:ext>
            </a:extLst>
          </p:cNvPr>
          <p:cNvSpPr/>
          <p:nvPr/>
        </p:nvSpPr>
        <p:spPr>
          <a:xfrm>
            <a:off x="6101206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51E0F055-BEEE-D01C-9EEF-3BFFC8FABB13}"/>
              </a:ext>
            </a:extLst>
          </p:cNvPr>
          <p:cNvSpPr/>
          <p:nvPr/>
        </p:nvSpPr>
        <p:spPr>
          <a:xfrm>
            <a:off x="6353414" y="2677593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C481EEBA-722B-B82A-C784-73FCB88AF64B}"/>
              </a:ext>
            </a:extLst>
          </p:cNvPr>
          <p:cNvSpPr/>
          <p:nvPr/>
        </p:nvSpPr>
        <p:spPr>
          <a:xfrm>
            <a:off x="6857830" y="267759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16BFC174-6E80-40B8-1A53-F04E356764BD}"/>
              </a:ext>
            </a:extLst>
          </p:cNvPr>
          <p:cNvSpPr/>
          <p:nvPr/>
        </p:nvSpPr>
        <p:spPr>
          <a:xfrm>
            <a:off x="7110038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B1E5766B-F3C3-7685-A49D-455AB19FC75E}"/>
              </a:ext>
            </a:extLst>
          </p:cNvPr>
          <p:cNvSpPr/>
          <p:nvPr/>
        </p:nvSpPr>
        <p:spPr>
          <a:xfrm>
            <a:off x="7362246" y="2677593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E35F4E98-ECCE-A72C-5F2D-061B5BABF068}"/>
              </a:ext>
            </a:extLst>
          </p:cNvPr>
          <p:cNvSpPr/>
          <p:nvPr/>
        </p:nvSpPr>
        <p:spPr>
          <a:xfrm>
            <a:off x="7614454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E2C4CF44-A697-4449-72BC-5FC99DB55EF0}"/>
              </a:ext>
            </a:extLst>
          </p:cNvPr>
          <p:cNvSpPr/>
          <p:nvPr/>
        </p:nvSpPr>
        <p:spPr>
          <a:xfrm>
            <a:off x="7866662" y="267759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26F3C504-B9F0-98EB-B46F-0C003A5C01E8}"/>
              </a:ext>
            </a:extLst>
          </p:cNvPr>
          <p:cNvSpPr/>
          <p:nvPr/>
        </p:nvSpPr>
        <p:spPr>
          <a:xfrm>
            <a:off x="811887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BD3F593C-8528-8013-607C-8029BCCE1DFF}"/>
              </a:ext>
            </a:extLst>
          </p:cNvPr>
          <p:cNvSpPr/>
          <p:nvPr/>
        </p:nvSpPr>
        <p:spPr>
          <a:xfrm>
            <a:off x="837107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E8496914-5357-CFC0-D3FA-A91AD2E12316}"/>
              </a:ext>
            </a:extLst>
          </p:cNvPr>
          <p:cNvSpPr/>
          <p:nvPr/>
        </p:nvSpPr>
        <p:spPr>
          <a:xfrm>
            <a:off x="8623286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31DD72CC-2CB8-E71A-661B-78A749A21D9A}"/>
              </a:ext>
            </a:extLst>
          </p:cNvPr>
          <p:cNvSpPr/>
          <p:nvPr/>
        </p:nvSpPr>
        <p:spPr>
          <a:xfrm>
            <a:off x="8875494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DCB49D94-B550-3F63-A366-BD9FFE86D142}"/>
              </a:ext>
            </a:extLst>
          </p:cNvPr>
          <p:cNvSpPr/>
          <p:nvPr/>
        </p:nvSpPr>
        <p:spPr>
          <a:xfrm>
            <a:off x="937991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4BCB57CE-2953-C21B-9F1C-A91B13637284}"/>
              </a:ext>
            </a:extLst>
          </p:cNvPr>
          <p:cNvSpPr/>
          <p:nvPr/>
        </p:nvSpPr>
        <p:spPr>
          <a:xfrm>
            <a:off x="963211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F00ADE34-7308-2D0D-827F-E62831BCEE1C}"/>
              </a:ext>
            </a:extLst>
          </p:cNvPr>
          <p:cNvSpPr/>
          <p:nvPr/>
        </p:nvSpPr>
        <p:spPr>
          <a:xfrm>
            <a:off x="9884313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152FCDC-0DBB-DCCD-1594-979AF762CFCA}"/>
              </a:ext>
            </a:extLst>
          </p:cNvPr>
          <p:cNvSpPr txBox="1"/>
          <p:nvPr/>
        </p:nvSpPr>
        <p:spPr>
          <a:xfrm>
            <a:off x="2475835" y="2362999"/>
            <a:ext cx="2800768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Time-Sensitive Input Search Engine</a:t>
            </a: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90E0D257-BF76-6002-0843-2D4BA155E55B}"/>
              </a:ext>
            </a:extLst>
          </p:cNvPr>
          <p:cNvCxnSpPr>
            <a:stCxn id="53" idx="3"/>
            <a:endCxn id="160" idx="1"/>
          </p:cNvCxnSpPr>
          <p:nvPr/>
        </p:nvCxnSpPr>
        <p:spPr>
          <a:xfrm flipV="1">
            <a:off x="1479328" y="2486110"/>
            <a:ext cx="996507" cy="107400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8D748E-2501-876B-5494-4FFA60F9B472}"/>
              </a:ext>
            </a:extLst>
          </p:cNvPr>
          <p:cNvGrpSpPr/>
          <p:nvPr/>
        </p:nvGrpSpPr>
        <p:grpSpPr>
          <a:xfrm>
            <a:off x="2486275" y="3221581"/>
            <a:ext cx="2934624" cy="338536"/>
            <a:chOff x="2486275" y="3221581"/>
            <a:chExt cx="2934624" cy="338536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4F10B3E-589E-3CE8-54AF-9C5BCBC12C48}"/>
                </a:ext>
              </a:extLst>
            </p:cNvPr>
            <p:cNvSpPr/>
            <p:nvPr/>
          </p:nvSpPr>
          <p:spPr>
            <a:xfrm>
              <a:off x="3208245" y="3221582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5A1C7CC0-6BC2-9CF7-A022-B6A30C1A4911}"/>
                </a:ext>
              </a:extLst>
            </p:cNvPr>
            <p:cNvSpPr/>
            <p:nvPr/>
          </p:nvSpPr>
          <p:spPr>
            <a:xfrm>
              <a:off x="3685558" y="3276549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1713DA62-487E-2430-3986-F1E57E14F2AD}"/>
                </a:ext>
              </a:extLst>
            </p:cNvPr>
            <p:cNvSpPr/>
            <p:nvPr/>
          </p:nvSpPr>
          <p:spPr>
            <a:xfrm>
              <a:off x="4120150" y="3276549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96D70FE9-2FD0-16E8-7790-8EECE15C5872}"/>
                </a:ext>
              </a:extLst>
            </p:cNvPr>
            <p:cNvSpPr/>
            <p:nvPr/>
          </p:nvSpPr>
          <p:spPr>
            <a:xfrm>
              <a:off x="4554743" y="3276549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9" name="Rounded Rectangle 118">
              <a:extLst>
                <a:ext uri="{FF2B5EF4-FFF2-40B4-BE49-F238E27FC236}">
                  <a16:creationId xmlns:a16="http://schemas.microsoft.com/office/drawing/2014/main" id="{6BCBAB4C-E89F-6395-1990-CA100B4B3395}"/>
                </a:ext>
              </a:extLst>
            </p:cNvPr>
            <p:cNvSpPr/>
            <p:nvPr/>
          </p:nvSpPr>
          <p:spPr>
            <a:xfrm>
              <a:off x="3250966" y="3276549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20" name="Rounded Rectangle 119">
              <a:extLst>
                <a:ext uri="{FF2B5EF4-FFF2-40B4-BE49-F238E27FC236}">
                  <a16:creationId xmlns:a16="http://schemas.microsoft.com/office/drawing/2014/main" id="{EEBECFEF-4002-6A2F-A7AF-ADFE50AB944E}"/>
                </a:ext>
              </a:extLst>
            </p:cNvPr>
            <p:cNvSpPr/>
            <p:nvPr/>
          </p:nvSpPr>
          <p:spPr>
            <a:xfrm>
              <a:off x="5004035" y="3276549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AC09760-26B2-99B2-03B5-A2A7BEC360B1}"/>
                </a:ext>
              </a:extLst>
            </p:cNvPr>
            <p:cNvSpPr/>
            <p:nvPr/>
          </p:nvSpPr>
          <p:spPr>
            <a:xfrm>
              <a:off x="4964286" y="3221581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F7503F8E-8540-45DC-B652-46EFE86A0AC3}"/>
                </a:ext>
              </a:extLst>
            </p:cNvPr>
            <p:cNvSpPr/>
            <p:nvPr/>
          </p:nvSpPr>
          <p:spPr>
            <a:xfrm>
              <a:off x="2486275" y="3221581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16815B-4ED4-675B-2DEF-AD7D0FCAEC97}"/>
              </a:ext>
            </a:extLst>
          </p:cNvPr>
          <p:cNvGrpSpPr/>
          <p:nvPr/>
        </p:nvGrpSpPr>
        <p:grpSpPr>
          <a:xfrm>
            <a:off x="5518806" y="3216766"/>
            <a:ext cx="2934624" cy="338536"/>
            <a:chOff x="5518806" y="3216766"/>
            <a:chExt cx="2934624" cy="3385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CBE5B36-71A8-A32B-FEA8-D8FBD395F76D}"/>
                </a:ext>
              </a:extLst>
            </p:cNvPr>
            <p:cNvSpPr/>
            <p:nvPr/>
          </p:nvSpPr>
          <p:spPr>
            <a:xfrm>
              <a:off x="6240776" y="3216767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749B8D95-B072-78E4-3F40-D25B027BF8E1}"/>
                </a:ext>
              </a:extLst>
            </p:cNvPr>
            <p:cNvSpPr/>
            <p:nvPr/>
          </p:nvSpPr>
          <p:spPr>
            <a:xfrm>
              <a:off x="6718089" y="3271734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2182E382-5311-C3C7-A22F-9A85108E9914}"/>
                </a:ext>
              </a:extLst>
            </p:cNvPr>
            <p:cNvSpPr/>
            <p:nvPr/>
          </p:nvSpPr>
          <p:spPr>
            <a:xfrm>
              <a:off x="7152681" y="3271734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08DCD67-F258-2973-55F4-3945856EB507}"/>
                </a:ext>
              </a:extLst>
            </p:cNvPr>
            <p:cNvSpPr/>
            <p:nvPr/>
          </p:nvSpPr>
          <p:spPr>
            <a:xfrm>
              <a:off x="7587274" y="3271734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F8C4E98C-9301-8F49-9A06-DCAC1707E97B}"/>
                </a:ext>
              </a:extLst>
            </p:cNvPr>
            <p:cNvSpPr/>
            <p:nvPr/>
          </p:nvSpPr>
          <p:spPr>
            <a:xfrm>
              <a:off x="6283497" y="3271734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3164DE79-C15D-18B0-809D-87850A4BB69B}"/>
                </a:ext>
              </a:extLst>
            </p:cNvPr>
            <p:cNvSpPr/>
            <p:nvPr/>
          </p:nvSpPr>
          <p:spPr>
            <a:xfrm>
              <a:off x="8036566" y="3271734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3721810-7E93-1038-6EC3-10CCA509FC63}"/>
                </a:ext>
              </a:extLst>
            </p:cNvPr>
            <p:cNvSpPr/>
            <p:nvPr/>
          </p:nvSpPr>
          <p:spPr>
            <a:xfrm>
              <a:off x="7996817" y="3216766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298F885-F7B8-BEA1-4C2C-885AB4723D93}"/>
                </a:ext>
              </a:extLst>
            </p:cNvPr>
            <p:cNvSpPr/>
            <p:nvPr/>
          </p:nvSpPr>
          <p:spPr>
            <a:xfrm>
              <a:off x="5518806" y="3216766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2</a:t>
              </a:r>
            </a:p>
          </p:txBody>
        </p:sp>
      </p:grp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BA20CAD-9B7B-AFEE-5FF4-76AAD5509A05}"/>
              </a:ext>
            </a:extLst>
          </p:cNvPr>
          <p:cNvCxnSpPr>
            <a:stCxn id="134" idx="2"/>
            <a:endCxn id="15" idx="0"/>
          </p:cNvCxnSpPr>
          <p:nvPr/>
        </p:nvCxnSpPr>
        <p:spPr>
          <a:xfrm rot="16200000" flipH="1">
            <a:off x="5275443" y="2080799"/>
            <a:ext cx="365541" cy="2016327"/>
          </a:xfrm>
          <a:prstGeom prst="curvedConnector3">
            <a:avLst>
              <a:gd name="adj1" fmla="val 38159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93EA4424-EADB-1DF5-61D7-A57FAE31729F}"/>
              </a:ext>
            </a:extLst>
          </p:cNvPr>
          <p:cNvCxnSpPr>
            <a:stCxn id="135" idx="2"/>
            <a:endCxn id="14" idx="0"/>
          </p:cNvCxnSpPr>
          <p:nvPr/>
        </p:nvCxnSpPr>
        <p:spPr>
          <a:xfrm rot="16200000" flipH="1">
            <a:off x="6053436" y="1555015"/>
            <a:ext cx="365541" cy="3067896"/>
          </a:xfrm>
          <a:prstGeom prst="curvedConnector3">
            <a:avLst>
              <a:gd name="adj1" fmla="val 26827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3CBE4781-A1C4-2156-8B5D-332CF6850DB9}"/>
              </a:ext>
            </a:extLst>
          </p:cNvPr>
          <p:cNvCxnSpPr>
            <a:cxnSpLocks/>
            <a:stCxn id="130" idx="2"/>
            <a:endCxn id="12" idx="0"/>
          </p:cNvCxnSpPr>
          <p:nvPr/>
        </p:nvCxnSpPr>
        <p:spPr>
          <a:xfrm rot="16200000" flipH="1">
            <a:off x="4988323" y="1359087"/>
            <a:ext cx="365541" cy="3459751"/>
          </a:xfrm>
          <a:prstGeom prst="curvedConnector3">
            <a:avLst>
              <a:gd name="adj1" fmla="val 54441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052F519B-8C34-C8FA-6C4D-519DAA36D38D}"/>
              </a:ext>
            </a:extLst>
          </p:cNvPr>
          <p:cNvCxnSpPr>
            <a:cxnSpLocks/>
            <a:stCxn id="141" idx="2"/>
            <a:endCxn id="17" idx="0"/>
          </p:cNvCxnSpPr>
          <p:nvPr/>
        </p:nvCxnSpPr>
        <p:spPr>
          <a:xfrm rot="16200000" flipH="1">
            <a:off x="7034706" y="2086993"/>
            <a:ext cx="365541" cy="2003940"/>
          </a:xfrm>
          <a:prstGeom prst="curvedConnector3">
            <a:avLst>
              <a:gd name="adj1" fmla="val 2124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A0386BE-6CD0-99E2-188D-5269EDEB559D}"/>
              </a:ext>
            </a:extLst>
          </p:cNvPr>
          <p:cNvSpPr/>
          <p:nvPr/>
        </p:nvSpPr>
        <p:spPr>
          <a:xfrm>
            <a:off x="2822489" y="2676119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992107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F6F55-2D8B-E25F-D31F-60F8FDCC8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4C4B46F0-99AB-0ABF-E659-932B116AE6AE}"/>
              </a:ext>
            </a:extLst>
          </p:cNvPr>
          <p:cNvCxnSpPr/>
          <p:nvPr/>
        </p:nvCxnSpPr>
        <p:spPr>
          <a:xfrm>
            <a:off x="2475835" y="2797281"/>
            <a:ext cx="90342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DC0294D-63F4-70B7-3CA4-B4164801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B6DC54-BD92-DD64-FB6C-E4033848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5EEE8C-0DC4-FAF0-95E3-3EC41A20A12F}"/>
              </a:ext>
            </a:extLst>
          </p:cNvPr>
          <p:cNvSpPr txBox="1"/>
          <p:nvPr/>
        </p:nvSpPr>
        <p:spPr>
          <a:xfrm>
            <a:off x="168478" y="684664"/>
            <a:ext cx="1107996" cy="63094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Filter</a:t>
            </a:r>
            <a:br>
              <a:rPr lang="en-US" sz="20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F5D05-1BC3-6874-4966-8F9FB9E3637F}"/>
              </a:ext>
            </a:extLst>
          </p:cNvPr>
          <p:cNvSpPr txBox="1"/>
          <p:nvPr/>
        </p:nvSpPr>
        <p:spPr>
          <a:xfrm>
            <a:off x="1276474" y="684664"/>
            <a:ext cx="9316873" cy="630942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Reconstruct</a:t>
            </a:r>
          </a:p>
          <a:p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58776-9553-5695-CDB4-D4F03DFDF0BA}"/>
              </a:ext>
            </a:extLst>
          </p:cNvPr>
          <p:cNvSpPr txBox="1"/>
          <p:nvPr/>
        </p:nvSpPr>
        <p:spPr>
          <a:xfrm>
            <a:off x="10593347" y="684664"/>
            <a:ext cx="1415772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Validate</a:t>
            </a:r>
            <a:br>
              <a:rPr lang="en-US" sz="2000" dirty="0">
                <a:latin typeface="Berkeley Mono" pitchFamily="49" charset="77"/>
              </a:rPr>
            </a:br>
            <a:endParaRPr lang="en-US" sz="1500" dirty="0">
              <a:latin typeface="Berkeley Mono" pitchFamily="49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BE62D4-38ED-6594-5A30-59B7DF834F3B}"/>
              </a:ext>
            </a:extLst>
          </p:cNvPr>
          <p:cNvSpPr txBox="1"/>
          <p:nvPr/>
        </p:nvSpPr>
        <p:spPr>
          <a:xfrm>
            <a:off x="464419" y="17254"/>
            <a:ext cx="218360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De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terministic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DAFD5C-B462-95E1-F665-0DFCEC6E7540}"/>
              </a:ext>
            </a:extLst>
          </p:cNvPr>
          <p:cNvSpPr txBox="1"/>
          <p:nvPr/>
        </p:nvSpPr>
        <p:spPr>
          <a:xfrm>
            <a:off x="2635771" y="17254"/>
            <a:ext cx="309162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F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rame-based </a:t>
            </a:r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T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8EA826-54F2-702D-5DB5-F223C7E9FF5E}"/>
              </a:ext>
            </a:extLst>
          </p:cNvPr>
          <p:cNvSpPr txBox="1"/>
          <p:nvPr/>
        </p:nvSpPr>
        <p:spPr>
          <a:xfrm>
            <a:off x="1269407" y="972168"/>
            <a:ext cx="6878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When and what combination did the planning module process?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11CDE6-7DDF-118B-BF13-6B24EF2BF580}"/>
              </a:ext>
            </a:extLst>
          </p:cNvPr>
          <p:cNvSpPr txBox="1"/>
          <p:nvPr/>
        </p:nvSpPr>
        <p:spPr>
          <a:xfrm>
            <a:off x="144325" y="1411540"/>
            <a:ext cx="118647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During system-level testing, Planning module is triggered by </a:t>
            </a:r>
            <a:r>
              <a:rPr lang="en-US" sz="1500" b="1" dirty="0">
                <a:latin typeface="Berkeley Mono" pitchFamily="49" charset="77"/>
              </a:rPr>
              <a:t>events</a:t>
            </a:r>
            <a:r>
              <a:rPr lang="en-US" sz="1500" dirty="0">
                <a:latin typeface="Berkeley Mono" pitchFamily="49" charset="77"/>
              </a:rPr>
              <a:t> to aggregate messages from different cannels to construct input frame F = ⟨ </a:t>
            </a:r>
            <a:r>
              <a:rPr lang="en-US" sz="1500" b="1" dirty="0" err="1">
                <a:solidFill>
                  <a:srgbClr val="00B05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00B050"/>
                </a:solidFill>
                <a:latin typeface="Berkeley Mono" pitchFamily="49" charset="77"/>
              </a:rPr>
              <a:t>routing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7030A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7030A0"/>
                </a:solidFill>
                <a:latin typeface="Berkeley Mono" pitchFamily="49" charset="77"/>
              </a:rPr>
              <a:t>localization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FFC00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FFC000"/>
                </a:solidFill>
                <a:latin typeface="Berkeley Mono" pitchFamily="49" charset="77"/>
              </a:rPr>
              <a:t>traffic_light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0070C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0070C0"/>
                </a:solidFill>
                <a:latin typeface="Berkeley Mono" pitchFamily="49" charset="77"/>
              </a:rPr>
              <a:t>prediction</a:t>
            </a:r>
            <a:r>
              <a:rPr lang="en-US" sz="1500" dirty="0">
                <a:latin typeface="Berkeley Mono" pitchFamily="49" charset="77"/>
              </a:rPr>
              <a:t> ⟩ at time </a:t>
            </a:r>
            <a:r>
              <a:rPr lang="en-US" sz="1500" b="1" dirty="0" err="1">
                <a:latin typeface="Berkeley Mono" pitchFamily="49" charset="77"/>
              </a:rPr>
              <a:t>t</a:t>
            </a:r>
            <a:r>
              <a:rPr lang="en-US" sz="1500" b="1" baseline="-25000" dirty="0" err="1">
                <a:latin typeface="Berkeley Mono" pitchFamily="49" charset="77"/>
              </a:rPr>
              <a:t>F</a:t>
            </a:r>
            <a:r>
              <a:rPr lang="en-US" sz="1500" dirty="0">
                <a:latin typeface="Berkeley Mono" pitchFamily="49" charset="77"/>
              </a:rPr>
              <a:t> to produce </a:t>
            </a:r>
            <a:r>
              <a:rPr lang="en-US" sz="1500" b="1" dirty="0" err="1">
                <a:solidFill>
                  <a:srgbClr val="C0000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C00000"/>
                </a:solidFill>
                <a:latin typeface="Berkeley Mono" pitchFamily="49" charset="77"/>
              </a:rPr>
              <a:t>planning</a:t>
            </a:r>
            <a:r>
              <a:rPr lang="en-US" sz="1500" dirty="0">
                <a:latin typeface="Berkeley Mono" pitchFamily="49" charset="77"/>
              </a:rPr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0490C7-F3A8-47F9-CAE5-3AD017438E0E}"/>
              </a:ext>
            </a:extLst>
          </p:cNvPr>
          <p:cNvSpPr txBox="1"/>
          <p:nvPr/>
        </p:nvSpPr>
        <p:spPr>
          <a:xfrm>
            <a:off x="170107" y="2362999"/>
            <a:ext cx="1307592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Relevant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Msgs</a:t>
            </a:r>
            <a:endParaRPr lang="en-US" sz="1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2E8D529-65A9-9C1D-CBE8-A1170C265A3C}"/>
              </a:ext>
            </a:extLst>
          </p:cNvPr>
          <p:cNvSpPr/>
          <p:nvPr/>
        </p:nvSpPr>
        <p:spPr>
          <a:xfrm>
            <a:off x="202570" y="2676119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09CD27E4-363F-5308-E9BD-374C14047B45}"/>
              </a:ext>
            </a:extLst>
          </p:cNvPr>
          <p:cNvSpPr/>
          <p:nvPr/>
        </p:nvSpPr>
        <p:spPr>
          <a:xfrm>
            <a:off x="454362" y="2676119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1B77556-2B0A-1F3B-ED0F-AFFD35AE4833}"/>
              </a:ext>
            </a:extLst>
          </p:cNvPr>
          <p:cNvSpPr/>
          <p:nvPr/>
        </p:nvSpPr>
        <p:spPr>
          <a:xfrm>
            <a:off x="706154" y="2676119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4AF734EB-6C03-BD48-239E-A9E17068C52C}"/>
              </a:ext>
            </a:extLst>
          </p:cNvPr>
          <p:cNvSpPr/>
          <p:nvPr/>
        </p:nvSpPr>
        <p:spPr>
          <a:xfrm>
            <a:off x="957946" y="2676119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72E7ACF3-2774-6779-96F8-E5124522AB67}"/>
              </a:ext>
            </a:extLst>
          </p:cNvPr>
          <p:cNvSpPr/>
          <p:nvPr/>
        </p:nvSpPr>
        <p:spPr>
          <a:xfrm>
            <a:off x="1209738" y="2676119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9D6DCAF-91F5-9C94-5977-C88F07B4F5EE}"/>
              </a:ext>
            </a:extLst>
          </p:cNvPr>
          <p:cNvSpPr/>
          <p:nvPr/>
        </p:nvSpPr>
        <p:spPr>
          <a:xfrm>
            <a:off x="168478" y="2619860"/>
            <a:ext cx="1310850" cy="18805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473C0679-871B-76D0-14FC-7E13F2D5AE10}"/>
              </a:ext>
            </a:extLst>
          </p:cNvPr>
          <p:cNvSpPr/>
          <p:nvPr/>
        </p:nvSpPr>
        <p:spPr>
          <a:xfrm>
            <a:off x="202570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CBB873DB-A433-AA16-E723-3DE2634C7CE9}"/>
              </a:ext>
            </a:extLst>
          </p:cNvPr>
          <p:cNvSpPr/>
          <p:nvPr/>
        </p:nvSpPr>
        <p:spPr>
          <a:xfrm>
            <a:off x="454362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B7CF9444-A1A7-5513-8489-1B0D0E6DF363}"/>
              </a:ext>
            </a:extLst>
          </p:cNvPr>
          <p:cNvSpPr/>
          <p:nvPr/>
        </p:nvSpPr>
        <p:spPr>
          <a:xfrm>
            <a:off x="706154" y="2988166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FFDB719-F580-D617-2411-4D021211A28C}"/>
              </a:ext>
            </a:extLst>
          </p:cNvPr>
          <p:cNvSpPr/>
          <p:nvPr/>
        </p:nvSpPr>
        <p:spPr>
          <a:xfrm>
            <a:off x="957946" y="2988166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10C89FA-2865-09F5-A22A-D318BA5DCA38}"/>
              </a:ext>
            </a:extLst>
          </p:cNvPr>
          <p:cNvSpPr/>
          <p:nvPr/>
        </p:nvSpPr>
        <p:spPr>
          <a:xfrm>
            <a:off x="1209738" y="2988166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20D5066D-9566-9A57-FCF1-77EFD761F992}"/>
              </a:ext>
            </a:extLst>
          </p:cNvPr>
          <p:cNvSpPr/>
          <p:nvPr/>
        </p:nvSpPr>
        <p:spPr>
          <a:xfrm>
            <a:off x="202570" y="330021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F97114A9-6DB7-8AC3-E34D-9F6A2294D23E}"/>
              </a:ext>
            </a:extLst>
          </p:cNvPr>
          <p:cNvSpPr/>
          <p:nvPr/>
        </p:nvSpPr>
        <p:spPr>
          <a:xfrm>
            <a:off x="454362" y="3299467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1F3C3F0B-BAA3-221B-D040-A60FFBB07F82}"/>
              </a:ext>
            </a:extLst>
          </p:cNvPr>
          <p:cNvSpPr/>
          <p:nvPr/>
        </p:nvSpPr>
        <p:spPr>
          <a:xfrm>
            <a:off x="706154" y="329946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1926E0E-0240-8418-0568-70EE7B82F290}"/>
              </a:ext>
            </a:extLst>
          </p:cNvPr>
          <p:cNvSpPr/>
          <p:nvPr/>
        </p:nvSpPr>
        <p:spPr>
          <a:xfrm>
            <a:off x="957946" y="3299467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962735C-B40C-91CF-BAF6-60605E672325}"/>
              </a:ext>
            </a:extLst>
          </p:cNvPr>
          <p:cNvSpPr/>
          <p:nvPr/>
        </p:nvSpPr>
        <p:spPr>
          <a:xfrm>
            <a:off x="1209738" y="3299467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592DFED6-30CE-6102-B17B-137D8C8DD4AE}"/>
              </a:ext>
            </a:extLst>
          </p:cNvPr>
          <p:cNvSpPr/>
          <p:nvPr/>
        </p:nvSpPr>
        <p:spPr>
          <a:xfrm>
            <a:off x="202570" y="3612260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076626E6-FEEE-16B5-3EE0-E68EAE4FD78C}"/>
              </a:ext>
            </a:extLst>
          </p:cNvPr>
          <p:cNvSpPr/>
          <p:nvPr/>
        </p:nvSpPr>
        <p:spPr>
          <a:xfrm>
            <a:off x="452628" y="3610768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98C01F0-928E-D593-6314-350F86FD3E17}"/>
              </a:ext>
            </a:extLst>
          </p:cNvPr>
          <p:cNvSpPr/>
          <p:nvPr/>
        </p:nvSpPr>
        <p:spPr>
          <a:xfrm>
            <a:off x="704420" y="3610768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636E5AA-DE8E-5C4C-48F4-24647F39B890}"/>
              </a:ext>
            </a:extLst>
          </p:cNvPr>
          <p:cNvSpPr/>
          <p:nvPr/>
        </p:nvSpPr>
        <p:spPr>
          <a:xfrm>
            <a:off x="956212" y="3610768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190A7A23-7841-685C-064E-67808AA8E492}"/>
              </a:ext>
            </a:extLst>
          </p:cNvPr>
          <p:cNvSpPr/>
          <p:nvPr/>
        </p:nvSpPr>
        <p:spPr>
          <a:xfrm>
            <a:off x="1208004" y="3610768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E4677333-5F8C-7F9A-5672-1DC1B294958B}"/>
              </a:ext>
            </a:extLst>
          </p:cNvPr>
          <p:cNvSpPr/>
          <p:nvPr/>
        </p:nvSpPr>
        <p:spPr>
          <a:xfrm>
            <a:off x="202570" y="392430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A86DE561-6BB9-4F6B-9DD6-74A48C9A34B7}"/>
              </a:ext>
            </a:extLst>
          </p:cNvPr>
          <p:cNvSpPr/>
          <p:nvPr/>
        </p:nvSpPr>
        <p:spPr>
          <a:xfrm>
            <a:off x="452628" y="3924307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73F73810-F2A0-49F7-26A2-547755F4A020}"/>
              </a:ext>
            </a:extLst>
          </p:cNvPr>
          <p:cNvSpPr/>
          <p:nvPr/>
        </p:nvSpPr>
        <p:spPr>
          <a:xfrm>
            <a:off x="704420" y="3924307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C4C26AAF-99BB-6517-832A-11912063717D}"/>
              </a:ext>
            </a:extLst>
          </p:cNvPr>
          <p:cNvSpPr/>
          <p:nvPr/>
        </p:nvSpPr>
        <p:spPr>
          <a:xfrm>
            <a:off x="956212" y="3924307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ABC3DBA6-D255-A942-2D2A-405448DB52F0}"/>
              </a:ext>
            </a:extLst>
          </p:cNvPr>
          <p:cNvSpPr/>
          <p:nvPr/>
        </p:nvSpPr>
        <p:spPr>
          <a:xfrm>
            <a:off x="1208004" y="3924307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D3AF203B-E952-C106-10C9-6B6E2DBFF3C1}"/>
              </a:ext>
            </a:extLst>
          </p:cNvPr>
          <p:cNvSpPr/>
          <p:nvPr/>
        </p:nvSpPr>
        <p:spPr>
          <a:xfrm>
            <a:off x="202570" y="4236355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40D99729-CF60-8C51-6CC0-E8841218913F}"/>
              </a:ext>
            </a:extLst>
          </p:cNvPr>
          <p:cNvSpPr/>
          <p:nvPr/>
        </p:nvSpPr>
        <p:spPr>
          <a:xfrm>
            <a:off x="452628" y="4233370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C20C45AB-9026-3B0A-0AD6-EE072B63ED77}"/>
              </a:ext>
            </a:extLst>
          </p:cNvPr>
          <p:cNvSpPr/>
          <p:nvPr/>
        </p:nvSpPr>
        <p:spPr>
          <a:xfrm>
            <a:off x="704420" y="4233370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671757FF-D8D9-C285-4295-6BBAF590E22B}"/>
              </a:ext>
            </a:extLst>
          </p:cNvPr>
          <p:cNvSpPr/>
          <p:nvPr/>
        </p:nvSpPr>
        <p:spPr>
          <a:xfrm>
            <a:off x="956212" y="4233370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779B8C16-B676-104B-CD65-4923CFD060A7}"/>
              </a:ext>
            </a:extLst>
          </p:cNvPr>
          <p:cNvSpPr/>
          <p:nvPr/>
        </p:nvSpPr>
        <p:spPr>
          <a:xfrm>
            <a:off x="1208004" y="4233370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C3753203-A9D3-9CCE-3D54-201B05EF2352}"/>
              </a:ext>
            </a:extLst>
          </p:cNvPr>
          <p:cNvSpPr/>
          <p:nvPr/>
        </p:nvSpPr>
        <p:spPr>
          <a:xfrm>
            <a:off x="2570294" y="2677593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B56F7487-EF2C-981C-379B-ED2E2C0F6955}"/>
              </a:ext>
            </a:extLst>
          </p:cNvPr>
          <p:cNvSpPr/>
          <p:nvPr/>
        </p:nvSpPr>
        <p:spPr>
          <a:xfrm>
            <a:off x="307471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D34F55D7-8412-611B-2839-1E1FE8F7D20A}"/>
              </a:ext>
            </a:extLst>
          </p:cNvPr>
          <p:cNvSpPr/>
          <p:nvPr/>
        </p:nvSpPr>
        <p:spPr>
          <a:xfrm>
            <a:off x="332691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16463805-747A-6DB2-09A4-AA8666DFE814}"/>
              </a:ext>
            </a:extLst>
          </p:cNvPr>
          <p:cNvSpPr/>
          <p:nvPr/>
        </p:nvSpPr>
        <p:spPr>
          <a:xfrm>
            <a:off x="3579126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56F9EEA9-3D92-CBDB-9E7C-6ECA5CEABCFF}"/>
              </a:ext>
            </a:extLst>
          </p:cNvPr>
          <p:cNvSpPr/>
          <p:nvPr/>
        </p:nvSpPr>
        <p:spPr>
          <a:xfrm>
            <a:off x="4335750" y="2677593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847D549E-6F4C-FF8F-7188-96BEDDE22E60}"/>
              </a:ext>
            </a:extLst>
          </p:cNvPr>
          <p:cNvSpPr/>
          <p:nvPr/>
        </p:nvSpPr>
        <p:spPr>
          <a:xfrm>
            <a:off x="4587958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7D912C93-92F4-9470-23C5-C8BD1873457C}"/>
              </a:ext>
            </a:extLst>
          </p:cNvPr>
          <p:cNvSpPr/>
          <p:nvPr/>
        </p:nvSpPr>
        <p:spPr>
          <a:xfrm>
            <a:off x="5092374" y="267759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79D3EC9A-CB6D-4494-2C52-F38B316131CC}"/>
              </a:ext>
            </a:extLst>
          </p:cNvPr>
          <p:cNvSpPr/>
          <p:nvPr/>
        </p:nvSpPr>
        <p:spPr>
          <a:xfrm>
            <a:off x="559679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1C0910F6-A704-936B-C5FC-DB68AE25F29D}"/>
              </a:ext>
            </a:extLst>
          </p:cNvPr>
          <p:cNvSpPr/>
          <p:nvPr/>
        </p:nvSpPr>
        <p:spPr>
          <a:xfrm>
            <a:off x="584899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ADC7F425-BC2B-5565-56E6-BACB53B7E3A2}"/>
              </a:ext>
            </a:extLst>
          </p:cNvPr>
          <p:cNvSpPr/>
          <p:nvPr/>
        </p:nvSpPr>
        <p:spPr>
          <a:xfrm>
            <a:off x="6101206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D6F3EF1C-1C9B-4B9A-C339-14EFCBA7D0A6}"/>
              </a:ext>
            </a:extLst>
          </p:cNvPr>
          <p:cNvSpPr/>
          <p:nvPr/>
        </p:nvSpPr>
        <p:spPr>
          <a:xfrm>
            <a:off x="6353414" y="2677593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56975EA0-D1F2-FDC9-360E-A940D9CCDEE9}"/>
              </a:ext>
            </a:extLst>
          </p:cNvPr>
          <p:cNvSpPr/>
          <p:nvPr/>
        </p:nvSpPr>
        <p:spPr>
          <a:xfrm>
            <a:off x="6857830" y="267759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2E83B33B-AFEC-EEE5-A3C3-D2DB82E2C263}"/>
              </a:ext>
            </a:extLst>
          </p:cNvPr>
          <p:cNvSpPr/>
          <p:nvPr/>
        </p:nvSpPr>
        <p:spPr>
          <a:xfrm>
            <a:off x="7110038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AF68A565-3AC4-7D0E-F71E-C51B8DD04E02}"/>
              </a:ext>
            </a:extLst>
          </p:cNvPr>
          <p:cNvSpPr/>
          <p:nvPr/>
        </p:nvSpPr>
        <p:spPr>
          <a:xfrm>
            <a:off x="7362246" y="2677593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79363478-5FDC-CF2F-D135-682915610F2C}"/>
              </a:ext>
            </a:extLst>
          </p:cNvPr>
          <p:cNvSpPr/>
          <p:nvPr/>
        </p:nvSpPr>
        <p:spPr>
          <a:xfrm>
            <a:off x="7614454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71062930-EF87-F2B1-54BB-AA8CCD00534A}"/>
              </a:ext>
            </a:extLst>
          </p:cNvPr>
          <p:cNvSpPr/>
          <p:nvPr/>
        </p:nvSpPr>
        <p:spPr>
          <a:xfrm>
            <a:off x="7866662" y="267759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66E9D630-2020-98A8-57BA-77F2365BA762}"/>
              </a:ext>
            </a:extLst>
          </p:cNvPr>
          <p:cNvSpPr/>
          <p:nvPr/>
        </p:nvSpPr>
        <p:spPr>
          <a:xfrm>
            <a:off x="811887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8C4C6589-CA3B-C311-DF9D-740E6691FCC1}"/>
              </a:ext>
            </a:extLst>
          </p:cNvPr>
          <p:cNvSpPr/>
          <p:nvPr/>
        </p:nvSpPr>
        <p:spPr>
          <a:xfrm>
            <a:off x="837107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DE0A673B-B007-07F6-31D1-837A0B630A61}"/>
              </a:ext>
            </a:extLst>
          </p:cNvPr>
          <p:cNvSpPr/>
          <p:nvPr/>
        </p:nvSpPr>
        <p:spPr>
          <a:xfrm>
            <a:off x="8623286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1331399A-A4EE-8892-0B4D-DC1F6E7AE1A2}"/>
              </a:ext>
            </a:extLst>
          </p:cNvPr>
          <p:cNvSpPr/>
          <p:nvPr/>
        </p:nvSpPr>
        <p:spPr>
          <a:xfrm>
            <a:off x="8875494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4A16BC24-34AE-1BCD-6635-21AD77F04328}"/>
              </a:ext>
            </a:extLst>
          </p:cNvPr>
          <p:cNvSpPr/>
          <p:nvPr/>
        </p:nvSpPr>
        <p:spPr>
          <a:xfrm>
            <a:off x="9379910" y="26775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B15C0FC3-EFC6-DE01-3666-124AF60385C1}"/>
              </a:ext>
            </a:extLst>
          </p:cNvPr>
          <p:cNvSpPr/>
          <p:nvPr/>
        </p:nvSpPr>
        <p:spPr>
          <a:xfrm>
            <a:off x="9632118" y="2677593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0E10D940-D51A-7F6F-8D8F-10FCC5CE9816}"/>
              </a:ext>
            </a:extLst>
          </p:cNvPr>
          <p:cNvSpPr/>
          <p:nvPr/>
        </p:nvSpPr>
        <p:spPr>
          <a:xfrm>
            <a:off x="9884313" y="2677593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5C248C0-0D61-091E-E5DD-C27362C8CD98}"/>
              </a:ext>
            </a:extLst>
          </p:cNvPr>
          <p:cNvSpPr txBox="1"/>
          <p:nvPr/>
        </p:nvSpPr>
        <p:spPr>
          <a:xfrm>
            <a:off x="2475835" y="2362999"/>
            <a:ext cx="2800768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Time-Sensitive Input Search Engine</a:t>
            </a: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723625C7-56B0-CF38-7436-BED51B96EE03}"/>
              </a:ext>
            </a:extLst>
          </p:cNvPr>
          <p:cNvCxnSpPr>
            <a:stCxn id="53" idx="3"/>
            <a:endCxn id="160" idx="1"/>
          </p:cNvCxnSpPr>
          <p:nvPr/>
        </p:nvCxnSpPr>
        <p:spPr>
          <a:xfrm flipV="1">
            <a:off x="1479328" y="2486110"/>
            <a:ext cx="996507" cy="107400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BD2C726-7905-5803-10DB-435C2C1DB923}"/>
              </a:ext>
            </a:extLst>
          </p:cNvPr>
          <p:cNvGrpSpPr/>
          <p:nvPr/>
        </p:nvGrpSpPr>
        <p:grpSpPr>
          <a:xfrm>
            <a:off x="2486275" y="3221581"/>
            <a:ext cx="2934624" cy="338536"/>
            <a:chOff x="2486275" y="3221581"/>
            <a:chExt cx="2934624" cy="338536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481A144-1DB2-1C58-535D-3D83A8F680BE}"/>
                </a:ext>
              </a:extLst>
            </p:cNvPr>
            <p:cNvSpPr/>
            <p:nvPr/>
          </p:nvSpPr>
          <p:spPr>
            <a:xfrm>
              <a:off x="3208245" y="3221582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04D9EB68-750D-C359-F6ED-7262BFA8AD9F}"/>
                </a:ext>
              </a:extLst>
            </p:cNvPr>
            <p:cNvSpPr/>
            <p:nvPr/>
          </p:nvSpPr>
          <p:spPr>
            <a:xfrm>
              <a:off x="3685558" y="3276549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AFBBB798-1BDA-04EE-8327-A15FCD2D6C17}"/>
                </a:ext>
              </a:extLst>
            </p:cNvPr>
            <p:cNvSpPr/>
            <p:nvPr/>
          </p:nvSpPr>
          <p:spPr>
            <a:xfrm>
              <a:off x="4120150" y="3276549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89CA0ED0-AB45-5259-9A2B-E06838A566C5}"/>
                </a:ext>
              </a:extLst>
            </p:cNvPr>
            <p:cNvSpPr/>
            <p:nvPr/>
          </p:nvSpPr>
          <p:spPr>
            <a:xfrm>
              <a:off x="4554743" y="3276549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9" name="Rounded Rectangle 118">
              <a:extLst>
                <a:ext uri="{FF2B5EF4-FFF2-40B4-BE49-F238E27FC236}">
                  <a16:creationId xmlns:a16="http://schemas.microsoft.com/office/drawing/2014/main" id="{2B757572-2BEE-D0AF-C357-5BF1E6CAB2EF}"/>
                </a:ext>
              </a:extLst>
            </p:cNvPr>
            <p:cNvSpPr/>
            <p:nvPr/>
          </p:nvSpPr>
          <p:spPr>
            <a:xfrm>
              <a:off x="3250966" y="3276549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20" name="Rounded Rectangle 119">
              <a:extLst>
                <a:ext uri="{FF2B5EF4-FFF2-40B4-BE49-F238E27FC236}">
                  <a16:creationId xmlns:a16="http://schemas.microsoft.com/office/drawing/2014/main" id="{22E08790-1DA4-1DAD-2B97-6C9FF4B49770}"/>
                </a:ext>
              </a:extLst>
            </p:cNvPr>
            <p:cNvSpPr/>
            <p:nvPr/>
          </p:nvSpPr>
          <p:spPr>
            <a:xfrm>
              <a:off x="5004035" y="3276549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D735D6B-34EE-2FBC-F47B-149EAC5F8DA2}"/>
                </a:ext>
              </a:extLst>
            </p:cNvPr>
            <p:cNvSpPr/>
            <p:nvPr/>
          </p:nvSpPr>
          <p:spPr>
            <a:xfrm>
              <a:off x="4964286" y="3221581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8B905FEC-7D3C-DED6-9CD7-9242C361184F}"/>
                </a:ext>
              </a:extLst>
            </p:cNvPr>
            <p:cNvSpPr/>
            <p:nvPr/>
          </p:nvSpPr>
          <p:spPr>
            <a:xfrm>
              <a:off x="2486275" y="3221581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1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1D4BA43-5112-27A0-D905-3CAE134AF0C2}"/>
              </a:ext>
            </a:extLst>
          </p:cNvPr>
          <p:cNvGrpSpPr/>
          <p:nvPr/>
        </p:nvGrpSpPr>
        <p:grpSpPr>
          <a:xfrm>
            <a:off x="5518806" y="3216766"/>
            <a:ext cx="2934624" cy="338536"/>
            <a:chOff x="5518806" y="3216766"/>
            <a:chExt cx="2934624" cy="3385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0896F6B-4497-7CA7-3EC8-61740F1159B5}"/>
                </a:ext>
              </a:extLst>
            </p:cNvPr>
            <p:cNvSpPr/>
            <p:nvPr/>
          </p:nvSpPr>
          <p:spPr>
            <a:xfrm>
              <a:off x="6240776" y="3216767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B1284199-B694-FA4F-CA18-19CAFA812C6A}"/>
                </a:ext>
              </a:extLst>
            </p:cNvPr>
            <p:cNvSpPr/>
            <p:nvPr/>
          </p:nvSpPr>
          <p:spPr>
            <a:xfrm>
              <a:off x="6718089" y="3271734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2CDF2A73-35B2-1C15-46B7-B12DD16E03AB}"/>
                </a:ext>
              </a:extLst>
            </p:cNvPr>
            <p:cNvSpPr/>
            <p:nvPr/>
          </p:nvSpPr>
          <p:spPr>
            <a:xfrm>
              <a:off x="7152681" y="3271734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6B6E1E19-6C87-9A43-263F-1D8E6FC4F8CC}"/>
                </a:ext>
              </a:extLst>
            </p:cNvPr>
            <p:cNvSpPr/>
            <p:nvPr/>
          </p:nvSpPr>
          <p:spPr>
            <a:xfrm>
              <a:off x="7587274" y="3271734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A8D60785-5976-6E9C-5F34-3196620ED726}"/>
                </a:ext>
              </a:extLst>
            </p:cNvPr>
            <p:cNvSpPr/>
            <p:nvPr/>
          </p:nvSpPr>
          <p:spPr>
            <a:xfrm>
              <a:off x="6283497" y="3271734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134D5D7-9D2B-C5DD-9F01-8BF1113B5305}"/>
                </a:ext>
              </a:extLst>
            </p:cNvPr>
            <p:cNvSpPr/>
            <p:nvPr/>
          </p:nvSpPr>
          <p:spPr>
            <a:xfrm>
              <a:off x="8036566" y="3271734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B5BCB56-9587-05AB-6397-D6D22EA7E2A6}"/>
                </a:ext>
              </a:extLst>
            </p:cNvPr>
            <p:cNvSpPr/>
            <p:nvPr/>
          </p:nvSpPr>
          <p:spPr>
            <a:xfrm>
              <a:off x="7996817" y="3216766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E3DB082-15D4-7342-9C90-45B0B5302FBB}"/>
                </a:ext>
              </a:extLst>
            </p:cNvPr>
            <p:cNvSpPr/>
            <p:nvPr/>
          </p:nvSpPr>
          <p:spPr>
            <a:xfrm>
              <a:off x="5518806" y="3216766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2</a:t>
              </a:r>
            </a:p>
          </p:txBody>
        </p:sp>
      </p:grp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6EEA793C-7361-6BD8-0641-656B8C936A5B}"/>
              </a:ext>
            </a:extLst>
          </p:cNvPr>
          <p:cNvCxnSpPr>
            <a:cxnSpLocks/>
            <a:stCxn id="134" idx="2"/>
            <a:endCxn id="23" idx="0"/>
          </p:cNvCxnSpPr>
          <p:nvPr/>
        </p:nvCxnSpPr>
        <p:spPr>
          <a:xfrm rot="16200000" flipH="1">
            <a:off x="6793043" y="563200"/>
            <a:ext cx="365541" cy="5051526"/>
          </a:xfrm>
          <a:prstGeom prst="curved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D5F1C65-0891-D292-E529-F8202745AA1C}"/>
              </a:ext>
            </a:extLst>
          </p:cNvPr>
          <p:cNvGrpSpPr/>
          <p:nvPr/>
        </p:nvGrpSpPr>
        <p:grpSpPr>
          <a:xfrm>
            <a:off x="8554005" y="3216766"/>
            <a:ext cx="2934624" cy="338536"/>
            <a:chOff x="8554005" y="3216766"/>
            <a:chExt cx="2934624" cy="33853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D97E8E2-5FC4-8507-6ACB-2E6746C85AE3}"/>
                </a:ext>
              </a:extLst>
            </p:cNvPr>
            <p:cNvSpPr/>
            <p:nvPr/>
          </p:nvSpPr>
          <p:spPr>
            <a:xfrm>
              <a:off x="9275975" y="3216767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43E629DB-7195-A14E-238C-DA17F55BF26D}"/>
                </a:ext>
              </a:extLst>
            </p:cNvPr>
            <p:cNvSpPr/>
            <p:nvPr/>
          </p:nvSpPr>
          <p:spPr>
            <a:xfrm>
              <a:off x="9753288" y="3271734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8F42A9B5-7D50-50D9-7DD3-2BA9B65A1B2E}"/>
                </a:ext>
              </a:extLst>
            </p:cNvPr>
            <p:cNvSpPr/>
            <p:nvPr/>
          </p:nvSpPr>
          <p:spPr>
            <a:xfrm>
              <a:off x="10187880" y="3271734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8B4436FC-F4BB-BF1A-0C5D-1E76F4375AF6}"/>
                </a:ext>
              </a:extLst>
            </p:cNvPr>
            <p:cNvSpPr/>
            <p:nvPr/>
          </p:nvSpPr>
          <p:spPr>
            <a:xfrm>
              <a:off x="10622473" y="3271734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98DB5354-F2B3-2C1D-B1E6-97710D3614E6}"/>
                </a:ext>
              </a:extLst>
            </p:cNvPr>
            <p:cNvSpPr/>
            <p:nvPr/>
          </p:nvSpPr>
          <p:spPr>
            <a:xfrm>
              <a:off x="9318696" y="3271734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CAF2B7B1-1F79-9E59-6255-CA3AFC161CEA}"/>
                </a:ext>
              </a:extLst>
            </p:cNvPr>
            <p:cNvSpPr/>
            <p:nvPr/>
          </p:nvSpPr>
          <p:spPr>
            <a:xfrm>
              <a:off x="11071765" y="3271734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0E2E469-3C54-3225-A069-4A10E99001A5}"/>
                </a:ext>
              </a:extLst>
            </p:cNvPr>
            <p:cNvSpPr/>
            <p:nvPr/>
          </p:nvSpPr>
          <p:spPr>
            <a:xfrm>
              <a:off x="11032016" y="3216766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B170716-DC63-60C0-F696-6C468214A71D}"/>
                </a:ext>
              </a:extLst>
            </p:cNvPr>
            <p:cNvSpPr/>
            <p:nvPr/>
          </p:nvSpPr>
          <p:spPr>
            <a:xfrm>
              <a:off x="8554005" y="3216766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3</a:t>
              </a:r>
            </a:p>
          </p:txBody>
        </p:sp>
      </p:grp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20556105-906A-D78B-A400-D3B4BF2E73F2}"/>
              </a:ext>
            </a:extLst>
          </p:cNvPr>
          <p:cNvCxnSpPr>
            <a:cxnSpLocks/>
            <a:stCxn id="151" idx="2"/>
            <a:endCxn id="25" idx="0"/>
          </p:cNvCxnSpPr>
          <p:nvPr/>
        </p:nvCxnSpPr>
        <p:spPr>
          <a:xfrm rot="16200000" flipH="1">
            <a:off x="9813345" y="1830433"/>
            <a:ext cx="365541" cy="2517059"/>
          </a:xfrm>
          <a:prstGeom prst="curvedConnector3">
            <a:avLst>
              <a:gd name="adj1" fmla="val 17596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9F193F56-562D-6618-8DB1-BF8EBAE71842}"/>
              </a:ext>
            </a:extLst>
          </p:cNvPr>
          <p:cNvCxnSpPr>
            <a:cxnSpLocks/>
            <a:stCxn id="140" idx="2"/>
            <a:endCxn id="18" idx="0"/>
          </p:cNvCxnSpPr>
          <p:nvPr/>
        </p:nvCxnSpPr>
        <p:spPr>
          <a:xfrm rot="16200000" flipH="1">
            <a:off x="7766963" y="1102528"/>
            <a:ext cx="365541" cy="3972870"/>
          </a:xfrm>
          <a:prstGeom prst="curvedConnector3">
            <a:avLst>
              <a:gd name="adj1" fmla="val 34504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FD18AAFA-A8AC-BCAB-EA5A-A8CED0F40601}"/>
              </a:ext>
            </a:extLst>
          </p:cNvPr>
          <p:cNvCxnSpPr>
            <a:cxnSpLocks/>
            <a:stCxn id="149" idx="2"/>
            <a:endCxn id="22" idx="0"/>
          </p:cNvCxnSpPr>
          <p:nvPr/>
        </p:nvCxnSpPr>
        <p:spPr>
          <a:xfrm rot="16200000" flipH="1">
            <a:off x="9336491" y="1802871"/>
            <a:ext cx="365541" cy="2572183"/>
          </a:xfrm>
          <a:prstGeom prst="curvedConnector3">
            <a:avLst>
              <a:gd name="adj1" fmla="val 322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9DCE81D-E7B0-B927-3F64-872663778D77}"/>
              </a:ext>
            </a:extLst>
          </p:cNvPr>
          <p:cNvSpPr/>
          <p:nvPr/>
        </p:nvSpPr>
        <p:spPr>
          <a:xfrm>
            <a:off x="2822489" y="2676119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4233971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A8CE4-7CA2-AAC2-4DFA-93C89C3A8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E115DEA7-DF7C-CA25-3FBC-037F2F9CE32B}"/>
              </a:ext>
            </a:extLst>
          </p:cNvPr>
          <p:cNvCxnSpPr>
            <a:cxnSpLocks/>
          </p:cNvCxnSpPr>
          <p:nvPr/>
        </p:nvCxnSpPr>
        <p:spPr>
          <a:xfrm>
            <a:off x="2475835" y="4470246"/>
            <a:ext cx="90322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B988866-5646-6892-3964-4038FAAB7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DB31A5-1168-0E19-83E6-D8CA9B3C8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5FD64E-5835-A203-2F78-8F7ECD04DB79}"/>
              </a:ext>
            </a:extLst>
          </p:cNvPr>
          <p:cNvSpPr txBox="1"/>
          <p:nvPr/>
        </p:nvSpPr>
        <p:spPr>
          <a:xfrm>
            <a:off x="168478" y="684664"/>
            <a:ext cx="1107996" cy="63094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Filter</a:t>
            </a:r>
            <a:br>
              <a:rPr lang="en-US" sz="20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444EC-26FC-28A9-FA83-F8DB3F2921F4}"/>
              </a:ext>
            </a:extLst>
          </p:cNvPr>
          <p:cNvSpPr txBox="1"/>
          <p:nvPr/>
        </p:nvSpPr>
        <p:spPr>
          <a:xfrm>
            <a:off x="1276474" y="684664"/>
            <a:ext cx="9316873" cy="630942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Reconstruct</a:t>
            </a:r>
          </a:p>
          <a:p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D6D58C-A09C-AE08-4962-7C993FC64FF1}"/>
              </a:ext>
            </a:extLst>
          </p:cNvPr>
          <p:cNvSpPr txBox="1"/>
          <p:nvPr/>
        </p:nvSpPr>
        <p:spPr>
          <a:xfrm>
            <a:off x="10593347" y="684664"/>
            <a:ext cx="1415772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Validate</a:t>
            </a:r>
            <a:br>
              <a:rPr lang="en-US" sz="2000" dirty="0">
                <a:latin typeface="Berkeley Mono" pitchFamily="49" charset="77"/>
              </a:rPr>
            </a:br>
            <a:endParaRPr lang="en-US" sz="1500" dirty="0">
              <a:latin typeface="Berkeley Mono" pitchFamily="49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98E2EA-90C3-9991-591D-7B5151C2C182}"/>
              </a:ext>
            </a:extLst>
          </p:cNvPr>
          <p:cNvSpPr txBox="1"/>
          <p:nvPr/>
        </p:nvSpPr>
        <p:spPr>
          <a:xfrm>
            <a:off x="464419" y="17254"/>
            <a:ext cx="218360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De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terministic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515928-66FE-F1D6-64AF-AF6703E3B796}"/>
              </a:ext>
            </a:extLst>
          </p:cNvPr>
          <p:cNvSpPr txBox="1"/>
          <p:nvPr/>
        </p:nvSpPr>
        <p:spPr>
          <a:xfrm>
            <a:off x="2635771" y="17254"/>
            <a:ext cx="309162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F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rame-based </a:t>
            </a:r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T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0999B7-675F-0DC5-4073-255EAA60C206}"/>
              </a:ext>
            </a:extLst>
          </p:cNvPr>
          <p:cNvSpPr txBox="1"/>
          <p:nvPr/>
        </p:nvSpPr>
        <p:spPr>
          <a:xfrm>
            <a:off x="1269407" y="972168"/>
            <a:ext cx="6878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When and what combination did the planning module process?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DEE904-3975-0E3F-98C2-E7786F454B3E}"/>
              </a:ext>
            </a:extLst>
          </p:cNvPr>
          <p:cNvSpPr txBox="1"/>
          <p:nvPr/>
        </p:nvSpPr>
        <p:spPr>
          <a:xfrm>
            <a:off x="144325" y="1411540"/>
            <a:ext cx="118647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During system-level testing, Planning module is triggered by </a:t>
            </a:r>
            <a:r>
              <a:rPr lang="en-US" sz="1500" b="1" dirty="0">
                <a:latin typeface="Berkeley Mono" pitchFamily="49" charset="77"/>
              </a:rPr>
              <a:t>events</a:t>
            </a:r>
            <a:r>
              <a:rPr lang="en-US" sz="1500" dirty="0">
                <a:latin typeface="Berkeley Mono" pitchFamily="49" charset="77"/>
              </a:rPr>
              <a:t> to aggregate messages from different cannels to construct input frame F = ⟨ </a:t>
            </a:r>
            <a:r>
              <a:rPr lang="en-US" sz="1500" b="1" dirty="0" err="1">
                <a:solidFill>
                  <a:srgbClr val="00B05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00B050"/>
                </a:solidFill>
                <a:latin typeface="Berkeley Mono" pitchFamily="49" charset="77"/>
              </a:rPr>
              <a:t>routing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7030A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7030A0"/>
                </a:solidFill>
                <a:latin typeface="Berkeley Mono" pitchFamily="49" charset="77"/>
              </a:rPr>
              <a:t>localization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FFC00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FFC000"/>
                </a:solidFill>
                <a:latin typeface="Berkeley Mono" pitchFamily="49" charset="77"/>
              </a:rPr>
              <a:t>traffic_light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0070C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0070C0"/>
                </a:solidFill>
                <a:latin typeface="Berkeley Mono" pitchFamily="49" charset="77"/>
              </a:rPr>
              <a:t>prediction</a:t>
            </a:r>
            <a:r>
              <a:rPr lang="en-US" sz="1500" dirty="0">
                <a:latin typeface="Berkeley Mono" pitchFamily="49" charset="77"/>
              </a:rPr>
              <a:t> ⟩ at time </a:t>
            </a:r>
            <a:r>
              <a:rPr lang="en-US" sz="1500" b="1" dirty="0" err="1">
                <a:latin typeface="Berkeley Mono" pitchFamily="49" charset="77"/>
              </a:rPr>
              <a:t>t</a:t>
            </a:r>
            <a:r>
              <a:rPr lang="en-US" sz="1500" b="1" baseline="-25000" dirty="0" err="1">
                <a:latin typeface="Berkeley Mono" pitchFamily="49" charset="77"/>
              </a:rPr>
              <a:t>F</a:t>
            </a:r>
            <a:r>
              <a:rPr lang="en-US" sz="1500" dirty="0">
                <a:latin typeface="Berkeley Mono" pitchFamily="49" charset="77"/>
              </a:rPr>
              <a:t> to produce </a:t>
            </a:r>
            <a:r>
              <a:rPr lang="en-US" sz="1500" b="1" dirty="0" err="1">
                <a:solidFill>
                  <a:srgbClr val="C0000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C00000"/>
                </a:solidFill>
                <a:latin typeface="Berkeley Mono" pitchFamily="49" charset="77"/>
              </a:rPr>
              <a:t>planning</a:t>
            </a:r>
            <a:r>
              <a:rPr lang="en-US" sz="1500" dirty="0">
                <a:latin typeface="Berkeley Mono" pitchFamily="49" charset="77"/>
              </a:rPr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E16BA1-3790-967E-2A5A-1CEF5C8D25FB}"/>
              </a:ext>
            </a:extLst>
          </p:cNvPr>
          <p:cNvSpPr txBox="1"/>
          <p:nvPr/>
        </p:nvSpPr>
        <p:spPr>
          <a:xfrm>
            <a:off x="170107" y="4035964"/>
            <a:ext cx="1307592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Relevant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Msgs</a:t>
            </a:r>
            <a:endParaRPr lang="en-US" sz="1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5376AE7-500A-6107-5843-25D1A88853E1}"/>
              </a:ext>
            </a:extLst>
          </p:cNvPr>
          <p:cNvSpPr/>
          <p:nvPr/>
        </p:nvSpPr>
        <p:spPr>
          <a:xfrm>
            <a:off x="202570" y="4349084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A248BE04-1A7D-C984-B086-70FD970BEEF0}"/>
              </a:ext>
            </a:extLst>
          </p:cNvPr>
          <p:cNvSpPr/>
          <p:nvPr/>
        </p:nvSpPr>
        <p:spPr>
          <a:xfrm>
            <a:off x="454362" y="4349084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E6500F82-FC23-7B50-1BA0-136EC8323F38}"/>
              </a:ext>
            </a:extLst>
          </p:cNvPr>
          <p:cNvSpPr/>
          <p:nvPr/>
        </p:nvSpPr>
        <p:spPr>
          <a:xfrm>
            <a:off x="706154" y="4349084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5AC5F52-A096-3962-CD0C-97647EABADCD}"/>
              </a:ext>
            </a:extLst>
          </p:cNvPr>
          <p:cNvSpPr/>
          <p:nvPr/>
        </p:nvSpPr>
        <p:spPr>
          <a:xfrm>
            <a:off x="957946" y="4349084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D5CFEAB-4608-8487-E846-A20CC6E21CD0}"/>
              </a:ext>
            </a:extLst>
          </p:cNvPr>
          <p:cNvSpPr/>
          <p:nvPr/>
        </p:nvSpPr>
        <p:spPr>
          <a:xfrm>
            <a:off x="1209738" y="4349084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40D9EF7-62A5-59C3-5F12-092B1E15FB46}"/>
              </a:ext>
            </a:extLst>
          </p:cNvPr>
          <p:cNvSpPr/>
          <p:nvPr/>
        </p:nvSpPr>
        <p:spPr>
          <a:xfrm>
            <a:off x="168478" y="4292825"/>
            <a:ext cx="1310850" cy="18805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18CA50A8-0B5B-A3FD-D34E-5CAEA111007F}"/>
              </a:ext>
            </a:extLst>
          </p:cNvPr>
          <p:cNvSpPr/>
          <p:nvPr/>
        </p:nvSpPr>
        <p:spPr>
          <a:xfrm>
            <a:off x="202570" y="4661131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DF3E555-D9FF-5786-376F-5EDF10442CEB}"/>
              </a:ext>
            </a:extLst>
          </p:cNvPr>
          <p:cNvSpPr/>
          <p:nvPr/>
        </p:nvSpPr>
        <p:spPr>
          <a:xfrm>
            <a:off x="454362" y="4661131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4A299043-8C8F-B4D3-BFCE-140DBCFAA2C3}"/>
              </a:ext>
            </a:extLst>
          </p:cNvPr>
          <p:cNvSpPr/>
          <p:nvPr/>
        </p:nvSpPr>
        <p:spPr>
          <a:xfrm>
            <a:off x="706154" y="4661131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1702AC97-A0E7-FB38-A97E-EA0A328C6AD7}"/>
              </a:ext>
            </a:extLst>
          </p:cNvPr>
          <p:cNvSpPr/>
          <p:nvPr/>
        </p:nvSpPr>
        <p:spPr>
          <a:xfrm>
            <a:off x="957946" y="4661131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5CD52E82-34B4-D63F-CF6A-6134539F58FF}"/>
              </a:ext>
            </a:extLst>
          </p:cNvPr>
          <p:cNvSpPr/>
          <p:nvPr/>
        </p:nvSpPr>
        <p:spPr>
          <a:xfrm>
            <a:off x="1209738" y="4661131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AD1169B-B0A6-88C0-7815-D57BEDD3BDA0}"/>
              </a:ext>
            </a:extLst>
          </p:cNvPr>
          <p:cNvSpPr/>
          <p:nvPr/>
        </p:nvSpPr>
        <p:spPr>
          <a:xfrm>
            <a:off x="202570" y="4973178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BE04DCAF-877C-D266-4FED-91F94D912803}"/>
              </a:ext>
            </a:extLst>
          </p:cNvPr>
          <p:cNvSpPr/>
          <p:nvPr/>
        </p:nvSpPr>
        <p:spPr>
          <a:xfrm>
            <a:off x="454362" y="4972432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EC1AF5C1-ED9C-FC41-531A-07A57E704199}"/>
              </a:ext>
            </a:extLst>
          </p:cNvPr>
          <p:cNvSpPr/>
          <p:nvPr/>
        </p:nvSpPr>
        <p:spPr>
          <a:xfrm>
            <a:off x="706154" y="4972432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FF09668-D283-E736-46D6-07422E151C5A}"/>
              </a:ext>
            </a:extLst>
          </p:cNvPr>
          <p:cNvSpPr/>
          <p:nvPr/>
        </p:nvSpPr>
        <p:spPr>
          <a:xfrm>
            <a:off x="957946" y="4972432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2C8A71C-386F-FE7F-6CF8-C68E7C1F3646}"/>
              </a:ext>
            </a:extLst>
          </p:cNvPr>
          <p:cNvSpPr/>
          <p:nvPr/>
        </p:nvSpPr>
        <p:spPr>
          <a:xfrm>
            <a:off x="1209738" y="4972432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3B039664-30C7-AFA3-1F9B-D7E9F54C24B4}"/>
              </a:ext>
            </a:extLst>
          </p:cNvPr>
          <p:cNvSpPr/>
          <p:nvPr/>
        </p:nvSpPr>
        <p:spPr>
          <a:xfrm>
            <a:off x="202570" y="5285225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6E2988FF-3565-AD89-65F5-33688E585223}"/>
              </a:ext>
            </a:extLst>
          </p:cNvPr>
          <p:cNvSpPr/>
          <p:nvPr/>
        </p:nvSpPr>
        <p:spPr>
          <a:xfrm>
            <a:off x="452628" y="5283733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CE96CCDD-E11E-CBF8-FA68-360D75488FB2}"/>
              </a:ext>
            </a:extLst>
          </p:cNvPr>
          <p:cNvSpPr/>
          <p:nvPr/>
        </p:nvSpPr>
        <p:spPr>
          <a:xfrm>
            <a:off x="704420" y="528373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14E8639-F281-4D7D-36DE-7FAF6628056C}"/>
              </a:ext>
            </a:extLst>
          </p:cNvPr>
          <p:cNvSpPr/>
          <p:nvPr/>
        </p:nvSpPr>
        <p:spPr>
          <a:xfrm>
            <a:off x="956212" y="528373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3C88D5E7-E75E-AE32-1691-7B63D5969302}"/>
              </a:ext>
            </a:extLst>
          </p:cNvPr>
          <p:cNvSpPr/>
          <p:nvPr/>
        </p:nvSpPr>
        <p:spPr>
          <a:xfrm>
            <a:off x="1208004" y="5283733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D24E0695-65EC-FD82-23D4-2032E8994B1E}"/>
              </a:ext>
            </a:extLst>
          </p:cNvPr>
          <p:cNvSpPr/>
          <p:nvPr/>
        </p:nvSpPr>
        <p:spPr>
          <a:xfrm>
            <a:off x="202570" y="5597272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5EC79B8E-2A96-E04D-2A51-4ED205605B97}"/>
              </a:ext>
            </a:extLst>
          </p:cNvPr>
          <p:cNvSpPr/>
          <p:nvPr/>
        </p:nvSpPr>
        <p:spPr>
          <a:xfrm>
            <a:off x="452628" y="5597272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35737439-47E5-82CA-945D-0067D17BB6E9}"/>
              </a:ext>
            </a:extLst>
          </p:cNvPr>
          <p:cNvSpPr/>
          <p:nvPr/>
        </p:nvSpPr>
        <p:spPr>
          <a:xfrm>
            <a:off x="704420" y="5597272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D9EDCD0A-E11F-5C39-69B6-36066225FFE8}"/>
              </a:ext>
            </a:extLst>
          </p:cNvPr>
          <p:cNvSpPr/>
          <p:nvPr/>
        </p:nvSpPr>
        <p:spPr>
          <a:xfrm>
            <a:off x="956212" y="5597272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8BFD7925-8380-443D-DD1F-B92F60CF5EB1}"/>
              </a:ext>
            </a:extLst>
          </p:cNvPr>
          <p:cNvSpPr/>
          <p:nvPr/>
        </p:nvSpPr>
        <p:spPr>
          <a:xfrm>
            <a:off x="1208004" y="5597272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8189FE0F-F9B8-9F69-3D85-0A35C35EA481}"/>
              </a:ext>
            </a:extLst>
          </p:cNvPr>
          <p:cNvSpPr/>
          <p:nvPr/>
        </p:nvSpPr>
        <p:spPr>
          <a:xfrm>
            <a:off x="202570" y="5909320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00E221C5-45A9-CA59-4596-B2D2D94FDCB6}"/>
              </a:ext>
            </a:extLst>
          </p:cNvPr>
          <p:cNvSpPr/>
          <p:nvPr/>
        </p:nvSpPr>
        <p:spPr>
          <a:xfrm>
            <a:off x="452628" y="5906335"/>
            <a:ext cx="228600" cy="22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DA479AA-71C8-CEE8-1D16-A15406C71D9A}"/>
              </a:ext>
            </a:extLst>
          </p:cNvPr>
          <p:cNvSpPr/>
          <p:nvPr/>
        </p:nvSpPr>
        <p:spPr>
          <a:xfrm>
            <a:off x="704420" y="5906335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B202F7CD-1896-F47F-7703-3E42D323758B}"/>
              </a:ext>
            </a:extLst>
          </p:cNvPr>
          <p:cNvSpPr/>
          <p:nvPr/>
        </p:nvSpPr>
        <p:spPr>
          <a:xfrm>
            <a:off x="956212" y="5906335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6CB2A802-B57D-F817-1EA5-365B7683643F}"/>
              </a:ext>
            </a:extLst>
          </p:cNvPr>
          <p:cNvSpPr/>
          <p:nvPr/>
        </p:nvSpPr>
        <p:spPr>
          <a:xfrm>
            <a:off x="1208004" y="5906335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B18DFF70-FF6E-E288-1199-9356078789EA}"/>
              </a:ext>
            </a:extLst>
          </p:cNvPr>
          <p:cNvSpPr/>
          <p:nvPr/>
        </p:nvSpPr>
        <p:spPr>
          <a:xfrm>
            <a:off x="2570294" y="4350558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FEC4DF41-1C0B-217C-4E4F-96F242EA7381}"/>
              </a:ext>
            </a:extLst>
          </p:cNvPr>
          <p:cNvSpPr/>
          <p:nvPr/>
        </p:nvSpPr>
        <p:spPr>
          <a:xfrm>
            <a:off x="3074710" y="4350558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78C6250D-AFFB-0FD1-3077-39399668359D}"/>
              </a:ext>
            </a:extLst>
          </p:cNvPr>
          <p:cNvSpPr/>
          <p:nvPr/>
        </p:nvSpPr>
        <p:spPr>
          <a:xfrm>
            <a:off x="3326918" y="4350558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0FF84463-9E8B-7DE1-14F4-2E0D7503AC19}"/>
              </a:ext>
            </a:extLst>
          </p:cNvPr>
          <p:cNvSpPr/>
          <p:nvPr/>
        </p:nvSpPr>
        <p:spPr>
          <a:xfrm>
            <a:off x="3579126" y="4350558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420DDD8B-F304-70DC-2908-A4F00ADE3B85}"/>
              </a:ext>
            </a:extLst>
          </p:cNvPr>
          <p:cNvSpPr/>
          <p:nvPr/>
        </p:nvSpPr>
        <p:spPr>
          <a:xfrm>
            <a:off x="4335750" y="4350558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086823FA-368F-BD0C-DE2E-7C0F237A82F6}"/>
              </a:ext>
            </a:extLst>
          </p:cNvPr>
          <p:cNvSpPr/>
          <p:nvPr/>
        </p:nvSpPr>
        <p:spPr>
          <a:xfrm>
            <a:off x="4587958" y="4350558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6F7797BA-C7D7-2A44-282F-F3A657770CB6}"/>
              </a:ext>
            </a:extLst>
          </p:cNvPr>
          <p:cNvSpPr/>
          <p:nvPr/>
        </p:nvSpPr>
        <p:spPr>
          <a:xfrm>
            <a:off x="5092374" y="4350558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BE3BD4FB-4EBC-B458-9FFF-9DD301F271DA}"/>
              </a:ext>
            </a:extLst>
          </p:cNvPr>
          <p:cNvSpPr/>
          <p:nvPr/>
        </p:nvSpPr>
        <p:spPr>
          <a:xfrm>
            <a:off x="5596790" y="4350558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BCE36B49-AF46-E8E5-58E8-3912A1528B6E}"/>
              </a:ext>
            </a:extLst>
          </p:cNvPr>
          <p:cNvSpPr/>
          <p:nvPr/>
        </p:nvSpPr>
        <p:spPr>
          <a:xfrm>
            <a:off x="5848998" y="4350558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452E5D0D-B56B-0834-82AB-92B0C25CDC06}"/>
              </a:ext>
            </a:extLst>
          </p:cNvPr>
          <p:cNvSpPr/>
          <p:nvPr/>
        </p:nvSpPr>
        <p:spPr>
          <a:xfrm>
            <a:off x="6101206" y="4350558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250C2AA0-558E-A20E-68BB-D98CE5E4443F}"/>
              </a:ext>
            </a:extLst>
          </p:cNvPr>
          <p:cNvSpPr/>
          <p:nvPr/>
        </p:nvSpPr>
        <p:spPr>
          <a:xfrm>
            <a:off x="6353414" y="4350558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A3A97821-56BA-CE02-ACE1-6879B9D8A084}"/>
              </a:ext>
            </a:extLst>
          </p:cNvPr>
          <p:cNvSpPr/>
          <p:nvPr/>
        </p:nvSpPr>
        <p:spPr>
          <a:xfrm>
            <a:off x="6857830" y="4350558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FCF62D0B-509F-29FB-8359-9411F72FF2E9}"/>
              </a:ext>
            </a:extLst>
          </p:cNvPr>
          <p:cNvSpPr/>
          <p:nvPr/>
        </p:nvSpPr>
        <p:spPr>
          <a:xfrm>
            <a:off x="7110038" y="4350558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9D6812FF-031A-CE9D-622A-056DEE654D0A}"/>
              </a:ext>
            </a:extLst>
          </p:cNvPr>
          <p:cNvSpPr/>
          <p:nvPr/>
        </p:nvSpPr>
        <p:spPr>
          <a:xfrm>
            <a:off x="7362246" y="4350558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9B074B7F-2542-1EED-4869-B65F14C3213D}"/>
              </a:ext>
            </a:extLst>
          </p:cNvPr>
          <p:cNvSpPr/>
          <p:nvPr/>
        </p:nvSpPr>
        <p:spPr>
          <a:xfrm>
            <a:off x="7614454" y="4350558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41F03583-AAE1-26B5-7985-B7CF8812D77D}"/>
              </a:ext>
            </a:extLst>
          </p:cNvPr>
          <p:cNvSpPr/>
          <p:nvPr/>
        </p:nvSpPr>
        <p:spPr>
          <a:xfrm>
            <a:off x="7866662" y="4350558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154FEBB7-ED1D-C7B6-86A4-ABDC50ADA77B}"/>
              </a:ext>
            </a:extLst>
          </p:cNvPr>
          <p:cNvSpPr/>
          <p:nvPr/>
        </p:nvSpPr>
        <p:spPr>
          <a:xfrm>
            <a:off x="8118870" y="4350558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84B4EFA5-9F0D-2A19-6D04-92B38970E32B}"/>
              </a:ext>
            </a:extLst>
          </p:cNvPr>
          <p:cNvSpPr/>
          <p:nvPr/>
        </p:nvSpPr>
        <p:spPr>
          <a:xfrm>
            <a:off x="8371078" y="4350558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B0C06061-6196-D1CD-5B14-136380CB08B4}"/>
              </a:ext>
            </a:extLst>
          </p:cNvPr>
          <p:cNvSpPr/>
          <p:nvPr/>
        </p:nvSpPr>
        <p:spPr>
          <a:xfrm>
            <a:off x="8623286" y="4350558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B8D98954-7576-C5DD-68B9-851B65E78BEF}"/>
              </a:ext>
            </a:extLst>
          </p:cNvPr>
          <p:cNvSpPr/>
          <p:nvPr/>
        </p:nvSpPr>
        <p:spPr>
          <a:xfrm>
            <a:off x="8875494" y="4350558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D71E8D03-887B-DB46-312F-8AA1E734F089}"/>
              </a:ext>
            </a:extLst>
          </p:cNvPr>
          <p:cNvSpPr/>
          <p:nvPr/>
        </p:nvSpPr>
        <p:spPr>
          <a:xfrm>
            <a:off x="9379910" y="4350558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51556867-34CB-356E-0AC1-89A2C3B25F02}"/>
              </a:ext>
            </a:extLst>
          </p:cNvPr>
          <p:cNvSpPr/>
          <p:nvPr/>
        </p:nvSpPr>
        <p:spPr>
          <a:xfrm>
            <a:off x="9632118" y="4350558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0ED05B2A-6868-95E1-8C10-2EFA966684BF}"/>
              </a:ext>
            </a:extLst>
          </p:cNvPr>
          <p:cNvSpPr/>
          <p:nvPr/>
        </p:nvSpPr>
        <p:spPr>
          <a:xfrm>
            <a:off x="9884313" y="4350558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06D8A11-E49D-D825-EAF1-31AABFA1FCB3}"/>
              </a:ext>
            </a:extLst>
          </p:cNvPr>
          <p:cNvSpPr txBox="1"/>
          <p:nvPr/>
        </p:nvSpPr>
        <p:spPr>
          <a:xfrm>
            <a:off x="2475835" y="4035964"/>
            <a:ext cx="2800768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Time-Sensitive Input Search Engine</a:t>
            </a: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89EE4A2C-C6B0-6905-EC96-087E5A861424}"/>
              </a:ext>
            </a:extLst>
          </p:cNvPr>
          <p:cNvCxnSpPr>
            <a:stCxn id="53" idx="3"/>
            <a:endCxn id="160" idx="1"/>
          </p:cNvCxnSpPr>
          <p:nvPr/>
        </p:nvCxnSpPr>
        <p:spPr>
          <a:xfrm flipV="1">
            <a:off x="1479328" y="4159075"/>
            <a:ext cx="996507" cy="107400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7BFBA8-67BA-8686-A9F9-2A1F65031685}"/>
              </a:ext>
            </a:extLst>
          </p:cNvPr>
          <p:cNvGrpSpPr/>
          <p:nvPr/>
        </p:nvGrpSpPr>
        <p:grpSpPr>
          <a:xfrm>
            <a:off x="2486275" y="4894546"/>
            <a:ext cx="2934624" cy="338536"/>
            <a:chOff x="2486275" y="4894546"/>
            <a:chExt cx="2934624" cy="338536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35402C5-A5F9-65F9-B8D2-221C61608989}"/>
                </a:ext>
              </a:extLst>
            </p:cNvPr>
            <p:cNvSpPr/>
            <p:nvPr/>
          </p:nvSpPr>
          <p:spPr>
            <a:xfrm>
              <a:off x="3208245" y="4894547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205CEE13-6F41-C453-96E5-0F824F963151}"/>
                </a:ext>
              </a:extLst>
            </p:cNvPr>
            <p:cNvSpPr/>
            <p:nvPr/>
          </p:nvSpPr>
          <p:spPr>
            <a:xfrm>
              <a:off x="3685558" y="4949514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ED94128D-E3D4-1698-07BB-D6612FCF2373}"/>
                </a:ext>
              </a:extLst>
            </p:cNvPr>
            <p:cNvSpPr/>
            <p:nvPr/>
          </p:nvSpPr>
          <p:spPr>
            <a:xfrm>
              <a:off x="4120150" y="4949514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08355E4E-7F3D-61E4-94CD-E0C498F97B9F}"/>
                </a:ext>
              </a:extLst>
            </p:cNvPr>
            <p:cNvSpPr/>
            <p:nvPr/>
          </p:nvSpPr>
          <p:spPr>
            <a:xfrm>
              <a:off x="4554743" y="4949514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9" name="Rounded Rectangle 118">
              <a:extLst>
                <a:ext uri="{FF2B5EF4-FFF2-40B4-BE49-F238E27FC236}">
                  <a16:creationId xmlns:a16="http://schemas.microsoft.com/office/drawing/2014/main" id="{2A8D5C69-90E1-9AAB-9783-EA9A7D4EFC88}"/>
                </a:ext>
              </a:extLst>
            </p:cNvPr>
            <p:cNvSpPr/>
            <p:nvPr/>
          </p:nvSpPr>
          <p:spPr>
            <a:xfrm>
              <a:off x="3250966" y="4949514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20" name="Rounded Rectangle 119">
              <a:extLst>
                <a:ext uri="{FF2B5EF4-FFF2-40B4-BE49-F238E27FC236}">
                  <a16:creationId xmlns:a16="http://schemas.microsoft.com/office/drawing/2014/main" id="{6835BCC5-284A-2D32-5B47-E58F57F386CB}"/>
                </a:ext>
              </a:extLst>
            </p:cNvPr>
            <p:cNvSpPr/>
            <p:nvPr/>
          </p:nvSpPr>
          <p:spPr>
            <a:xfrm>
              <a:off x="5004035" y="4949514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C91B2DD-E3B0-1915-AB0E-C2331AE30D8E}"/>
                </a:ext>
              </a:extLst>
            </p:cNvPr>
            <p:cNvSpPr/>
            <p:nvPr/>
          </p:nvSpPr>
          <p:spPr>
            <a:xfrm>
              <a:off x="4964286" y="4894546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CE62B82F-0B99-B9C7-95BA-A4FEEC8454D9}"/>
                </a:ext>
              </a:extLst>
            </p:cNvPr>
            <p:cNvSpPr/>
            <p:nvPr/>
          </p:nvSpPr>
          <p:spPr>
            <a:xfrm>
              <a:off x="2486275" y="4894546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86B3A17-0EB9-2154-03C9-45E769523E49}"/>
              </a:ext>
            </a:extLst>
          </p:cNvPr>
          <p:cNvGrpSpPr/>
          <p:nvPr/>
        </p:nvGrpSpPr>
        <p:grpSpPr>
          <a:xfrm>
            <a:off x="5518806" y="4889731"/>
            <a:ext cx="2934624" cy="338536"/>
            <a:chOff x="5518806" y="4889731"/>
            <a:chExt cx="2934624" cy="3385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6A8393-EF22-0359-A600-C1F237F57512}"/>
                </a:ext>
              </a:extLst>
            </p:cNvPr>
            <p:cNvSpPr/>
            <p:nvPr/>
          </p:nvSpPr>
          <p:spPr>
            <a:xfrm>
              <a:off x="6240776" y="4889732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9271306F-A7F7-BA80-FE21-50E70D802B15}"/>
                </a:ext>
              </a:extLst>
            </p:cNvPr>
            <p:cNvSpPr/>
            <p:nvPr/>
          </p:nvSpPr>
          <p:spPr>
            <a:xfrm>
              <a:off x="6718089" y="4944699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B8F21193-A82A-E782-7075-C8BA28466AD8}"/>
                </a:ext>
              </a:extLst>
            </p:cNvPr>
            <p:cNvSpPr/>
            <p:nvPr/>
          </p:nvSpPr>
          <p:spPr>
            <a:xfrm>
              <a:off x="7152681" y="4944699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60BB665-168A-F72E-9409-58564B6C8D1C}"/>
                </a:ext>
              </a:extLst>
            </p:cNvPr>
            <p:cNvSpPr/>
            <p:nvPr/>
          </p:nvSpPr>
          <p:spPr>
            <a:xfrm>
              <a:off x="7587274" y="4944699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F65064E5-2A9A-90FF-AE8E-4EF7C808E232}"/>
                </a:ext>
              </a:extLst>
            </p:cNvPr>
            <p:cNvSpPr/>
            <p:nvPr/>
          </p:nvSpPr>
          <p:spPr>
            <a:xfrm>
              <a:off x="6283497" y="4944699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BC01F38A-FCF6-4075-24D9-666776197EC7}"/>
                </a:ext>
              </a:extLst>
            </p:cNvPr>
            <p:cNvSpPr/>
            <p:nvPr/>
          </p:nvSpPr>
          <p:spPr>
            <a:xfrm>
              <a:off x="8036566" y="4944699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36F409A-96CC-D4EF-E785-584A6EB17304}"/>
                </a:ext>
              </a:extLst>
            </p:cNvPr>
            <p:cNvSpPr/>
            <p:nvPr/>
          </p:nvSpPr>
          <p:spPr>
            <a:xfrm>
              <a:off x="7996817" y="4889731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FBEA177-1EEE-719D-57E4-267F10AF8C1F}"/>
                </a:ext>
              </a:extLst>
            </p:cNvPr>
            <p:cNvSpPr/>
            <p:nvPr/>
          </p:nvSpPr>
          <p:spPr>
            <a:xfrm>
              <a:off x="5518806" y="4889731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F19D0A1-D68E-D2D3-36CA-B38DA5A7A65B}"/>
              </a:ext>
            </a:extLst>
          </p:cNvPr>
          <p:cNvGrpSpPr/>
          <p:nvPr/>
        </p:nvGrpSpPr>
        <p:grpSpPr>
          <a:xfrm>
            <a:off x="8554005" y="4889731"/>
            <a:ext cx="2934624" cy="338536"/>
            <a:chOff x="8554005" y="4889731"/>
            <a:chExt cx="2934624" cy="33853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D955FA7-4493-213B-BC18-9A83CAEF3FB4}"/>
                </a:ext>
              </a:extLst>
            </p:cNvPr>
            <p:cNvSpPr/>
            <p:nvPr/>
          </p:nvSpPr>
          <p:spPr>
            <a:xfrm>
              <a:off x="9275975" y="4889732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168DE307-3EB8-DEA2-9D8A-FC7F8B6C12AB}"/>
                </a:ext>
              </a:extLst>
            </p:cNvPr>
            <p:cNvSpPr/>
            <p:nvPr/>
          </p:nvSpPr>
          <p:spPr>
            <a:xfrm>
              <a:off x="9753288" y="4944699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E9EA0434-4A28-4CEE-C0BD-17296C02107E}"/>
                </a:ext>
              </a:extLst>
            </p:cNvPr>
            <p:cNvSpPr/>
            <p:nvPr/>
          </p:nvSpPr>
          <p:spPr>
            <a:xfrm>
              <a:off x="10187880" y="4944699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916774C9-8B4F-B011-1339-A7295A935EE3}"/>
                </a:ext>
              </a:extLst>
            </p:cNvPr>
            <p:cNvSpPr/>
            <p:nvPr/>
          </p:nvSpPr>
          <p:spPr>
            <a:xfrm>
              <a:off x="10622473" y="4944699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BF78948-9C70-049C-7631-7E45D4B589C9}"/>
                </a:ext>
              </a:extLst>
            </p:cNvPr>
            <p:cNvSpPr/>
            <p:nvPr/>
          </p:nvSpPr>
          <p:spPr>
            <a:xfrm>
              <a:off x="9318696" y="4944699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5947CEA5-7B5D-992C-E275-FEDA41B8BDE3}"/>
                </a:ext>
              </a:extLst>
            </p:cNvPr>
            <p:cNvSpPr/>
            <p:nvPr/>
          </p:nvSpPr>
          <p:spPr>
            <a:xfrm>
              <a:off x="11071765" y="4944699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59CF67C-36A4-263D-6C88-B05C8DDFC974}"/>
                </a:ext>
              </a:extLst>
            </p:cNvPr>
            <p:cNvSpPr/>
            <p:nvPr/>
          </p:nvSpPr>
          <p:spPr>
            <a:xfrm>
              <a:off x="11032016" y="4889731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9D85EF-72AE-8C3B-3D8E-F9C1D3743DB1}"/>
                </a:ext>
              </a:extLst>
            </p:cNvPr>
            <p:cNvSpPr/>
            <p:nvPr/>
          </p:nvSpPr>
          <p:spPr>
            <a:xfrm>
              <a:off x="8554005" y="4889731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3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0BC6F4-8869-FE03-1BD5-6796263E2AC7}"/>
              </a:ext>
            </a:extLst>
          </p:cNvPr>
          <p:cNvGrpSpPr/>
          <p:nvPr/>
        </p:nvGrpSpPr>
        <p:grpSpPr>
          <a:xfrm>
            <a:off x="5518806" y="5834800"/>
            <a:ext cx="2934624" cy="338536"/>
            <a:chOff x="5518806" y="5834800"/>
            <a:chExt cx="2934624" cy="33853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1125453-7943-5B98-8BF8-0CEFC652851E}"/>
                </a:ext>
              </a:extLst>
            </p:cNvPr>
            <p:cNvSpPr/>
            <p:nvPr/>
          </p:nvSpPr>
          <p:spPr>
            <a:xfrm>
              <a:off x="6240776" y="5834801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811C4ECF-664B-A25C-E760-05DA1D1CFB17}"/>
                </a:ext>
              </a:extLst>
            </p:cNvPr>
            <p:cNvSpPr/>
            <p:nvPr/>
          </p:nvSpPr>
          <p:spPr>
            <a:xfrm>
              <a:off x="6718089" y="5889768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latin typeface="Berkeley Mono" pitchFamily="49" charset="77"/>
                </a:rPr>
                <a:t>m</a:t>
              </a:r>
              <a:r>
                <a:rPr lang="en-US" sz="1000" baseline="30000" dirty="0" err="1">
                  <a:latin typeface="Berkeley Mono" pitchFamily="49" charset="77"/>
                </a:rPr>
                <a:t>N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4BAC48E-AFD5-9D0D-9E92-81F0E8311F02}"/>
                </a:ext>
              </a:extLst>
            </p:cNvPr>
            <p:cNvSpPr/>
            <p:nvPr/>
          </p:nvSpPr>
          <p:spPr>
            <a:xfrm>
              <a:off x="7152681" y="5889768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latin typeface="Berkeley Mono" pitchFamily="49" charset="77"/>
                </a:rPr>
                <a:t>m</a:t>
              </a:r>
              <a:r>
                <a:rPr lang="en-US" sz="1000" baseline="30000" dirty="0" err="1">
                  <a:latin typeface="Berkeley Mono" pitchFamily="49" charset="77"/>
                </a:rPr>
                <a:t>N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1C3A8604-1269-8F14-A9D1-56090E103B9A}"/>
                </a:ext>
              </a:extLst>
            </p:cNvPr>
            <p:cNvSpPr/>
            <p:nvPr/>
          </p:nvSpPr>
          <p:spPr>
            <a:xfrm>
              <a:off x="7587274" y="5889768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latin typeface="Berkeley Mono" pitchFamily="49" charset="77"/>
                </a:rPr>
                <a:t>m</a:t>
              </a:r>
              <a:r>
                <a:rPr lang="en-US" sz="1000" baseline="30000" dirty="0" err="1">
                  <a:latin typeface="Berkeley Mono" pitchFamily="49" charset="77"/>
                </a:rPr>
                <a:t>N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063F1833-3A24-3139-FE2C-CB6C54D979D3}"/>
                </a:ext>
              </a:extLst>
            </p:cNvPr>
            <p:cNvSpPr/>
            <p:nvPr/>
          </p:nvSpPr>
          <p:spPr>
            <a:xfrm>
              <a:off x="6283497" y="5889768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latin typeface="Berkeley Mono" pitchFamily="49" charset="77"/>
                </a:rPr>
                <a:t>m</a:t>
              </a:r>
              <a:r>
                <a:rPr lang="en-US" sz="1000" baseline="30000" dirty="0" err="1">
                  <a:latin typeface="Berkeley Mono" pitchFamily="49" charset="77"/>
                </a:rPr>
                <a:t>N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5EBF4718-C551-8406-0B67-F419BA2CE6DB}"/>
                </a:ext>
              </a:extLst>
            </p:cNvPr>
            <p:cNvSpPr/>
            <p:nvPr/>
          </p:nvSpPr>
          <p:spPr>
            <a:xfrm>
              <a:off x="8036566" y="5889768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N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648637D-A21A-D6CB-EFB8-A425B3069BCB}"/>
                </a:ext>
              </a:extLst>
            </p:cNvPr>
            <p:cNvSpPr/>
            <p:nvPr/>
          </p:nvSpPr>
          <p:spPr>
            <a:xfrm>
              <a:off x="7996817" y="5834800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35975F6-E3E7-3A23-A6E1-DA88D0EBFF90}"/>
                </a:ext>
              </a:extLst>
            </p:cNvPr>
            <p:cNvSpPr/>
            <p:nvPr/>
          </p:nvSpPr>
          <p:spPr>
            <a:xfrm>
              <a:off x="5518806" y="5834800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N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DB6667A-83B3-1046-970A-FD2DE3E1BF7A}"/>
              </a:ext>
            </a:extLst>
          </p:cNvPr>
          <p:cNvSpPr txBox="1"/>
          <p:nvPr/>
        </p:nvSpPr>
        <p:spPr>
          <a:xfrm>
            <a:off x="6807723" y="5377258"/>
            <a:ext cx="53091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...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12FB5A2-9D7A-3CB7-E23E-3142631C6ED7}"/>
              </a:ext>
            </a:extLst>
          </p:cNvPr>
          <p:cNvSpPr/>
          <p:nvPr/>
        </p:nvSpPr>
        <p:spPr>
          <a:xfrm>
            <a:off x="2826304" y="4355946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6902CB-1311-C5E2-A1F6-64EF01015563}"/>
              </a:ext>
            </a:extLst>
          </p:cNvPr>
          <p:cNvSpPr txBox="1"/>
          <p:nvPr/>
        </p:nvSpPr>
        <p:spPr>
          <a:xfrm>
            <a:off x="144325" y="2260458"/>
            <a:ext cx="118647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Each planning module execution -&gt; A single module-level frame-based test case.</a:t>
            </a:r>
          </a:p>
        </p:txBody>
      </p:sp>
    </p:spTree>
    <p:extLst>
      <p:ext uri="{BB962C8B-B14F-4D97-AF65-F5344CB8AC3E}">
        <p14:creationId xmlns:p14="http://schemas.microsoft.com/office/powerpoint/2010/main" val="2545214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6D57F-A0C9-2167-992E-E06D1B74E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6F5D-3F52-0E6D-8D41-C85E724BE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001CD5-E6CE-5C53-A820-304EDB54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835D9-BC54-FB2D-0F6E-4DC280C3F72F}"/>
              </a:ext>
            </a:extLst>
          </p:cNvPr>
          <p:cNvSpPr txBox="1"/>
          <p:nvPr/>
        </p:nvSpPr>
        <p:spPr>
          <a:xfrm>
            <a:off x="168478" y="684664"/>
            <a:ext cx="1107996" cy="63094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Filter</a:t>
            </a:r>
            <a:br>
              <a:rPr lang="en-US" sz="20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7F37EC-E566-D419-F319-6FAB32CDB189}"/>
              </a:ext>
            </a:extLst>
          </p:cNvPr>
          <p:cNvSpPr txBox="1"/>
          <p:nvPr/>
        </p:nvSpPr>
        <p:spPr>
          <a:xfrm>
            <a:off x="1276474" y="684664"/>
            <a:ext cx="9316873" cy="630942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Reconstruct</a:t>
            </a:r>
          </a:p>
          <a:p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E0B2D-1404-B584-FA90-D93F3FFF0245}"/>
              </a:ext>
            </a:extLst>
          </p:cNvPr>
          <p:cNvSpPr txBox="1"/>
          <p:nvPr/>
        </p:nvSpPr>
        <p:spPr>
          <a:xfrm>
            <a:off x="10593347" y="684664"/>
            <a:ext cx="1415772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Validate</a:t>
            </a:r>
            <a:br>
              <a:rPr lang="en-US" sz="2000" dirty="0">
                <a:latin typeface="Berkeley Mono" pitchFamily="49" charset="77"/>
              </a:rPr>
            </a:br>
            <a:endParaRPr lang="en-US" sz="1500" dirty="0">
              <a:latin typeface="Berkeley Mono" pitchFamily="49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910E2E-2C5F-B0EE-B04B-8C9DC5F7F1D4}"/>
              </a:ext>
            </a:extLst>
          </p:cNvPr>
          <p:cNvSpPr txBox="1"/>
          <p:nvPr/>
        </p:nvSpPr>
        <p:spPr>
          <a:xfrm>
            <a:off x="464419" y="17254"/>
            <a:ext cx="218360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De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terministic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F6B84-0AA4-30EC-5C24-61098A889756}"/>
              </a:ext>
            </a:extLst>
          </p:cNvPr>
          <p:cNvSpPr txBox="1"/>
          <p:nvPr/>
        </p:nvSpPr>
        <p:spPr>
          <a:xfrm>
            <a:off x="2635771" y="17254"/>
            <a:ext cx="309162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F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rame-based </a:t>
            </a:r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T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4B5372-E404-B752-8C70-41339F2D2D36}"/>
              </a:ext>
            </a:extLst>
          </p:cNvPr>
          <p:cNvSpPr txBox="1"/>
          <p:nvPr/>
        </p:nvSpPr>
        <p:spPr>
          <a:xfrm>
            <a:off x="1269407" y="972168"/>
            <a:ext cx="6878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When and what combination did the planning module process?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A3B338-51D6-98D0-E632-4AEA89B6709A}"/>
              </a:ext>
            </a:extLst>
          </p:cNvPr>
          <p:cNvSpPr txBox="1"/>
          <p:nvPr/>
        </p:nvSpPr>
        <p:spPr>
          <a:xfrm>
            <a:off x="144325" y="1411540"/>
            <a:ext cx="118647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During system-level testing, Planning module is triggered by </a:t>
            </a:r>
            <a:r>
              <a:rPr lang="en-US" sz="1500" b="1" dirty="0">
                <a:latin typeface="Berkeley Mono" pitchFamily="49" charset="77"/>
              </a:rPr>
              <a:t>events</a:t>
            </a:r>
            <a:r>
              <a:rPr lang="en-US" sz="1500" dirty="0">
                <a:latin typeface="Berkeley Mono" pitchFamily="49" charset="77"/>
              </a:rPr>
              <a:t> to aggregate messages from different cannels to construct input frame F = ⟨ </a:t>
            </a:r>
            <a:r>
              <a:rPr lang="en-US" sz="1500" b="1" dirty="0" err="1">
                <a:solidFill>
                  <a:srgbClr val="00B05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00B050"/>
                </a:solidFill>
                <a:latin typeface="Berkeley Mono" pitchFamily="49" charset="77"/>
              </a:rPr>
              <a:t>routing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7030A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7030A0"/>
                </a:solidFill>
                <a:latin typeface="Berkeley Mono" pitchFamily="49" charset="77"/>
              </a:rPr>
              <a:t>localization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FFC00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FFC000"/>
                </a:solidFill>
                <a:latin typeface="Berkeley Mono" pitchFamily="49" charset="77"/>
              </a:rPr>
              <a:t>traffic_light</a:t>
            </a:r>
            <a:r>
              <a:rPr lang="en-US" sz="1500" dirty="0">
                <a:latin typeface="Berkeley Mono" pitchFamily="49" charset="77"/>
              </a:rPr>
              <a:t>, </a:t>
            </a:r>
            <a:r>
              <a:rPr lang="en-US" sz="1500" b="1" dirty="0" err="1">
                <a:solidFill>
                  <a:srgbClr val="0070C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0070C0"/>
                </a:solidFill>
                <a:latin typeface="Berkeley Mono" pitchFamily="49" charset="77"/>
              </a:rPr>
              <a:t>prediction</a:t>
            </a:r>
            <a:r>
              <a:rPr lang="en-US" sz="1500" dirty="0">
                <a:latin typeface="Berkeley Mono" pitchFamily="49" charset="77"/>
              </a:rPr>
              <a:t> ⟩ at time </a:t>
            </a:r>
            <a:r>
              <a:rPr lang="en-US" sz="1500" b="1" dirty="0" err="1">
                <a:latin typeface="Berkeley Mono" pitchFamily="49" charset="77"/>
              </a:rPr>
              <a:t>t</a:t>
            </a:r>
            <a:r>
              <a:rPr lang="en-US" sz="1500" b="1" baseline="-25000" dirty="0" err="1">
                <a:latin typeface="Berkeley Mono" pitchFamily="49" charset="77"/>
              </a:rPr>
              <a:t>F</a:t>
            </a:r>
            <a:r>
              <a:rPr lang="en-US" sz="1500" dirty="0">
                <a:latin typeface="Berkeley Mono" pitchFamily="49" charset="77"/>
              </a:rPr>
              <a:t> to produce </a:t>
            </a:r>
            <a:r>
              <a:rPr lang="en-US" sz="1500" b="1" dirty="0" err="1">
                <a:solidFill>
                  <a:srgbClr val="C00000"/>
                </a:solidFill>
                <a:latin typeface="Berkeley Mono" pitchFamily="49" charset="77"/>
              </a:rPr>
              <a:t>m</a:t>
            </a:r>
            <a:r>
              <a:rPr lang="en-US" sz="1500" b="1" baseline="-25000" dirty="0" err="1">
                <a:solidFill>
                  <a:srgbClr val="C00000"/>
                </a:solidFill>
                <a:latin typeface="Berkeley Mono" pitchFamily="49" charset="77"/>
              </a:rPr>
              <a:t>planning</a:t>
            </a:r>
            <a:r>
              <a:rPr lang="en-US" sz="1500" dirty="0">
                <a:latin typeface="Berkeley Mono" pitchFamily="49" charset="77"/>
              </a:rPr>
              <a:t>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9327EC0-4F86-6992-F662-41B0A06807F9}"/>
              </a:ext>
            </a:extLst>
          </p:cNvPr>
          <p:cNvGrpSpPr/>
          <p:nvPr/>
        </p:nvGrpSpPr>
        <p:grpSpPr>
          <a:xfrm>
            <a:off x="173486" y="3742816"/>
            <a:ext cx="2934624" cy="338536"/>
            <a:chOff x="2486275" y="4894546"/>
            <a:chExt cx="2934624" cy="338536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420A095-C128-6D7B-F0DF-A61FF51534BF}"/>
                </a:ext>
              </a:extLst>
            </p:cNvPr>
            <p:cNvSpPr/>
            <p:nvPr/>
          </p:nvSpPr>
          <p:spPr>
            <a:xfrm>
              <a:off x="3208245" y="4894547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7A844978-3F38-1B55-2DC7-9F875FE59629}"/>
                </a:ext>
              </a:extLst>
            </p:cNvPr>
            <p:cNvSpPr/>
            <p:nvPr/>
          </p:nvSpPr>
          <p:spPr>
            <a:xfrm>
              <a:off x="3685558" y="4949514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3226124E-3346-AA9D-EDF5-A72623526936}"/>
                </a:ext>
              </a:extLst>
            </p:cNvPr>
            <p:cNvSpPr/>
            <p:nvPr/>
          </p:nvSpPr>
          <p:spPr>
            <a:xfrm>
              <a:off x="4120150" y="4949514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645ADE98-E62C-CB70-69DE-648B07D29D86}"/>
                </a:ext>
              </a:extLst>
            </p:cNvPr>
            <p:cNvSpPr/>
            <p:nvPr/>
          </p:nvSpPr>
          <p:spPr>
            <a:xfrm>
              <a:off x="4554743" y="4949514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19" name="Rounded Rectangle 118">
              <a:extLst>
                <a:ext uri="{FF2B5EF4-FFF2-40B4-BE49-F238E27FC236}">
                  <a16:creationId xmlns:a16="http://schemas.microsoft.com/office/drawing/2014/main" id="{91715B34-E6E9-0ABD-E641-F93547DB5E50}"/>
                </a:ext>
              </a:extLst>
            </p:cNvPr>
            <p:cNvSpPr/>
            <p:nvPr/>
          </p:nvSpPr>
          <p:spPr>
            <a:xfrm>
              <a:off x="3250966" y="4949514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20" name="Rounded Rectangle 119">
              <a:extLst>
                <a:ext uri="{FF2B5EF4-FFF2-40B4-BE49-F238E27FC236}">
                  <a16:creationId xmlns:a16="http://schemas.microsoft.com/office/drawing/2014/main" id="{C1494BF5-303F-168B-CBF6-6CD0F9241D3A}"/>
                </a:ext>
              </a:extLst>
            </p:cNvPr>
            <p:cNvSpPr/>
            <p:nvPr/>
          </p:nvSpPr>
          <p:spPr>
            <a:xfrm>
              <a:off x="5004035" y="4949514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FA46DC36-E65A-588E-BE12-D9CB5648685D}"/>
                </a:ext>
              </a:extLst>
            </p:cNvPr>
            <p:cNvSpPr/>
            <p:nvPr/>
          </p:nvSpPr>
          <p:spPr>
            <a:xfrm>
              <a:off x="4964286" y="4894546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0B0C3FDA-B335-D142-270A-ADEA982BE17E}"/>
                </a:ext>
              </a:extLst>
            </p:cNvPr>
            <p:cNvSpPr/>
            <p:nvPr/>
          </p:nvSpPr>
          <p:spPr>
            <a:xfrm>
              <a:off x="2486275" y="4894546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4A531E2-62B4-BE34-5E58-C230AD73F36D}"/>
              </a:ext>
            </a:extLst>
          </p:cNvPr>
          <p:cNvGrpSpPr/>
          <p:nvPr/>
        </p:nvGrpSpPr>
        <p:grpSpPr>
          <a:xfrm>
            <a:off x="173486" y="4179119"/>
            <a:ext cx="2934624" cy="338536"/>
            <a:chOff x="5518806" y="4889731"/>
            <a:chExt cx="2934624" cy="3385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1296D73-D105-0A40-97A9-4C6E2C929EA0}"/>
                </a:ext>
              </a:extLst>
            </p:cNvPr>
            <p:cNvSpPr/>
            <p:nvPr/>
          </p:nvSpPr>
          <p:spPr>
            <a:xfrm>
              <a:off x="6240776" y="4889732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94AC3A4-46F0-B2D2-0B51-7D273F92F93C}"/>
                </a:ext>
              </a:extLst>
            </p:cNvPr>
            <p:cNvSpPr/>
            <p:nvPr/>
          </p:nvSpPr>
          <p:spPr>
            <a:xfrm>
              <a:off x="6718089" y="4944699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252474D2-0464-CC01-F3E6-D61E205D5D6D}"/>
                </a:ext>
              </a:extLst>
            </p:cNvPr>
            <p:cNvSpPr/>
            <p:nvPr/>
          </p:nvSpPr>
          <p:spPr>
            <a:xfrm>
              <a:off x="7152681" y="4944699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52AD9D3-5853-2AE0-6C58-17558F0CE591}"/>
                </a:ext>
              </a:extLst>
            </p:cNvPr>
            <p:cNvSpPr/>
            <p:nvPr/>
          </p:nvSpPr>
          <p:spPr>
            <a:xfrm>
              <a:off x="7587274" y="4944699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F33616BD-6DE3-8EFD-0E66-3867B041CC1B}"/>
                </a:ext>
              </a:extLst>
            </p:cNvPr>
            <p:cNvSpPr/>
            <p:nvPr/>
          </p:nvSpPr>
          <p:spPr>
            <a:xfrm>
              <a:off x="6283497" y="4944699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E8EB9C1B-07B6-383A-F42B-939F300A2F9F}"/>
                </a:ext>
              </a:extLst>
            </p:cNvPr>
            <p:cNvSpPr/>
            <p:nvPr/>
          </p:nvSpPr>
          <p:spPr>
            <a:xfrm>
              <a:off x="8036566" y="4944699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C5AB1B-9DD4-8C21-B464-224C627D2889}"/>
                </a:ext>
              </a:extLst>
            </p:cNvPr>
            <p:cNvSpPr/>
            <p:nvPr/>
          </p:nvSpPr>
          <p:spPr>
            <a:xfrm>
              <a:off x="7996817" y="4889731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C9231CE-00C4-C31C-D06C-24C876657844}"/>
                </a:ext>
              </a:extLst>
            </p:cNvPr>
            <p:cNvSpPr/>
            <p:nvPr/>
          </p:nvSpPr>
          <p:spPr>
            <a:xfrm>
              <a:off x="5518806" y="4889731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534B0FB-A790-0F69-0462-A3F3BCF4DDCD}"/>
              </a:ext>
            </a:extLst>
          </p:cNvPr>
          <p:cNvGrpSpPr/>
          <p:nvPr/>
        </p:nvGrpSpPr>
        <p:grpSpPr>
          <a:xfrm>
            <a:off x="173486" y="4615418"/>
            <a:ext cx="2934624" cy="338536"/>
            <a:chOff x="8554005" y="4889731"/>
            <a:chExt cx="2934624" cy="33853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2C3BE6-7C4B-4C63-2CF8-67AC0FBB0D6C}"/>
                </a:ext>
              </a:extLst>
            </p:cNvPr>
            <p:cNvSpPr/>
            <p:nvPr/>
          </p:nvSpPr>
          <p:spPr>
            <a:xfrm>
              <a:off x="9275975" y="4889732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B5529A7C-C1F6-77B9-EB3E-AADE1E1845C1}"/>
                </a:ext>
              </a:extLst>
            </p:cNvPr>
            <p:cNvSpPr/>
            <p:nvPr/>
          </p:nvSpPr>
          <p:spPr>
            <a:xfrm>
              <a:off x="9753288" y="4944699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D6F16597-8BDE-4B54-F900-4F08902C8FD7}"/>
                </a:ext>
              </a:extLst>
            </p:cNvPr>
            <p:cNvSpPr/>
            <p:nvPr/>
          </p:nvSpPr>
          <p:spPr>
            <a:xfrm>
              <a:off x="10187880" y="4944699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B1C4AD21-E08D-6E70-F0E7-83F2EC58D941}"/>
                </a:ext>
              </a:extLst>
            </p:cNvPr>
            <p:cNvSpPr/>
            <p:nvPr/>
          </p:nvSpPr>
          <p:spPr>
            <a:xfrm>
              <a:off x="10622473" y="4944699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B7EC04D4-7878-DBD4-622A-142562383143}"/>
                </a:ext>
              </a:extLst>
            </p:cNvPr>
            <p:cNvSpPr/>
            <p:nvPr/>
          </p:nvSpPr>
          <p:spPr>
            <a:xfrm>
              <a:off x="9318696" y="4944699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24013364-1B14-7C34-59CB-AB9D2A245329}"/>
                </a:ext>
              </a:extLst>
            </p:cNvPr>
            <p:cNvSpPr/>
            <p:nvPr/>
          </p:nvSpPr>
          <p:spPr>
            <a:xfrm>
              <a:off x="11071765" y="4944699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8EA5023-1E02-63E7-3FD4-E9B1576A05C2}"/>
                </a:ext>
              </a:extLst>
            </p:cNvPr>
            <p:cNvSpPr/>
            <p:nvPr/>
          </p:nvSpPr>
          <p:spPr>
            <a:xfrm>
              <a:off x="11032016" y="4889731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3C15267-07B6-65F5-5994-11E4A34FD3DB}"/>
                </a:ext>
              </a:extLst>
            </p:cNvPr>
            <p:cNvSpPr/>
            <p:nvPr/>
          </p:nvSpPr>
          <p:spPr>
            <a:xfrm>
              <a:off x="8554005" y="4889731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3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7BDD99A-247F-8011-4E55-5290488CE996}"/>
              </a:ext>
            </a:extLst>
          </p:cNvPr>
          <p:cNvGrpSpPr/>
          <p:nvPr/>
        </p:nvGrpSpPr>
        <p:grpSpPr>
          <a:xfrm>
            <a:off x="173486" y="5466729"/>
            <a:ext cx="2934624" cy="338536"/>
            <a:chOff x="5518806" y="5834800"/>
            <a:chExt cx="2934624" cy="33853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CB2CF01-B1BE-C089-F52D-F1E717F70422}"/>
                </a:ext>
              </a:extLst>
            </p:cNvPr>
            <p:cNvSpPr/>
            <p:nvPr/>
          </p:nvSpPr>
          <p:spPr>
            <a:xfrm>
              <a:off x="6240776" y="5834801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9FD4C480-B379-04CC-969E-293DA7862344}"/>
                </a:ext>
              </a:extLst>
            </p:cNvPr>
            <p:cNvSpPr/>
            <p:nvPr/>
          </p:nvSpPr>
          <p:spPr>
            <a:xfrm>
              <a:off x="6718089" y="5889768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latin typeface="Berkeley Mono" pitchFamily="49" charset="77"/>
                </a:rPr>
                <a:t>m</a:t>
              </a:r>
              <a:r>
                <a:rPr lang="en-US" sz="1000" baseline="30000" dirty="0" err="1">
                  <a:latin typeface="Berkeley Mono" pitchFamily="49" charset="77"/>
                </a:rPr>
                <a:t>N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6BAF361B-B034-14B7-8493-38A49DEEEBCE}"/>
                </a:ext>
              </a:extLst>
            </p:cNvPr>
            <p:cNvSpPr/>
            <p:nvPr/>
          </p:nvSpPr>
          <p:spPr>
            <a:xfrm>
              <a:off x="7152681" y="5889768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latin typeface="Berkeley Mono" pitchFamily="49" charset="77"/>
                </a:rPr>
                <a:t>m</a:t>
              </a:r>
              <a:r>
                <a:rPr lang="en-US" sz="1000" baseline="30000" dirty="0" err="1">
                  <a:latin typeface="Berkeley Mono" pitchFamily="49" charset="77"/>
                </a:rPr>
                <a:t>N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5B500EB8-5841-1882-23D0-A832975652E8}"/>
                </a:ext>
              </a:extLst>
            </p:cNvPr>
            <p:cNvSpPr/>
            <p:nvPr/>
          </p:nvSpPr>
          <p:spPr>
            <a:xfrm>
              <a:off x="7587274" y="5889768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latin typeface="Berkeley Mono" pitchFamily="49" charset="77"/>
                </a:rPr>
                <a:t>m</a:t>
              </a:r>
              <a:r>
                <a:rPr lang="en-US" sz="1000" baseline="30000" dirty="0" err="1">
                  <a:latin typeface="Berkeley Mono" pitchFamily="49" charset="77"/>
                </a:rPr>
                <a:t>N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19CC815B-DD64-EACF-25A5-73F0A4332488}"/>
                </a:ext>
              </a:extLst>
            </p:cNvPr>
            <p:cNvSpPr/>
            <p:nvPr/>
          </p:nvSpPr>
          <p:spPr>
            <a:xfrm>
              <a:off x="6283497" y="5889768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latin typeface="Berkeley Mono" pitchFamily="49" charset="77"/>
                </a:rPr>
                <a:t>m</a:t>
              </a:r>
              <a:r>
                <a:rPr lang="en-US" sz="1000" baseline="30000" dirty="0" err="1">
                  <a:latin typeface="Berkeley Mono" pitchFamily="49" charset="77"/>
                </a:rPr>
                <a:t>N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F845E8AD-4AC8-3BB1-4485-E2EA0385BFDC}"/>
                </a:ext>
              </a:extLst>
            </p:cNvPr>
            <p:cNvSpPr/>
            <p:nvPr/>
          </p:nvSpPr>
          <p:spPr>
            <a:xfrm>
              <a:off x="8036566" y="5889768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N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095954C-E413-73E4-42FD-D784FDF72D3B}"/>
                </a:ext>
              </a:extLst>
            </p:cNvPr>
            <p:cNvSpPr/>
            <p:nvPr/>
          </p:nvSpPr>
          <p:spPr>
            <a:xfrm>
              <a:off x="7996817" y="5834800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840474F-4F34-0F10-3D17-28BF3AA2B33D}"/>
                </a:ext>
              </a:extLst>
            </p:cNvPr>
            <p:cNvSpPr/>
            <p:nvPr/>
          </p:nvSpPr>
          <p:spPr>
            <a:xfrm>
              <a:off x="5518806" y="5834800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N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F86D6C2-B1E3-177D-3EC4-85AAB5EC1910}"/>
              </a:ext>
            </a:extLst>
          </p:cNvPr>
          <p:cNvSpPr txBox="1"/>
          <p:nvPr/>
        </p:nvSpPr>
        <p:spPr>
          <a:xfrm>
            <a:off x="167225" y="5046865"/>
            <a:ext cx="53091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...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F8EE58-AD43-CAE0-22DE-2F320EA2F403}"/>
              </a:ext>
            </a:extLst>
          </p:cNvPr>
          <p:cNvSpPr txBox="1"/>
          <p:nvPr/>
        </p:nvSpPr>
        <p:spPr>
          <a:xfrm>
            <a:off x="144325" y="2647711"/>
            <a:ext cx="118647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Module tests are executed </a:t>
            </a:r>
            <a:r>
              <a:rPr lang="en-US" sz="1500" b="1" dirty="0">
                <a:latin typeface="Berkeley Mono" pitchFamily="49" charset="77"/>
              </a:rPr>
              <a:t>sequentially</a:t>
            </a:r>
            <a:r>
              <a:rPr lang="en-US" sz="1500" dirty="0">
                <a:latin typeface="Berkeley Mono" pitchFamily="49" charset="77"/>
              </a:rPr>
              <a:t> </a:t>
            </a:r>
            <a:r>
              <a:rPr lang="en-US" sz="1500" dirty="0" err="1">
                <a:latin typeface="Berkeley Mono" pitchFamily="49" charset="77"/>
              </a:rPr>
              <a:t>s.t.</a:t>
            </a:r>
            <a:r>
              <a:rPr lang="en-US" sz="1500" dirty="0">
                <a:latin typeface="Berkeley Mono" pitchFamily="49" charset="77"/>
              </a:rPr>
              <a:t> executing frames 1 through n-1 restores the internal states of the planning module for the n</a:t>
            </a:r>
            <a:r>
              <a:rPr lang="en-US" sz="1500" baseline="30000" dirty="0">
                <a:latin typeface="Berkeley Mono" pitchFamily="49" charset="77"/>
              </a:rPr>
              <a:t>th</a:t>
            </a:r>
            <a:r>
              <a:rPr lang="en-US" sz="1500" dirty="0">
                <a:latin typeface="Berkeley Mono" pitchFamily="49" charset="77"/>
              </a:rPr>
              <a:t> frame.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1EF982-FF16-E346-556B-4EA0B558DD19}"/>
              </a:ext>
            </a:extLst>
          </p:cNvPr>
          <p:cNvSpPr txBox="1"/>
          <p:nvPr/>
        </p:nvSpPr>
        <p:spPr>
          <a:xfrm>
            <a:off x="173486" y="3429000"/>
            <a:ext cx="1877437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Sequential Frame Tests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95C34E-BF25-F8D1-6289-E26F02CF64F7}"/>
              </a:ext>
            </a:extLst>
          </p:cNvPr>
          <p:cNvSpPr txBox="1"/>
          <p:nvPr/>
        </p:nvSpPr>
        <p:spPr>
          <a:xfrm>
            <a:off x="144325" y="2260458"/>
            <a:ext cx="118647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Each planning module execution -&gt; A single module-level frame-based test case.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91EFC6-6F70-CD4B-8615-5CD6C410D9B5}"/>
              </a:ext>
            </a:extLst>
          </p:cNvPr>
          <p:cNvSpPr txBox="1"/>
          <p:nvPr/>
        </p:nvSpPr>
        <p:spPr>
          <a:xfrm>
            <a:off x="3403685" y="3788971"/>
            <a:ext cx="40575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Produces </a:t>
            </a:r>
            <a:r>
              <a:rPr lang="en-US" sz="1000" b="1" dirty="0">
                <a:solidFill>
                  <a:srgbClr val="FF0000"/>
                </a:solidFill>
                <a:latin typeface="Berkeley Mono" pitchFamily="49" charset="77"/>
              </a:rPr>
              <a:t>P</a:t>
            </a:r>
            <a:r>
              <a:rPr lang="en-US" sz="1000" b="1" baseline="30000" dirty="0">
                <a:solidFill>
                  <a:srgbClr val="FF0000"/>
                </a:solidFill>
                <a:latin typeface="Berkeley Mono" pitchFamily="49" charset="77"/>
              </a:rPr>
              <a:t>’1</a:t>
            </a:r>
            <a:r>
              <a:rPr lang="en-US" sz="1000" dirty="0">
                <a:latin typeface="Berkeley Mono" pitchFamily="49" charset="77"/>
              </a:rPr>
              <a:t>; restores internal states for Frame 2.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E81FC8-CF22-70E3-EFCA-490035F84AA0}"/>
              </a:ext>
            </a:extLst>
          </p:cNvPr>
          <p:cNvSpPr txBox="1"/>
          <p:nvPr/>
        </p:nvSpPr>
        <p:spPr>
          <a:xfrm>
            <a:off x="3630168" y="4225274"/>
            <a:ext cx="40575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Produces </a:t>
            </a:r>
            <a:r>
              <a:rPr lang="en-US" sz="1000" b="1" dirty="0">
                <a:solidFill>
                  <a:srgbClr val="FF0000"/>
                </a:solidFill>
                <a:latin typeface="Berkeley Mono" pitchFamily="49" charset="77"/>
              </a:rPr>
              <a:t>P</a:t>
            </a:r>
            <a:r>
              <a:rPr lang="en-US" sz="1000" b="1" baseline="30000" dirty="0">
                <a:solidFill>
                  <a:srgbClr val="FF0000"/>
                </a:solidFill>
                <a:latin typeface="Berkeley Mono" pitchFamily="49" charset="77"/>
              </a:rPr>
              <a:t>’2</a:t>
            </a:r>
            <a:r>
              <a:rPr lang="en-US" sz="1000" dirty="0">
                <a:latin typeface="Berkeley Mono" pitchFamily="49" charset="77"/>
              </a:rPr>
              <a:t>; restores internal states for Frame 3.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25F269-90CD-08C0-3D02-02F8C739185E}"/>
              </a:ext>
            </a:extLst>
          </p:cNvPr>
          <p:cNvSpPr txBox="1"/>
          <p:nvPr/>
        </p:nvSpPr>
        <p:spPr>
          <a:xfrm>
            <a:off x="3858768" y="4660286"/>
            <a:ext cx="40575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Produces </a:t>
            </a:r>
            <a:r>
              <a:rPr lang="en-US" sz="1000" b="1" dirty="0">
                <a:solidFill>
                  <a:srgbClr val="FF0000"/>
                </a:solidFill>
                <a:latin typeface="Berkeley Mono" pitchFamily="49" charset="77"/>
              </a:rPr>
              <a:t>P</a:t>
            </a:r>
            <a:r>
              <a:rPr lang="en-US" sz="1000" b="1" baseline="30000" dirty="0">
                <a:solidFill>
                  <a:srgbClr val="FF0000"/>
                </a:solidFill>
                <a:latin typeface="Berkeley Mono" pitchFamily="49" charset="77"/>
              </a:rPr>
              <a:t>’2</a:t>
            </a:r>
            <a:r>
              <a:rPr lang="en-US" sz="1000" dirty="0">
                <a:latin typeface="Berkeley Mono" pitchFamily="49" charset="77"/>
              </a:rPr>
              <a:t>; restores internal states for Frame 4.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8130CDE-0170-9241-A8D4-D21180E26155}"/>
              </a:ext>
            </a:extLst>
          </p:cNvPr>
          <p:cNvSpPr txBox="1"/>
          <p:nvPr/>
        </p:nvSpPr>
        <p:spPr>
          <a:xfrm>
            <a:off x="4087368" y="5512884"/>
            <a:ext cx="49808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Produces </a:t>
            </a:r>
            <a:r>
              <a:rPr lang="en-US" sz="1000" b="1" dirty="0">
                <a:solidFill>
                  <a:srgbClr val="FF0000"/>
                </a:solidFill>
                <a:latin typeface="Berkeley Mono" pitchFamily="49" charset="77"/>
              </a:rPr>
              <a:t>P</a:t>
            </a:r>
            <a:r>
              <a:rPr lang="en-US" sz="1000" b="1" baseline="30000" dirty="0">
                <a:solidFill>
                  <a:srgbClr val="FF0000"/>
                </a:solidFill>
                <a:latin typeface="Berkeley Mono" pitchFamily="49" charset="77"/>
              </a:rPr>
              <a:t>’N</a:t>
            </a:r>
            <a:r>
              <a:rPr lang="en-US" sz="1000" dirty="0">
                <a:latin typeface="Berkeley Mono" pitchFamily="49" charset="77"/>
              </a:rPr>
              <a:t>; Last Frame corresponding to original system-test.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837DE86-B356-9406-E816-CA24B0B6FA1F}"/>
              </a:ext>
            </a:extLst>
          </p:cNvPr>
          <p:cNvCxnSpPr>
            <a:stCxn id="121" idx="3"/>
            <a:endCxn id="35" idx="1"/>
          </p:cNvCxnSpPr>
          <p:nvPr/>
        </p:nvCxnSpPr>
        <p:spPr>
          <a:xfrm flipV="1">
            <a:off x="3108110" y="3912082"/>
            <a:ext cx="295575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ADD12EB-6C39-C95E-4FFD-E75B12724EBE}"/>
              </a:ext>
            </a:extLst>
          </p:cNvPr>
          <p:cNvCxnSpPr>
            <a:stCxn id="19" idx="3"/>
            <a:endCxn id="37" idx="1"/>
          </p:cNvCxnSpPr>
          <p:nvPr/>
        </p:nvCxnSpPr>
        <p:spPr>
          <a:xfrm flipV="1">
            <a:off x="3108110" y="4348385"/>
            <a:ext cx="522058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DC55403-F7CB-0192-17BA-7D39F1E723BD}"/>
              </a:ext>
            </a:extLst>
          </p:cNvPr>
          <p:cNvCxnSpPr>
            <a:stCxn id="27" idx="3"/>
            <a:endCxn id="46" idx="1"/>
          </p:cNvCxnSpPr>
          <p:nvPr/>
        </p:nvCxnSpPr>
        <p:spPr>
          <a:xfrm flipV="1">
            <a:off x="3108110" y="4783397"/>
            <a:ext cx="750658" cy="1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8CA6C20-9A4F-4AE2-5983-5F881F91BAE0}"/>
              </a:ext>
            </a:extLst>
          </p:cNvPr>
          <p:cNvCxnSpPr>
            <a:stCxn id="42" idx="3"/>
            <a:endCxn id="79" idx="1"/>
          </p:cNvCxnSpPr>
          <p:nvPr/>
        </p:nvCxnSpPr>
        <p:spPr>
          <a:xfrm flipV="1">
            <a:off x="3108110" y="5635995"/>
            <a:ext cx="979258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073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46" grpId="0"/>
      <p:bldP spid="7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27782-9F11-B7F7-A017-3A32C7263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A5B3-379B-8265-45F4-8A8BC034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B59E59-DE3F-AE0E-486E-F8B3E143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33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AB56C8-C06D-01D5-B055-ECF27EE9BFD2}"/>
              </a:ext>
            </a:extLst>
          </p:cNvPr>
          <p:cNvSpPr txBox="1"/>
          <p:nvPr/>
        </p:nvSpPr>
        <p:spPr>
          <a:xfrm>
            <a:off x="168478" y="684664"/>
            <a:ext cx="1107996" cy="63094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Filter</a:t>
            </a:r>
            <a:br>
              <a:rPr lang="en-US" sz="20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C3F401-F79B-A343-9CF7-471B42D664FE}"/>
              </a:ext>
            </a:extLst>
          </p:cNvPr>
          <p:cNvSpPr txBox="1"/>
          <p:nvPr/>
        </p:nvSpPr>
        <p:spPr>
          <a:xfrm>
            <a:off x="1276474" y="684664"/>
            <a:ext cx="1877437" cy="63094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Reconstruct</a:t>
            </a:r>
          </a:p>
          <a:p>
            <a:endParaRPr lang="en-US" sz="1500" dirty="0">
              <a:latin typeface="Berkeley Mono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A97E9-8588-C6B2-61DA-122A108C033E}"/>
              </a:ext>
            </a:extLst>
          </p:cNvPr>
          <p:cNvSpPr txBox="1"/>
          <p:nvPr/>
        </p:nvSpPr>
        <p:spPr>
          <a:xfrm>
            <a:off x="3153911" y="684664"/>
            <a:ext cx="8855208" cy="630942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Validate</a:t>
            </a:r>
            <a:br>
              <a:rPr lang="en-US" sz="2000" dirty="0">
                <a:solidFill>
                  <a:schemeClr val="bg1"/>
                </a:solidFill>
                <a:latin typeface="Berkeley Mono" pitchFamily="49" charset="77"/>
              </a:rPr>
            </a:b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51A9A5-2CEF-AC75-FA01-43243F3EB5F1}"/>
              </a:ext>
            </a:extLst>
          </p:cNvPr>
          <p:cNvSpPr txBox="1"/>
          <p:nvPr/>
        </p:nvSpPr>
        <p:spPr>
          <a:xfrm>
            <a:off x="464419" y="17254"/>
            <a:ext cx="218360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De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terministic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4AFE14-D99B-62FC-EA6B-26FEE01E70C6}"/>
              </a:ext>
            </a:extLst>
          </p:cNvPr>
          <p:cNvSpPr txBox="1"/>
          <p:nvPr/>
        </p:nvSpPr>
        <p:spPr>
          <a:xfrm>
            <a:off x="2635771" y="17254"/>
            <a:ext cx="309162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F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rame-based </a:t>
            </a:r>
            <a:r>
              <a:rPr lang="en-US" sz="2000" u="sng" dirty="0">
                <a:solidFill>
                  <a:schemeClr val="bg1"/>
                </a:solidFill>
                <a:latin typeface="Berkeley Mono" pitchFamily="49" charset="77"/>
              </a:rPr>
              <a:t>T</a:t>
            </a: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D9653C-841B-06E6-7FF2-AE207FE92062}"/>
              </a:ext>
            </a:extLst>
          </p:cNvPr>
          <p:cNvSpPr txBox="1"/>
          <p:nvPr/>
        </p:nvSpPr>
        <p:spPr>
          <a:xfrm>
            <a:off x="3165115" y="969264"/>
            <a:ext cx="82638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Does processing the reconstructed frame reproduce the expected output?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7A866-7227-9A3E-4E68-5A9D775E9AE3}"/>
              </a:ext>
            </a:extLst>
          </p:cNvPr>
          <p:cNvSpPr txBox="1"/>
          <p:nvPr/>
        </p:nvSpPr>
        <p:spPr>
          <a:xfrm>
            <a:off x="144325" y="1411540"/>
            <a:ext cx="118647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Each </a:t>
            </a:r>
            <a:r>
              <a:rPr lang="en-US" sz="1500" b="1" dirty="0">
                <a:solidFill>
                  <a:srgbClr val="C00000"/>
                </a:solidFill>
                <a:latin typeface="Berkeley Mono" pitchFamily="49" charset="77"/>
              </a:rPr>
              <a:t>Planning output (P)</a:t>
            </a:r>
            <a:r>
              <a:rPr lang="en-US" sz="1500" dirty="0">
                <a:latin typeface="Berkeley Mono" pitchFamily="49" charset="77"/>
              </a:rPr>
              <a:t> consists of a list of </a:t>
            </a:r>
            <a:r>
              <a:rPr lang="en-US" sz="1500" b="1" dirty="0">
                <a:solidFill>
                  <a:srgbClr val="C00000"/>
                </a:solidFill>
                <a:latin typeface="Berkeley Mono" pitchFamily="49" charset="77"/>
              </a:rPr>
              <a:t>Path Points (p)</a:t>
            </a:r>
            <a:r>
              <a:rPr lang="en-US" sz="1500" dirty="0">
                <a:latin typeface="Berkeley Mono" pitchFamily="49" charset="77"/>
              </a:rPr>
              <a:t> representing the it plans to reach position &lt; x, y &gt; at time 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9363E-2882-6CBE-3077-C4434F24C9F5}"/>
              </a:ext>
            </a:extLst>
          </p:cNvPr>
          <p:cNvSpPr/>
          <p:nvPr/>
        </p:nvSpPr>
        <p:spPr>
          <a:xfrm>
            <a:off x="952461" y="2247441"/>
            <a:ext cx="1757244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CEE05A9-BF52-65EB-CADC-3EC91D96EBB4}"/>
              </a:ext>
            </a:extLst>
          </p:cNvPr>
          <p:cNvSpPr/>
          <p:nvPr/>
        </p:nvSpPr>
        <p:spPr>
          <a:xfrm>
            <a:off x="1429774" y="2302408"/>
            <a:ext cx="36576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AC85576-1584-9B5C-59FC-15629368971A}"/>
              </a:ext>
            </a:extLst>
          </p:cNvPr>
          <p:cNvSpPr/>
          <p:nvPr/>
        </p:nvSpPr>
        <p:spPr>
          <a:xfrm>
            <a:off x="1864366" y="2302408"/>
            <a:ext cx="36576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7772BD4-070A-0B72-0C4F-B1E3E9A580AE}"/>
              </a:ext>
            </a:extLst>
          </p:cNvPr>
          <p:cNvSpPr/>
          <p:nvPr/>
        </p:nvSpPr>
        <p:spPr>
          <a:xfrm>
            <a:off x="2298959" y="2302408"/>
            <a:ext cx="36576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F23E842-44E9-2194-FC24-C508A89900CE}"/>
              </a:ext>
            </a:extLst>
          </p:cNvPr>
          <p:cNvSpPr/>
          <p:nvPr/>
        </p:nvSpPr>
        <p:spPr>
          <a:xfrm>
            <a:off x="995182" y="2302408"/>
            <a:ext cx="36576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8AE87E7-069A-8207-CA3C-02CE6792A65D}"/>
              </a:ext>
            </a:extLst>
          </p:cNvPr>
          <p:cNvSpPr/>
          <p:nvPr/>
        </p:nvSpPr>
        <p:spPr>
          <a:xfrm>
            <a:off x="2748251" y="2302408"/>
            <a:ext cx="36576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P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24ACA7-6B3E-B721-DE71-9630A525A25D}"/>
              </a:ext>
            </a:extLst>
          </p:cNvPr>
          <p:cNvSpPr/>
          <p:nvPr/>
        </p:nvSpPr>
        <p:spPr>
          <a:xfrm>
            <a:off x="2708502" y="2247440"/>
            <a:ext cx="456613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6E2D9A-B9B7-6C39-0CD3-E223A54BC575}"/>
              </a:ext>
            </a:extLst>
          </p:cNvPr>
          <p:cNvSpPr/>
          <p:nvPr/>
        </p:nvSpPr>
        <p:spPr>
          <a:xfrm>
            <a:off x="230491" y="2247440"/>
            <a:ext cx="719302" cy="3385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Berkeley Mono" pitchFamily="49" charset="77"/>
              </a:rPr>
              <a:t>Frame 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48228C-A130-4D41-BE6F-C005E8FBD0E1}"/>
              </a:ext>
            </a:extLst>
          </p:cNvPr>
          <p:cNvSpPr/>
          <p:nvPr/>
        </p:nvSpPr>
        <p:spPr>
          <a:xfrm>
            <a:off x="230492" y="3170405"/>
            <a:ext cx="2923420" cy="3341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Berkeley Mono" pitchFamily="49" charset="77"/>
              </a:rPr>
              <a:t>Test Executor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CFE7E1-BE32-A6BD-6322-0C6CE3E373CE}"/>
              </a:ext>
            </a:extLst>
          </p:cNvPr>
          <p:cNvSpPr txBox="1"/>
          <p:nvPr/>
        </p:nvSpPr>
        <p:spPr>
          <a:xfrm>
            <a:off x="230491" y="2924184"/>
            <a:ext cx="492443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DeFT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964D31-37CF-F21A-AD10-6F7643530C45}"/>
              </a:ext>
            </a:extLst>
          </p:cNvPr>
          <p:cNvSpPr/>
          <p:nvPr/>
        </p:nvSpPr>
        <p:spPr>
          <a:xfrm>
            <a:off x="230490" y="4535653"/>
            <a:ext cx="2923421" cy="5112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Berkeley Mono" pitchFamily="49" charset="77"/>
              </a:rPr>
              <a:t>Planning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9750E6C-5816-DED6-C7B2-777B13744AE5}"/>
              </a:ext>
            </a:extLst>
          </p:cNvPr>
          <p:cNvSpPr/>
          <p:nvPr/>
        </p:nvSpPr>
        <p:spPr>
          <a:xfrm>
            <a:off x="1525981" y="3582177"/>
            <a:ext cx="36576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FDDDC8F-DDB7-0608-9DE0-4EE71C4D11BE}"/>
              </a:ext>
            </a:extLst>
          </p:cNvPr>
          <p:cNvSpPr/>
          <p:nvPr/>
        </p:nvSpPr>
        <p:spPr>
          <a:xfrm>
            <a:off x="2115718" y="3582177"/>
            <a:ext cx="36576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26DC58A-7CB6-E335-A8FA-9E60211DFF47}"/>
              </a:ext>
            </a:extLst>
          </p:cNvPr>
          <p:cNvSpPr/>
          <p:nvPr/>
        </p:nvSpPr>
        <p:spPr>
          <a:xfrm>
            <a:off x="2705454" y="3582177"/>
            <a:ext cx="36576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BC1718A-C20A-32F2-E9F0-F179130E1713}"/>
              </a:ext>
            </a:extLst>
          </p:cNvPr>
          <p:cNvSpPr/>
          <p:nvPr/>
        </p:nvSpPr>
        <p:spPr>
          <a:xfrm>
            <a:off x="936244" y="3582177"/>
            <a:ext cx="36576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4771B68-B9E5-5120-8BF4-0E9DA8E30EC1}"/>
              </a:ext>
            </a:extLst>
          </p:cNvPr>
          <p:cNvSpPr/>
          <p:nvPr/>
        </p:nvSpPr>
        <p:spPr>
          <a:xfrm>
            <a:off x="2705454" y="3885727"/>
            <a:ext cx="36576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P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D851B3-7B39-34A9-7E2D-99532C18B428}"/>
              </a:ext>
            </a:extLst>
          </p:cNvPr>
          <p:cNvSpPr txBox="1"/>
          <p:nvPr/>
        </p:nvSpPr>
        <p:spPr>
          <a:xfrm>
            <a:off x="269623" y="3564145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Input: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A76C52-1B1E-5160-F8F5-E7023D9169FF}"/>
              </a:ext>
            </a:extLst>
          </p:cNvPr>
          <p:cNvSpPr txBox="1"/>
          <p:nvPr/>
        </p:nvSpPr>
        <p:spPr>
          <a:xfrm>
            <a:off x="263889" y="3888515"/>
            <a:ext cx="14157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Expected Output: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BDD31-03E5-718B-DBED-E22BDA818A59}"/>
              </a:ext>
            </a:extLst>
          </p:cNvPr>
          <p:cNvSpPr/>
          <p:nvPr/>
        </p:nvSpPr>
        <p:spPr>
          <a:xfrm>
            <a:off x="230490" y="3166112"/>
            <a:ext cx="2923421" cy="101498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8ACA030-1FC4-A994-6E0A-A320533803E5}"/>
              </a:ext>
            </a:extLst>
          </p:cNvPr>
          <p:cNvCxnSpPr>
            <a:cxnSpLocks/>
            <a:stCxn id="34" idx="2"/>
            <a:endCxn id="26" idx="0"/>
          </p:cNvCxnSpPr>
          <p:nvPr/>
        </p:nvCxnSpPr>
        <p:spPr>
          <a:xfrm>
            <a:off x="1692201" y="4181096"/>
            <a:ext cx="0" cy="3545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769EFB33-7FC1-BBC3-A849-C1992883F854}"/>
              </a:ext>
            </a:extLst>
          </p:cNvPr>
          <p:cNvCxnSpPr>
            <a:stCxn id="19" idx="3"/>
            <a:endCxn id="25" idx="3"/>
          </p:cNvCxnSpPr>
          <p:nvPr/>
        </p:nvCxnSpPr>
        <p:spPr>
          <a:xfrm flipH="1">
            <a:off x="722934" y="2416708"/>
            <a:ext cx="2442181" cy="630587"/>
          </a:xfrm>
          <a:prstGeom prst="bentConnector3">
            <a:avLst>
              <a:gd name="adj1" fmla="val -679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B2BF487-12D5-770E-7C75-F8A1BF39609B}"/>
              </a:ext>
            </a:extLst>
          </p:cNvPr>
          <p:cNvSpPr/>
          <p:nvPr/>
        </p:nvSpPr>
        <p:spPr>
          <a:xfrm>
            <a:off x="1679661" y="5566303"/>
            <a:ext cx="589737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P’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A6706E-436B-9C4B-33F7-1FFFF92CC686}"/>
              </a:ext>
            </a:extLst>
          </p:cNvPr>
          <p:cNvSpPr txBox="1"/>
          <p:nvPr/>
        </p:nvSpPr>
        <p:spPr>
          <a:xfrm>
            <a:off x="4181584" y="2243438"/>
            <a:ext cx="3262432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Trajectory Validator (Output Validation)</a:t>
            </a:r>
          </a:p>
        </p:txBody>
      </p: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503CC026-F554-CA27-3858-C5BF8E48E5AD}"/>
              </a:ext>
            </a:extLst>
          </p:cNvPr>
          <p:cNvCxnSpPr>
            <a:stCxn id="31" idx="3"/>
            <a:endCxn id="54" idx="1"/>
          </p:cNvCxnSpPr>
          <p:nvPr/>
        </p:nvCxnSpPr>
        <p:spPr>
          <a:xfrm flipV="1">
            <a:off x="3071214" y="2366549"/>
            <a:ext cx="1110370" cy="163347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808D804A-789D-4C32-44BA-1E069CFB957B}"/>
              </a:ext>
            </a:extLst>
          </p:cNvPr>
          <p:cNvCxnSpPr>
            <a:stCxn id="51" idx="3"/>
            <a:endCxn id="54" idx="1"/>
          </p:cNvCxnSpPr>
          <p:nvPr/>
        </p:nvCxnSpPr>
        <p:spPr>
          <a:xfrm flipV="1">
            <a:off x="2269398" y="2366549"/>
            <a:ext cx="1912186" cy="3314054"/>
          </a:xfrm>
          <a:prstGeom prst="bentConnector3">
            <a:avLst>
              <a:gd name="adj1" fmla="val 7856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EC90916-1908-6564-AE99-BA077CD26046}"/>
                  </a:ext>
                </a:extLst>
              </p:cNvPr>
              <p:cNvSpPr txBox="1"/>
              <p:nvPr/>
            </p:nvSpPr>
            <p:spPr>
              <a:xfrm>
                <a:off x="4181584" y="2608767"/>
                <a:ext cx="4583562" cy="1077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sup>
                                      </m:sSub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sup>
                                      </m:sSub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EC90916-1908-6564-AE99-BA077CD26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584" y="2608767"/>
                <a:ext cx="4583562" cy="1077603"/>
              </a:xfrm>
              <a:prstGeom prst="rect">
                <a:avLst/>
              </a:prstGeom>
              <a:blipFill>
                <a:blip r:embed="rId3"/>
                <a:stretch>
                  <a:fillRect l="-829" t="-63953" r="-1381" b="-1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34E5F42C-E23A-C8D8-25A2-D3D79D725945}"/>
              </a:ext>
            </a:extLst>
          </p:cNvPr>
          <p:cNvSpPr txBox="1"/>
          <p:nvPr/>
        </p:nvSpPr>
        <p:spPr>
          <a:xfrm>
            <a:off x="4181584" y="4765133"/>
            <a:ext cx="74789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+ Uses Euclidean distance to calculate overall geometric </a:t>
            </a:r>
            <a:br>
              <a:rPr lang="en-US" sz="15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  difference across the entire planning trajectories.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867072-758B-8DD4-371A-6398E7048468}"/>
              </a:ext>
            </a:extLst>
          </p:cNvPr>
          <p:cNvSpPr txBox="1"/>
          <p:nvPr/>
        </p:nvSpPr>
        <p:spPr>
          <a:xfrm>
            <a:off x="4181584" y="5438242"/>
            <a:ext cx="74789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+ Smaller distance = more accurate input frame construction.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90DF2CB-E6EB-8E4A-9706-6E50ADEB881D}"/>
              </a:ext>
            </a:extLst>
          </p:cNvPr>
          <p:cNvSpPr txBox="1"/>
          <p:nvPr/>
        </p:nvSpPr>
        <p:spPr>
          <a:xfrm>
            <a:off x="316074" y="5548682"/>
            <a:ext cx="12618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Actual Output:</a:t>
            </a:r>
          </a:p>
        </p:txBody>
      </p: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17A76960-A480-B226-2EAC-FFB24294FE26}"/>
              </a:ext>
            </a:extLst>
          </p:cNvPr>
          <p:cNvCxnSpPr>
            <a:stCxn id="26" idx="2"/>
            <a:endCxn id="51" idx="0"/>
          </p:cNvCxnSpPr>
          <p:nvPr/>
        </p:nvCxnSpPr>
        <p:spPr>
          <a:xfrm rot="16200000" flipH="1">
            <a:off x="1573643" y="5165416"/>
            <a:ext cx="519444" cy="282329"/>
          </a:xfrm>
          <a:prstGeom prst="curved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1B223E-F87E-1CD5-0705-51A086D35727}"/>
              </a:ext>
            </a:extLst>
          </p:cNvPr>
          <p:cNvSpPr txBox="1"/>
          <p:nvPr/>
        </p:nvSpPr>
        <p:spPr>
          <a:xfrm>
            <a:off x="4181584" y="4096835"/>
            <a:ext cx="74789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+ Validate correctness of the input frame by comparing planning </a:t>
            </a:r>
            <a:br>
              <a:rPr lang="en-US" sz="15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  module’s output.</a:t>
            </a:r>
          </a:p>
        </p:txBody>
      </p:sp>
    </p:spTree>
    <p:extLst>
      <p:ext uri="{BB962C8B-B14F-4D97-AF65-F5344CB8AC3E}">
        <p14:creationId xmlns:p14="http://schemas.microsoft.com/office/powerpoint/2010/main" val="310815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 animBg="1"/>
      <p:bldP spid="51" grpId="0" animBg="1"/>
      <p:bldP spid="54" grpId="0" animBg="1"/>
      <p:bldP spid="62" grpId="0"/>
      <p:bldP spid="64" grpId="0"/>
      <p:bldP spid="65" grpId="0"/>
      <p:bldP spid="66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C272-BBBA-A0F8-E58D-F41C02DB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5792-A22A-5E56-7D59-D005B5CD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008A5A-6373-C6DB-2DFF-2D02B06A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95B65-7F60-E3C9-9C5D-05D33ED57BCB}"/>
              </a:ext>
            </a:extLst>
          </p:cNvPr>
          <p:cNvSpPr txBox="1"/>
          <p:nvPr/>
        </p:nvSpPr>
        <p:spPr>
          <a:xfrm>
            <a:off x="168478" y="684664"/>
            <a:ext cx="11840642" cy="63093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RQ1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  <a:endParaRPr lang="en-US" sz="2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853CB4-5689-72BB-EB2F-EB70CF87728B}"/>
              </a:ext>
            </a:extLst>
          </p:cNvPr>
          <p:cNvSpPr txBox="1"/>
          <p:nvPr/>
        </p:nvSpPr>
        <p:spPr>
          <a:xfrm>
            <a:off x="168478" y="2365981"/>
            <a:ext cx="11840641" cy="63094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RQ2</a:t>
            </a:r>
          </a:p>
          <a:p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719A4-914D-7752-E3CB-267589194F63}"/>
              </a:ext>
            </a:extLst>
          </p:cNvPr>
          <p:cNvSpPr txBox="1"/>
          <p:nvPr/>
        </p:nvSpPr>
        <p:spPr>
          <a:xfrm>
            <a:off x="168478" y="972185"/>
            <a:ext cx="1022587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To what extent do scenario tests and module tests reproduce planning-module executions?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B53499-0DC1-FAA0-B527-038939C9D010}"/>
              </a:ext>
            </a:extLst>
          </p:cNvPr>
          <p:cNvSpPr txBox="1"/>
          <p:nvPr/>
        </p:nvSpPr>
        <p:spPr>
          <a:xfrm>
            <a:off x="779334" y="692977"/>
            <a:ext cx="613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Planning Reproducibility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62C78C-3A2C-02C5-D5C4-84FFA43DFD76}"/>
              </a:ext>
            </a:extLst>
          </p:cNvPr>
          <p:cNvSpPr txBox="1"/>
          <p:nvPr/>
        </p:nvSpPr>
        <p:spPr>
          <a:xfrm>
            <a:off x="168477" y="2649113"/>
            <a:ext cx="105721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To what extent can module tests reproduce failures detected by test generation approaches?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F112B3-F3BD-21FF-DA70-31126DA8558D}"/>
              </a:ext>
            </a:extLst>
          </p:cNvPr>
          <p:cNvSpPr txBox="1"/>
          <p:nvPr/>
        </p:nvSpPr>
        <p:spPr>
          <a:xfrm>
            <a:off x="779333" y="2369905"/>
            <a:ext cx="613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Failure Reproducibility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93F7A-93F3-28AC-D45E-388DD810F5A0}"/>
              </a:ext>
            </a:extLst>
          </p:cNvPr>
          <p:cNvSpPr txBox="1"/>
          <p:nvPr/>
        </p:nvSpPr>
        <p:spPr>
          <a:xfrm>
            <a:off x="168477" y="4047304"/>
            <a:ext cx="11840641" cy="63094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RQ3</a:t>
            </a:r>
          </a:p>
          <a:p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3B2CBE-1BBE-57A2-84E2-2A552883CE60}"/>
              </a:ext>
            </a:extLst>
          </p:cNvPr>
          <p:cNvSpPr txBox="1"/>
          <p:nvPr/>
        </p:nvSpPr>
        <p:spPr>
          <a:xfrm>
            <a:off x="168477" y="4326512"/>
            <a:ext cx="82638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What is the run-time efficiency of DeFT and the produced module tests?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637187-FB45-5967-1DFA-FF6BFCB1B85D}"/>
              </a:ext>
            </a:extLst>
          </p:cNvPr>
          <p:cNvSpPr txBox="1"/>
          <p:nvPr/>
        </p:nvSpPr>
        <p:spPr>
          <a:xfrm>
            <a:off x="779333" y="4047304"/>
            <a:ext cx="613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Efficiency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136859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12" grpId="0"/>
      <p:bldP spid="19" grpId="0"/>
      <p:bldP spid="20" grpId="0"/>
      <p:bldP spid="4" grpId="0" animBg="1"/>
      <p:bldP spid="23" grpId="0"/>
      <p:bldP spid="2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3E39D-1EC4-5FA8-92AE-C5A557B9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F6454-4D22-5448-FC53-5C060876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E54F03-672C-5595-F3E5-A2DA7ED4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35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76636C-61C0-1B7A-D0BD-419490931653}"/>
              </a:ext>
            </a:extLst>
          </p:cNvPr>
          <p:cNvSpPr txBox="1"/>
          <p:nvPr/>
        </p:nvSpPr>
        <p:spPr>
          <a:xfrm>
            <a:off x="168478" y="684664"/>
            <a:ext cx="11840642" cy="63093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Experiment Setup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4E0D1-9ED6-A188-229D-108A4F8FB9BF}"/>
              </a:ext>
            </a:extLst>
          </p:cNvPr>
          <p:cNvSpPr txBox="1"/>
          <p:nvPr/>
        </p:nvSpPr>
        <p:spPr>
          <a:xfrm>
            <a:off x="4892394" y="2402977"/>
            <a:ext cx="1338828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Scenario 1</a:t>
            </a:r>
            <a:endParaRPr lang="en-US" sz="1500" baseline="30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ED0FC1-4D4E-DF63-46A4-A198277BD4A4}"/>
              </a:ext>
            </a:extLst>
          </p:cNvPr>
          <p:cNvSpPr txBox="1"/>
          <p:nvPr/>
        </p:nvSpPr>
        <p:spPr>
          <a:xfrm>
            <a:off x="5296350" y="2960406"/>
            <a:ext cx="530915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418F66-E0DD-0723-9E69-37803FAA1543}"/>
              </a:ext>
            </a:extLst>
          </p:cNvPr>
          <p:cNvSpPr txBox="1"/>
          <p:nvPr/>
        </p:nvSpPr>
        <p:spPr>
          <a:xfrm>
            <a:off x="4892394" y="3499725"/>
            <a:ext cx="1338828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Scenario N</a:t>
            </a:r>
            <a:endParaRPr lang="en-US" sz="1500" baseline="30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258DB0-6067-2D1E-D232-D4A763BC780F}"/>
              </a:ext>
            </a:extLst>
          </p:cNvPr>
          <p:cNvSpPr txBox="1"/>
          <p:nvPr/>
        </p:nvSpPr>
        <p:spPr>
          <a:xfrm>
            <a:off x="4892395" y="1543735"/>
            <a:ext cx="4154984" cy="22860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System Level Scenario Test Benchmark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D29FED-5AD6-1E50-58E0-40B8FC0F7287}"/>
              </a:ext>
            </a:extLst>
          </p:cNvPr>
          <p:cNvSpPr txBox="1"/>
          <p:nvPr/>
        </p:nvSpPr>
        <p:spPr>
          <a:xfrm>
            <a:off x="6925860" y="2401218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CFA048-C271-63DC-883D-104D6CE60E78}"/>
              </a:ext>
            </a:extLst>
          </p:cNvPr>
          <p:cNvSpPr txBox="1"/>
          <p:nvPr/>
        </p:nvSpPr>
        <p:spPr>
          <a:xfrm>
            <a:off x="7490094" y="2401218"/>
            <a:ext cx="569387" cy="32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2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9115ED-76BC-AA96-DAC1-80CCFF5E3761}"/>
              </a:ext>
            </a:extLst>
          </p:cNvPr>
          <p:cNvSpPr txBox="1"/>
          <p:nvPr/>
        </p:nvSpPr>
        <p:spPr>
          <a:xfrm>
            <a:off x="8054328" y="2401218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3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ACD675-CC37-4648-8543-3DB9AEE2BB52}"/>
              </a:ext>
            </a:extLst>
          </p:cNvPr>
          <p:cNvSpPr txBox="1"/>
          <p:nvPr/>
        </p:nvSpPr>
        <p:spPr>
          <a:xfrm>
            <a:off x="8618562" y="2401218"/>
            <a:ext cx="569387" cy="32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4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6055ED-A1F2-C85C-579D-7ABEEB47674F}"/>
              </a:ext>
            </a:extLst>
          </p:cNvPr>
          <p:cNvSpPr txBox="1"/>
          <p:nvPr/>
        </p:nvSpPr>
        <p:spPr>
          <a:xfrm>
            <a:off x="9182796" y="2401218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5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E8D036-538F-2AEB-7C08-DE14D35B4D0A}"/>
              </a:ext>
            </a:extLst>
          </p:cNvPr>
          <p:cNvSpPr txBox="1"/>
          <p:nvPr/>
        </p:nvSpPr>
        <p:spPr>
          <a:xfrm>
            <a:off x="9747030" y="2401218"/>
            <a:ext cx="569387" cy="32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6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4C6771-6DED-23BB-2416-F49B232F4723}"/>
              </a:ext>
            </a:extLst>
          </p:cNvPr>
          <p:cNvSpPr txBox="1"/>
          <p:nvPr/>
        </p:nvSpPr>
        <p:spPr>
          <a:xfrm>
            <a:off x="10311264" y="2401218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7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C891D4-0513-2CB0-E4C8-68D3A057026D}"/>
              </a:ext>
            </a:extLst>
          </p:cNvPr>
          <p:cNvSpPr txBox="1"/>
          <p:nvPr/>
        </p:nvSpPr>
        <p:spPr>
          <a:xfrm>
            <a:off x="10875498" y="2401218"/>
            <a:ext cx="569387" cy="32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8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D968B0-6E45-5351-EF7E-6DDC2D0A71C5}"/>
              </a:ext>
            </a:extLst>
          </p:cNvPr>
          <p:cNvSpPr txBox="1"/>
          <p:nvPr/>
        </p:nvSpPr>
        <p:spPr>
          <a:xfrm>
            <a:off x="11439732" y="2401218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9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93A0E6-D161-313D-CC72-1754F095C7AD}"/>
              </a:ext>
            </a:extLst>
          </p:cNvPr>
          <p:cNvSpPr txBox="1"/>
          <p:nvPr/>
        </p:nvSpPr>
        <p:spPr>
          <a:xfrm>
            <a:off x="6925860" y="3509488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N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BF50D-35A7-7C76-B4C2-FB59ABB5623D}"/>
              </a:ext>
            </a:extLst>
          </p:cNvPr>
          <p:cNvSpPr txBox="1"/>
          <p:nvPr/>
        </p:nvSpPr>
        <p:spPr>
          <a:xfrm>
            <a:off x="7490094" y="3509488"/>
            <a:ext cx="569387" cy="32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N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2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F478EA-2445-DD0C-9DDE-7D3E65AE6727}"/>
              </a:ext>
            </a:extLst>
          </p:cNvPr>
          <p:cNvSpPr txBox="1"/>
          <p:nvPr/>
        </p:nvSpPr>
        <p:spPr>
          <a:xfrm>
            <a:off x="8054328" y="3509488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N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3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557079-F9B7-4539-D86B-E09A014CAA10}"/>
              </a:ext>
            </a:extLst>
          </p:cNvPr>
          <p:cNvSpPr txBox="1"/>
          <p:nvPr/>
        </p:nvSpPr>
        <p:spPr>
          <a:xfrm>
            <a:off x="8618562" y="3509488"/>
            <a:ext cx="569387" cy="32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N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4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E32107-0682-3BC3-C5C7-66F59E99A9AA}"/>
              </a:ext>
            </a:extLst>
          </p:cNvPr>
          <p:cNvSpPr txBox="1"/>
          <p:nvPr/>
        </p:nvSpPr>
        <p:spPr>
          <a:xfrm>
            <a:off x="9182796" y="3509488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N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5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BD16F8-CCA4-550C-9452-946F5B21BD2B}"/>
              </a:ext>
            </a:extLst>
          </p:cNvPr>
          <p:cNvSpPr txBox="1"/>
          <p:nvPr/>
        </p:nvSpPr>
        <p:spPr>
          <a:xfrm>
            <a:off x="9747030" y="3509488"/>
            <a:ext cx="569387" cy="32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N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6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630B7A-B310-8C72-76F6-351095A27EAD}"/>
              </a:ext>
            </a:extLst>
          </p:cNvPr>
          <p:cNvSpPr txBox="1"/>
          <p:nvPr/>
        </p:nvSpPr>
        <p:spPr>
          <a:xfrm>
            <a:off x="10311264" y="3509488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N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7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D6CE72-8A49-5A9F-981D-731CD1870BF4}"/>
              </a:ext>
            </a:extLst>
          </p:cNvPr>
          <p:cNvSpPr txBox="1"/>
          <p:nvPr/>
        </p:nvSpPr>
        <p:spPr>
          <a:xfrm>
            <a:off x="10875498" y="3509488"/>
            <a:ext cx="569387" cy="32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N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8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AAFAB9-F051-4E33-88C8-36567CA6AFB8}"/>
              </a:ext>
            </a:extLst>
          </p:cNvPr>
          <p:cNvSpPr txBox="1"/>
          <p:nvPr/>
        </p:nvSpPr>
        <p:spPr>
          <a:xfrm>
            <a:off x="11439732" y="3509488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N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9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E149D0-45D1-C8A6-4A26-71578EA4B739}"/>
              </a:ext>
            </a:extLst>
          </p:cNvPr>
          <p:cNvSpPr txBox="1"/>
          <p:nvPr/>
        </p:nvSpPr>
        <p:spPr>
          <a:xfrm>
            <a:off x="4892394" y="2023001"/>
            <a:ext cx="138499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Initial Test Suite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1014BB-ED93-2DB6-7E91-1FE92A424BA0}"/>
              </a:ext>
            </a:extLst>
          </p:cNvPr>
          <p:cNvSpPr txBox="1"/>
          <p:nvPr/>
        </p:nvSpPr>
        <p:spPr>
          <a:xfrm>
            <a:off x="6925860" y="2023001"/>
            <a:ext cx="330859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Reruns of system-level scenario-based tests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C878BC-13EB-4836-A500-CAB3FC7E78C9}"/>
              </a:ext>
            </a:extLst>
          </p:cNvPr>
          <p:cNvSpPr txBox="1"/>
          <p:nvPr/>
        </p:nvSpPr>
        <p:spPr>
          <a:xfrm>
            <a:off x="9349683" y="2960406"/>
            <a:ext cx="530915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...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BE650A4-E800-CE60-B279-F1B367B4AB59}"/>
              </a:ext>
            </a:extLst>
          </p:cNvPr>
          <p:cNvSpPr/>
          <p:nvPr/>
        </p:nvSpPr>
        <p:spPr>
          <a:xfrm>
            <a:off x="4892394" y="2401218"/>
            <a:ext cx="1338828" cy="14216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6B3CFBF-400B-B682-6AD0-4F6F70EFA96A}"/>
              </a:ext>
            </a:extLst>
          </p:cNvPr>
          <p:cNvSpPr/>
          <p:nvPr/>
        </p:nvSpPr>
        <p:spPr>
          <a:xfrm>
            <a:off x="6925860" y="2401218"/>
            <a:ext cx="5083260" cy="14216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CD28BD-0364-4294-5FE6-CBE8B154B773}"/>
              </a:ext>
            </a:extLst>
          </p:cNvPr>
          <p:cNvSpPr txBox="1"/>
          <p:nvPr/>
        </p:nvSpPr>
        <p:spPr>
          <a:xfrm>
            <a:off x="4892394" y="4047218"/>
            <a:ext cx="138499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Module Test Suites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912674-9D1C-B5FC-125A-27EE1F4DBB45}"/>
              </a:ext>
            </a:extLst>
          </p:cNvPr>
          <p:cNvSpPr txBox="1"/>
          <p:nvPr/>
        </p:nvSpPr>
        <p:spPr>
          <a:xfrm>
            <a:off x="4892394" y="4427193"/>
            <a:ext cx="1338828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MTS 1</a:t>
            </a:r>
            <a:endParaRPr lang="en-US" sz="1500" baseline="30000" dirty="0">
              <a:latin typeface="Berkeley Mono" pitchFamily="49" charset="7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124667-FC69-BF49-C09A-DA0F38588652}"/>
              </a:ext>
            </a:extLst>
          </p:cNvPr>
          <p:cNvSpPr txBox="1"/>
          <p:nvPr/>
        </p:nvSpPr>
        <p:spPr>
          <a:xfrm>
            <a:off x="5296350" y="4976446"/>
            <a:ext cx="530915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AD5ED4-75AE-F809-3308-DDDD415D3E0B}"/>
              </a:ext>
            </a:extLst>
          </p:cNvPr>
          <p:cNvSpPr txBox="1"/>
          <p:nvPr/>
        </p:nvSpPr>
        <p:spPr>
          <a:xfrm>
            <a:off x="4892394" y="5523941"/>
            <a:ext cx="1338828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MTS N</a:t>
            </a:r>
            <a:endParaRPr lang="en-US" sz="1500" baseline="30000" dirty="0">
              <a:latin typeface="Berkeley Mono" pitchFamily="49" charset="77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701FAA8-7921-F151-34C0-B1D9540E7EA3}"/>
              </a:ext>
            </a:extLst>
          </p:cNvPr>
          <p:cNvSpPr/>
          <p:nvPr/>
        </p:nvSpPr>
        <p:spPr>
          <a:xfrm>
            <a:off x="4892394" y="4425434"/>
            <a:ext cx="1338828" cy="14216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B8872D-A734-BDC7-1564-F7B0CA33F33B}"/>
              </a:ext>
            </a:extLst>
          </p:cNvPr>
          <p:cNvSpPr txBox="1"/>
          <p:nvPr/>
        </p:nvSpPr>
        <p:spPr>
          <a:xfrm>
            <a:off x="6925859" y="4427023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1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1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F8B79C5-BF35-7736-F2A5-10CFAFA7925C}"/>
              </a:ext>
            </a:extLst>
          </p:cNvPr>
          <p:cNvSpPr txBox="1"/>
          <p:nvPr/>
        </p:nvSpPr>
        <p:spPr>
          <a:xfrm>
            <a:off x="7490093" y="4427023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1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2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F001B0-5418-011E-B1D0-118690B91FFA}"/>
              </a:ext>
            </a:extLst>
          </p:cNvPr>
          <p:cNvSpPr txBox="1"/>
          <p:nvPr/>
        </p:nvSpPr>
        <p:spPr>
          <a:xfrm>
            <a:off x="8054327" y="4427023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1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3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09A5952-254F-560B-D2A3-EFB39324729C}"/>
              </a:ext>
            </a:extLst>
          </p:cNvPr>
          <p:cNvSpPr txBox="1"/>
          <p:nvPr/>
        </p:nvSpPr>
        <p:spPr>
          <a:xfrm>
            <a:off x="8618561" y="4427023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1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4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1AB712-0B30-1ECB-058D-A2E315973E6A}"/>
              </a:ext>
            </a:extLst>
          </p:cNvPr>
          <p:cNvSpPr txBox="1"/>
          <p:nvPr/>
        </p:nvSpPr>
        <p:spPr>
          <a:xfrm>
            <a:off x="9182795" y="4427023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1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5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16BFEDD-3F6E-BBB4-687F-B12D6FF064E9}"/>
              </a:ext>
            </a:extLst>
          </p:cNvPr>
          <p:cNvSpPr txBox="1"/>
          <p:nvPr/>
        </p:nvSpPr>
        <p:spPr>
          <a:xfrm>
            <a:off x="9747029" y="4427023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1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6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5E3FA1-20AF-65B4-559C-2D9906E26B5D}"/>
              </a:ext>
            </a:extLst>
          </p:cNvPr>
          <p:cNvSpPr txBox="1"/>
          <p:nvPr/>
        </p:nvSpPr>
        <p:spPr>
          <a:xfrm>
            <a:off x="10311263" y="4427023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1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7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6286560-BF94-61EA-1547-C1A55BA6E502}"/>
              </a:ext>
            </a:extLst>
          </p:cNvPr>
          <p:cNvSpPr txBox="1"/>
          <p:nvPr/>
        </p:nvSpPr>
        <p:spPr>
          <a:xfrm>
            <a:off x="10875497" y="4427023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1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8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51BA77-13A4-1AE8-B506-ECF015BF3381}"/>
              </a:ext>
            </a:extLst>
          </p:cNvPr>
          <p:cNvSpPr txBox="1"/>
          <p:nvPr/>
        </p:nvSpPr>
        <p:spPr>
          <a:xfrm>
            <a:off x="11439732" y="4427023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1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9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65D65F9-6D41-EE3F-6D3C-9CF333DA145B}"/>
              </a:ext>
            </a:extLst>
          </p:cNvPr>
          <p:cNvSpPr txBox="1"/>
          <p:nvPr/>
        </p:nvSpPr>
        <p:spPr>
          <a:xfrm>
            <a:off x="6925859" y="5519191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N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1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32ED6E-CFCC-4FFE-A2F7-B85E588C3A86}"/>
              </a:ext>
            </a:extLst>
          </p:cNvPr>
          <p:cNvSpPr txBox="1"/>
          <p:nvPr/>
        </p:nvSpPr>
        <p:spPr>
          <a:xfrm>
            <a:off x="7490093" y="5519191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N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2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F5F5BDD-B139-FE0E-3CF7-33D00BB108DE}"/>
              </a:ext>
            </a:extLst>
          </p:cNvPr>
          <p:cNvSpPr txBox="1"/>
          <p:nvPr/>
        </p:nvSpPr>
        <p:spPr>
          <a:xfrm>
            <a:off x="8054327" y="5519191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N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3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2991A9A-35C8-68FF-0AA3-A3640B776918}"/>
              </a:ext>
            </a:extLst>
          </p:cNvPr>
          <p:cNvSpPr txBox="1"/>
          <p:nvPr/>
        </p:nvSpPr>
        <p:spPr>
          <a:xfrm>
            <a:off x="8618561" y="5519191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N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4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FB0EE0-3FC7-6454-0EE0-038857DB0D7D}"/>
              </a:ext>
            </a:extLst>
          </p:cNvPr>
          <p:cNvSpPr txBox="1"/>
          <p:nvPr/>
        </p:nvSpPr>
        <p:spPr>
          <a:xfrm>
            <a:off x="9182795" y="5519191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N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5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372CD1C-8397-1177-25A1-BFF11B50E3B8}"/>
              </a:ext>
            </a:extLst>
          </p:cNvPr>
          <p:cNvSpPr txBox="1"/>
          <p:nvPr/>
        </p:nvSpPr>
        <p:spPr>
          <a:xfrm>
            <a:off x="9747029" y="5519191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N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6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6775E9-BF43-0A9D-71FF-4924B84DCC2E}"/>
              </a:ext>
            </a:extLst>
          </p:cNvPr>
          <p:cNvSpPr txBox="1"/>
          <p:nvPr/>
        </p:nvSpPr>
        <p:spPr>
          <a:xfrm>
            <a:off x="10311263" y="5519191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N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7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4A2101A-D7DF-5DFF-A66A-06A5E53070D0}"/>
              </a:ext>
            </a:extLst>
          </p:cNvPr>
          <p:cNvSpPr txBox="1"/>
          <p:nvPr/>
        </p:nvSpPr>
        <p:spPr>
          <a:xfrm>
            <a:off x="10875497" y="5519191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N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8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624E397-639A-C4C0-624E-C3174CC7446B}"/>
              </a:ext>
            </a:extLst>
          </p:cNvPr>
          <p:cNvSpPr txBox="1"/>
          <p:nvPr/>
        </p:nvSpPr>
        <p:spPr>
          <a:xfrm>
            <a:off x="11439732" y="5519191"/>
            <a:ext cx="56938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</a:t>
            </a:r>
            <a:r>
              <a:rPr lang="en-US" sz="1500" baseline="30000" dirty="0">
                <a:latin typeface="Berkeley Mono" pitchFamily="49" charset="77"/>
              </a:rPr>
              <a:t>N</a:t>
            </a:r>
            <a:r>
              <a:rPr lang="en-US" sz="1500" dirty="0">
                <a:latin typeface="Berkeley Mono" pitchFamily="49" charset="77"/>
              </a:rPr>
              <a:t>R</a:t>
            </a:r>
            <a:r>
              <a:rPr lang="en-US" sz="1500" baseline="30000" dirty="0">
                <a:latin typeface="Berkeley Mono" pitchFamily="49" charset="77"/>
              </a:rPr>
              <a:t>9</a:t>
            </a:r>
            <a:endParaRPr lang="en-US" sz="1500" dirty="0">
              <a:latin typeface="Berkeley Mono" pitchFamily="49" charset="7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F80F72C-74C7-1E6F-691F-A720481EA1C6}"/>
              </a:ext>
            </a:extLst>
          </p:cNvPr>
          <p:cNvSpPr txBox="1"/>
          <p:nvPr/>
        </p:nvSpPr>
        <p:spPr>
          <a:xfrm>
            <a:off x="9349682" y="4984622"/>
            <a:ext cx="530915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...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9F05749-B287-3358-65E5-958500DFD6DA}"/>
              </a:ext>
            </a:extLst>
          </p:cNvPr>
          <p:cNvSpPr/>
          <p:nvPr/>
        </p:nvSpPr>
        <p:spPr>
          <a:xfrm>
            <a:off x="6925859" y="4425434"/>
            <a:ext cx="5083260" cy="14216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0C7AE6-C6B4-BEB3-D200-5F5AA17B589A}"/>
              </a:ext>
            </a:extLst>
          </p:cNvPr>
          <p:cNvSpPr txBox="1"/>
          <p:nvPr/>
        </p:nvSpPr>
        <p:spPr>
          <a:xfrm>
            <a:off x="168478" y="1543735"/>
            <a:ext cx="2431901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Berkeley Mono" pitchFamily="49" charset="77"/>
              </a:rPr>
              <a:t>ApolloAuto</a:t>
            </a:r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/apollo | </a:t>
            </a:r>
            <a:r>
              <a:rPr lang="en-US" sz="1000" dirty="0">
                <a:solidFill>
                  <a:srgbClr val="FFC000"/>
                </a:solidFill>
                <a:latin typeface="Berkeley Mono" pitchFamily="49" charset="77"/>
              </a:rPr>
              <a:t>★ 26.5k</a:t>
            </a: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8C877E76-6676-E460-0EAB-7BC2086B9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66" y="1560165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2AD670-2956-EDCA-C0D5-9A1444A2A253}"/>
              </a:ext>
            </a:extLst>
          </p:cNvPr>
          <p:cNvSpPr txBox="1"/>
          <p:nvPr/>
        </p:nvSpPr>
        <p:spPr>
          <a:xfrm>
            <a:off x="181266" y="1899890"/>
            <a:ext cx="2954655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8 Apollo Test Generators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0113E5-D402-11DE-D760-70FD37A53E3F}"/>
              </a:ext>
            </a:extLst>
          </p:cNvPr>
          <p:cNvSpPr txBox="1"/>
          <p:nvPr/>
        </p:nvSpPr>
        <p:spPr>
          <a:xfrm>
            <a:off x="181266" y="3705795"/>
            <a:ext cx="1461939" cy="201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ICSE 23, 25; TSE 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442CE7-6FFD-D2A2-9BFC-D5DF62060A4A}"/>
              </a:ext>
            </a:extLst>
          </p:cNvPr>
          <p:cNvSpPr txBox="1"/>
          <p:nvPr/>
        </p:nvSpPr>
        <p:spPr>
          <a:xfrm>
            <a:off x="181266" y="4047218"/>
            <a:ext cx="1454244" cy="323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DeFT-Apollo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D8CA12-4347-13EE-3CB6-B992DB8EEE79}"/>
              </a:ext>
            </a:extLst>
          </p:cNvPr>
          <p:cNvSpPr txBox="1"/>
          <p:nvPr/>
        </p:nvSpPr>
        <p:spPr>
          <a:xfrm>
            <a:off x="181266" y="4500310"/>
            <a:ext cx="4455066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* Uses Apollo planning module’ output</a:t>
            </a:r>
            <a:br>
              <a:rPr lang="en-US" sz="15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  to reconstruct inputs.</a:t>
            </a:r>
            <a:br>
              <a:rPr lang="en-US" sz="1500" dirty="0">
                <a:latin typeface="Berkeley Mono" pitchFamily="49" charset="77"/>
              </a:rPr>
            </a:br>
            <a:br>
              <a:rPr lang="en-US" sz="15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* Converts each scenario test into a</a:t>
            </a:r>
            <a:br>
              <a:rPr lang="en-US" sz="1500" dirty="0">
                <a:latin typeface="Berkeley Mono" pitchFamily="49" charset="77"/>
              </a:rPr>
            </a:br>
            <a:r>
              <a:rPr lang="en-US" sz="1500" dirty="0">
                <a:latin typeface="Berkeley Mono" pitchFamily="49" charset="77"/>
              </a:rPr>
              <a:t>  module-level test suite.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F1B870-C29D-9EB8-7485-0B11C6EC1257}"/>
              </a:ext>
            </a:extLst>
          </p:cNvPr>
          <p:cNvSpPr txBox="1"/>
          <p:nvPr/>
        </p:nvSpPr>
        <p:spPr>
          <a:xfrm>
            <a:off x="6925860" y="4048806"/>
            <a:ext cx="307776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Reruns of module-level frame-based tests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2BA747-B7A3-F14F-7523-2EE546A22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42" y="2251773"/>
            <a:ext cx="1096620" cy="14181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4E998C-75EE-2FDA-59BA-76DEC34177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882" y="2251773"/>
            <a:ext cx="1095935" cy="14181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36F14D-9287-29AA-6FFF-84437C7BB8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4137" y="2251773"/>
            <a:ext cx="1062806" cy="14181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51547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26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50" grpId="0" animBg="1"/>
      <p:bldP spid="51" grpId="0" animBg="1"/>
      <p:bldP spid="52" grpId="0"/>
      <p:bldP spid="53" grpId="0" animBg="1"/>
      <p:bldP spid="54" grpId="0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/>
      <p:bldP spid="76" grpId="0" animBg="1"/>
      <p:bldP spid="9" grpId="0" animBg="1"/>
      <p:bldP spid="11" grpId="0" animBg="1"/>
      <p:bldP spid="12" grpId="0"/>
      <p:bldP spid="13" grpId="0" animBg="1"/>
      <p:bldP spid="14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1CD5E-7240-A435-9C91-1B3F06C5A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B6F7D-0676-5FC3-EE21-0BA890DB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5C7DD8-6A11-3F85-9CBA-716B8DD4C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36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2CD98-1679-55A6-7B6B-87A5543CCADA}"/>
              </a:ext>
            </a:extLst>
          </p:cNvPr>
          <p:cNvSpPr txBox="1"/>
          <p:nvPr/>
        </p:nvSpPr>
        <p:spPr>
          <a:xfrm>
            <a:off x="168478" y="684664"/>
            <a:ext cx="10547980" cy="63094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RQ1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  <a:endParaRPr lang="en-US" sz="2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D6A409-29C4-D780-BEA3-6D219E9CAD80}"/>
              </a:ext>
            </a:extLst>
          </p:cNvPr>
          <p:cNvSpPr txBox="1"/>
          <p:nvPr/>
        </p:nvSpPr>
        <p:spPr>
          <a:xfrm>
            <a:off x="10716458" y="684664"/>
            <a:ext cx="646331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RQ2</a:t>
            </a:r>
          </a:p>
          <a:p>
            <a:endParaRPr lang="en-US" sz="1500" dirty="0">
              <a:latin typeface="Berkeley Mono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1FE43-1F04-EC18-0024-D6030271EDE2}"/>
              </a:ext>
            </a:extLst>
          </p:cNvPr>
          <p:cNvSpPr txBox="1"/>
          <p:nvPr/>
        </p:nvSpPr>
        <p:spPr>
          <a:xfrm>
            <a:off x="11362789" y="684664"/>
            <a:ext cx="646331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RQ3</a:t>
            </a:r>
            <a:br>
              <a:rPr lang="en-US" sz="2000" dirty="0">
                <a:latin typeface="Berkeley Mono" pitchFamily="49" charset="77"/>
              </a:rPr>
            </a:br>
            <a:endParaRPr lang="en-US" sz="1500" dirty="0">
              <a:latin typeface="Berkeley Mono" pitchFamily="49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7FBADC-5AD6-C293-6218-A88D66416B3E}"/>
              </a:ext>
            </a:extLst>
          </p:cNvPr>
          <p:cNvSpPr txBox="1"/>
          <p:nvPr/>
        </p:nvSpPr>
        <p:spPr>
          <a:xfrm>
            <a:off x="168478" y="972185"/>
            <a:ext cx="1022587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To what extent do scenario tests and module tests reproduce planning-module executions?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B6383-9813-583C-5C6E-69AA27ACE026}"/>
              </a:ext>
            </a:extLst>
          </p:cNvPr>
          <p:cNvSpPr txBox="1"/>
          <p:nvPr/>
        </p:nvSpPr>
        <p:spPr>
          <a:xfrm>
            <a:off x="779334" y="692977"/>
            <a:ext cx="613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Planning Reproducibility</a:t>
            </a:r>
            <a:endParaRPr lang="en-US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9A2180D-23BF-21E7-AA2A-2AED5BABB1AA}"/>
              </a:ext>
            </a:extLst>
          </p:cNvPr>
          <p:cNvSpPr txBox="1"/>
          <p:nvPr/>
        </p:nvSpPr>
        <p:spPr>
          <a:xfrm>
            <a:off x="168477" y="1543735"/>
            <a:ext cx="11840621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Planning reproducibility is meaningful with respect to failure reproducibility.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A53E9A-24FC-2357-FF14-B8541EC1D799}"/>
              </a:ext>
            </a:extLst>
          </p:cNvPr>
          <p:cNvSpPr txBox="1"/>
          <p:nvPr/>
        </p:nvSpPr>
        <p:spPr>
          <a:xfrm>
            <a:off x="1815050" y="3511933"/>
            <a:ext cx="2262158" cy="3231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Collision Scenario</a:t>
            </a:r>
            <a:endParaRPr lang="en-US" sz="1500" baseline="30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400026-8F8A-3F7C-3481-E603A01DC476}"/>
              </a:ext>
            </a:extLst>
          </p:cNvPr>
          <p:cNvSpPr txBox="1"/>
          <p:nvPr/>
        </p:nvSpPr>
        <p:spPr>
          <a:xfrm>
            <a:off x="4641442" y="3511933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F1E803-32AA-8602-CE07-B01229D82CEF}"/>
              </a:ext>
            </a:extLst>
          </p:cNvPr>
          <p:cNvSpPr txBox="1"/>
          <p:nvPr/>
        </p:nvSpPr>
        <p:spPr>
          <a:xfrm>
            <a:off x="5205676" y="3511933"/>
            <a:ext cx="569387" cy="32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2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FEC966A-A073-C0D4-C791-0D38D95534D1}"/>
              </a:ext>
            </a:extLst>
          </p:cNvPr>
          <p:cNvSpPr txBox="1"/>
          <p:nvPr/>
        </p:nvSpPr>
        <p:spPr>
          <a:xfrm>
            <a:off x="5769910" y="3511933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3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DA78990-97F7-2F23-C9FB-8BE41ECC9E84}"/>
              </a:ext>
            </a:extLst>
          </p:cNvPr>
          <p:cNvSpPr txBox="1"/>
          <p:nvPr/>
        </p:nvSpPr>
        <p:spPr>
          <a:xfrm>
            <a:off x="6334144" y="3511933"/>
            <a:ext cx="569387" cy="32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4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4E7BBD0-93A4-C02E-83E4-39EAA8D08B83}"/>
              </a:ext>
            </a:extLst>
          </p:cNvPr>
          <p:cNvSpPr txBox="1"/>
          <p:nvPr/>
        </p:nvSpPr>
        <p:spPr>
          <a:xfrm>
            <a:off x="6898378" y="3511933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5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3ECFCB-3A7F-2069-7926-4743D817C256}"/>
              </a:ext>
            </a:extLst>
          </p:cNvPr>
          <p:cNvSpPr txBox="1"/>
          <p:nvPr/>
        </p:nvSpPr>
        <p:spPr>
          <a:xfrm>
            <a:off x="7462612" y="3511933"/>
            <a:ext cx="569387" cy="32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6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66080C-E98E-3D01-F4CF-948E0A72D73A}"/>
              </a:ext>
            </a:extLst>
          </p:cNvPr>
          <p:cNvSpPr txBox="1"/>
          <p:nvPr/>
        </p:nvSpPr>
        <p:spPr>
          <a:xfrm>
            <a:off x="8026846" y="3511933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7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8611EC-ECE3-D547-A4BC-D65AF9027E58}"/>
              </a:ext>
            </a:extLst>
          </p:cNvPr>
          <p:cNvSpPr txBox="1"/>
          <p:nvPr/>
        </p:nvSpPr>
        <p:spPr>
          <a:xfrm>
            <a:off x="8591080" y="3511933"/>
            <a:ext cx="569387" cy="32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8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24C15E1-0E96-5DBE-3EEE-B5DCA797A3B5}"/>
              </a:ext>
            </a:extLst>
          </p:cNvPr>
          <p:cNvSpPr txBox="1"/>
          <p:nvPr/>
        </p:nvSpPr>
        <p:spPr>
          <a:xfrm>
            <a:off x="9155314" y="3511933"/>
            <a:ext cx="569387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9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52741691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AB358-7D74-D34E-C8D2-335FE82E4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D8A19-10EA-4C0C-60BB-BB2A67EA0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25FAC4-AB5B-A117-4501-24DBB337A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B03B18-218E-3462-FCB3-1E8B8FD1F179}"/>
              </a:ext>
            </a:extLst>
          </p:cNvPr>
          <p:cNvSpPr txBox="1"/>
          <p:nvPr/>
        </p:nvSpPr>
        <p:spPr>
          <a:xfrm>
            <a:off x="168478" y="684664"/>
            <a:ext cx="10547980" cy="63094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RQ1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  <a:endParaRPr lang="en-US" sz="2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3E856-B75C-306F-DE78-BABA52B872F2}"/>
              </a:ext>
            </a:extLst>
          </p:cNvPr>
          <p:cNvSpPr txBox="1"/>
          <p:nvPr/>
        </p:nvSpPr>
        <p:spPr>
          <a:xfrm>
            <a:off x="10716458" y="684664"/>
            <a:ext cx="646331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RQ2</a:t>
            </a:r>
          </a:p>
          <a:p>
            <a:endParaRPr lang="en-US" sz="1500" dirty="0">
              <a:latin typeface="Berkeley Mono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584A5-B3E8-9715-B43B-A75034F55BB7}"/>
              </a:ext>
            </a:extLst>
          </p:cNvPr>
          <p:cNvSpPr txBox="1"/>
          <p:nvPr/>
        </p:nvSpPr>
        <p:spPr>
          <a:xfrm>
            <a:off x="11362789" y="684664"/>
            <a:ext cx="646331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RQ3</a:t>
            </a:r>
            <a:br>
              <a:rPr lang="en-US" sz="2000" dirty="0">
                <a:latin typeface="Berkeley Mono" pitchFamily="49" charset="77"/>
              </a:rPr>
            </a:br>
            <a:endParaRPr lang="en-US" sz="1500" dirty="0">
              <a:latin typeface="Berkeley Mono" pitchFamily="49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2C6090-CCC8-B43A-155B-5F6001E657ED}"/>
              </a:ext>
            </a:extLst>
          </p:cNvPr>
          <p:cNvSpPr txBox="1"/>
          <p:nvPr/>
        </p:nvSpPr>
        <p:spPr>
          <a:xfrm>
            <a:off x="168478" y="972185"/>
            <a:ext cx="1022587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To what extent do scenario tests and module tests reproduce planning-module executions?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138BB3-5F23-DE21-8457-31866D9D9726}"/>
              </a:ext>
            </a:extLst>
          </p:cNvPr>
          <p:cNvSpPr txBox="1"/>
          <p:nvPr/>
        </p:nvSpPr>
        <p:spPr>
          <a:xfrm>
            <a:off x="779334" y="692977"/>
            <a:ext cx="613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Planning Reproducibility</a:t>
            </a:r>
            <a:endParaRPr lang="en-US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CAAB7D0-78D5-C46C-327E-60344D26FD1C}"/>
              </a:ext>
            </a:extLst>
          </p:cNvPr>
          <p:cNvSpPr txBox="1"/>
          <p:nvPr/>
        </p:nvSpPr>
        <p:spPr>
          <a:xfrm>
            <a:off x="168477" y="1543735"/>
            <a:ext cx="11840621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Planning reproducibility is meaningful with respect to failure reproducibility.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D965F64-8FB6-0650-031F-F12200FBEFB7}"/>
              </a:ext>
            </a:extLst>
          </p:cNvPr>
          <p:cNvSpPr txBox="1"/>
          <p:nvPr/>
        </p:nvSpPr>
        <p:spPr>
          <a:xfrm>
            <a:off x="168465" y="5575985"/>
            <a:ext cx="11840633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Hypothesis 0:</a:t>
            </a:r>
          </a:p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Failures are not reproduced when ADS planning trajectories differ.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CA6BF9-FE48-F03E-503D-BFE2A76E7D2D}"/>
              </a:ext>
            </a:extLst>
          </p:cNvPr>
          <p:cNvSpPr txBox="1"/>
          <p:nvPr/>
        </p:nvSpPr>
        <p:spPr>
          <a:xfrm>
            <a:off x="1815050" y="3511933"/>
            <a:ext cx="2262158" cy="3231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Collision Scenario</a:t>
            </a:r>
            <a:endParaRPr lang="en-US" sz="1500" baseline="30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6AD64A-40B3-9F74-7D52-38F1C47659D5}"/>
              </a:ext>
            </a:extLst>
          </p:cNvPr>
          <p:cNvSpPr txBox="1"/>
          <p:nvPr/>
        </p:nvSpPr>
        <p:spPr>
          <a:xfrm>
            <a:off x="4641442" y="3188768"/>
            <a:ext cx="569387" cy="3231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53EC670-DF57-50C7-8CB9-D497B59B8D1B}"/>
              </a:ext>
            </a:extLst>
          </p:cNvPr>
          <p:cNvSpPr txBox="1"/>
          <p:nvPr/>
        </p:nvSpPr>
        <p:spPr>
          <a:xfrm>
            <a:off x="5210829" y="3848473"/>
            <a:ext cx="569387" cy="323165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2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5FE2FC-4F28-00D5-54C0-B26309D59079}"/>
              </a:ext>
            </a:extLst>
          </p:cNvPr>
          <p:cNvSpPr txBox="1"/>
          <p:nvPr/>
        </p:nvSpPr>
        <p:spPr>
          <a:xfrm>
            <a:off x="5775063" y="3183778"/>
            <a:ext cx="569387" cy="3231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3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5A3F98-CE5E-C621-4EFD-CF355923FE8D}"/>
              </a:ext>
            </a:extLst>
          </p:cNvPr>
          <p:cNvSpPr txBox="1"/>
          <p:nvPr/>
        </p:nvSpPr>
        <p:spPr>
          <a:xfrm>
            <a:off x="6339297" y="3848473"/>
            <a:ext cx="569387" cy="323165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4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E8E1758-1008-728C-39D0-702FE4E615A3}"/>
              </a:ext>
            </a:extLst>
          </p:cNvPr>
          <p:cNvSpPr txBox="1"/>
          <p:nvPr/>
        </p:nvSpPr>
        <p:spPr>
          <a:xfrm>
            <a:off x="6903531" y="3848473"/>
            <a:ext cx="569387" cy="323165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5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1187A0-2BAA-87EC-FE3D-80F5279D545E}"/>
              </a:ext>
            </a:extLst>
          </p:cNvPr>
          <p:cNvSpPr txBox="1"/>
          <p:nvPr/>
        </p:nvSpPr>
        <p:spPr>
          <a:xfrm>
            <a:off x="7467765" y="3183778"/>
            <a:ext cx="569387" cy="3231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6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9ACBAD3-2EE7-7D51-1BE8-3A014242A20F}"/>
              </a:ext>
            </a:extLst>
          </p:cNvPr>
          <p:cNvSpPr txBox="1"/>
          <p:nvPr/>
        </p:nvSpPr>
        <p:spPr>
          <a:xfrm>
            <a:off x="8031999" y="3848473"/>
            <a:ext cx="569387" cy="323165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7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8B958B1-5349-AF8E-7A4E-AC9DA191757E}"/>
              </a:ext>
            </a:extLst>
          </p:cNvPr>
          <p:cNvSpPr txBox="1"/>
          <p:nvPr/>
        </p:nvSpPr>
        <p:spPr>
          <a:xfrm>
            <a:off x="8596233" y="3183778"/>
            <a:ext cx="569387" cy="3231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8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7C845A-4DBB-54FA-BC27-47F92613FB3C}"/>
              </a:ext>
            </a:extLst>
          </p:cNvPr>
          <p:cNvSpPr txBox="1"/>
          <p:nvPr/>
        </p:nvSpPr>
        <p:spPr>
          <a:xfrm>
            <a:off x="9160467" y="3183778"/>
            <a:ext cx="569387" cy="3231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S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1</a:t>
            </a:r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R</a:t>
            </a:r>
            <a:r>
              <a:rPr lang="en-US" sz="1500" baseline="30000" dirty="0">
                <a:solidFill>
                  <a:schemeClr val="bg1"/>
                </a:solidFill>
                <a:latin typeface="Berkeley Mono" pitchFamily="49" charset="77"/>
              </a:rPr>
              <a:t>9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44B49D05-3833-828D-983E-03349E2F031E}"/>
              </a:ext>
            </a:extLst>
          </p:cNvPr>
          <p:cNvCxnSpPr>
            <a:stCxn id="69" idx="0"/>
            <a:endCxn id="63" idx="0"/>
          </p:cNvCxnSpPr>
          <p:nvPr/>
        </p:nvCxnSpPr>
        <p:spPr>
          <a:xfrm rot="16200000" flipH="1" flipV="1">
            <a:off x="4338865" y="1791041"/>
            <a:ext cx="328155" cy="3113628"/>
          </a:xfrm>
          <a:prstGeom prst="curvedConnector3">
            <a:avLst>
              <a:gd name="adj1" fmla="val -83951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6224DB3D-5B88-454A-66F1-0ABB9C193EDE}"/>
              </a:ext>
            </a:extLst>
          </p:cNvPr>
          <p:cNvCxnSpPr>
            <a:stCxn id="72" idx="0"/>
            <a:endCxn id="63" idx="0"/>
          </p:cNvCxnSpPr>
          <p:nvPr/>
        </p:nvCxnSpPr>
        <p:spPr>
          <a:xfrm rot="16200000" flipH="1" flipV="1">
            <a:off x="5185216" y="944690"/>
            <a:ext cx="328155" cy="4806330"/>
          </a:xfrm>
          <a:prstGeom prst="curvedConnector3">
            <a:avLst>
              <a:gd name="adj1" fmla="val -130394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3C8901C6-E858-003A-270D-150E461C6175}"/>
              </a:ext>
            </a:extLst>
          </p:cNvPr>
          <p:cNvCxnSpPr>
            <a:stCxn id="74" idx="0"/>
            <a:endCxn id="63" idx="0"/>
          </p:cNvCxnSpPr>
          <p:nvPr/>
        </p:nvCxnSpPr>
        <p:spPr>
          <a:xfrm rot="16200000" flipH="1" flipV="1">
            <a:off x="5749450" y="380456"/>
            <a:ext cx="328155" cy="5934798"/>
          </a:xfrm>
          <a:prstGeom prst="curvedConnector3">
            <a:avLst>
              <a:gd name="adj1" fmla="val -173263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FAF84E2E-A4E3-6BC9-928D-51CAA82BBBB4}"/>
              </a:ext>
            </a:extLst>
          </p:cNvPr>
          <p:cNvCxnSpPr>
            <a:stCxn id="75" idx="0"/>
            <a:endCxn id="63" idx="0"/>
          </p:cNvCxnSpPr>
          <p:nvPr/>
        </p:nvCxnSpPr>
        <p:spPr>
          <a:xfrm rot="16200000" flipH="1" flipV="1">
            <a:off x="6031567" y="98339"/>
            <a:ext cx="328155" cy="6499032"/>
          </a:xfrm>
          <a:prstGeom prst="curvedConnector3">
            <a:avLst>
              <a:gd name="adj1" fmla="val -230421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20ECCA53-1B3F-FE42-54A2-0257CE12D18F}"/>
              </a:ext>
            </a:extLst>
          </p:cNvPr>
          <p:cNvCxnSpPr>
            <a:stCxn id="67" idx="1"/>
            <a:endCxn id="63" idx="0"/>
          </p:cNvCxnSpPr>
          <p:nvPr/>
        </p:nvCxnSpPr>
        <p:spPr>
          <a:xfrm rot="10800000" flipV="1">
            <a:off x="2946130" y="3350351"/>
            <a:ext cx="1695313" cy="161582"/>
          </a:xfrm>
          <a:prstGeom prst="curved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735D6A45-97F4-40B5-F144-E3367A16D17C}"/>
              </a:ext>
            </a:extLst>
          </p:cNvPr>
          <p:cNvCxnSpPr>
            <a:stCxn id="68" idx="1"/>
            <a:endCxn id="63" idx="2"/>
          </p:cNvCxnSpPr>
          <p:nvPr/>
        </p:nvCxnSpPr>
        <p:spPr>
          <a:xfrm rot="10800000">
            <a:off x="2946129" y="3835098"/>
            <a:ext cx="2264700" cy="174958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C8A2ED56-1A12-592B-C9ED-2E08EF553873}"/>
              </a:ext>
            </a:extLst>
          </p:cNvPr>
          <p:cNvCxnSpPr>
            <a:stCxn id="70" idx="2"/>
            <a:endCxn id="63" idx="2"/>
          </p:cNvCxnSpPr>
          <p:nvPr/>
        </p:nvCxnSpPr>
        <p:spPr>
          <a:xfrm rot="5400000" flipH="1">
            <a:off x="4616790" y="2164437"/>
            <a:ext cx="336540" cy="3677862"/>
          </a:xfrm>
          <a:prstGeom prst="curvedConnector3">
            <a:avLst>
              <a:gd name="adj1" fmla="val -67927"/>
            </a:avLst>
          </a:prstGeom>
          <a:ln w="127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9B2F8D4C-1B6E-05BA-6E8E-C0FD8C09950E}"/>
              </a:ext>
            </a:extLst>
          </p:cNvPr>
          <p:cNvCxnSpPr>
            <a:cxnSpLocks/>
            <a:stCxn id="71" idx="2"/>
            <a:endCxn id="63" idx="2"/>
          </p:cNvCxnSpPr>
          <p:nvPr/>
        </p:nvCxnSpPr>
        <p:spPr>
          <a:xfrm rot="5400000" flipH="1">
            <a:off x="4898907" y="1882320"/>
            <a:ext cx="336540" cy="4242096"/>
          </a:xfrm>
          <a:prstGeom prst="curvedConnector3">
            <a:avLst>
              <a:gd name="adj1" fmla="val -127145"/>
            </a:avLst>
          </a:prstGeom>
          <a:ln w="127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C698644D-DD0F-B1BC-5A16-2A260E70F99D}"/>
              </a:ext>
            </a:extLst>
          </p:cNvPr>
          <p:cNvCxnSpPr>
            <a:stCxn id="73" idx="2"/>
            <a:endCxn id="63" idx="2"/>
          </p:cNvCxnSpPr>
          <p:nvPr/>
        </p:nvCxnSpPr>
        <p:spPr>
          <a:xfrm rot="5400000" flipH="1">
            <a:off x="5463141" y="1318086"/>
            <a:ext cx="336540" cy="5370564"/>
          </a:xfrm>
          <a:prstGeom prst="curvedConnector3">
            <a:avLst>
              <a:gd name="adj1" fmla="val -196813"/>
            </a:avLst>
          </a:prstGeom>
          <a:ln w="127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52004B5-C958-DFD3-365C-2FD01936F59F}"/>
              </a:ext>
            </a:extLst>
          </p:cNvPr>
          <p:cNvSpPr txBox="1"/>
          <p:nvPr/>
        </p:nvSpPr>
        <p:spPr>
          <a:xfrm>
            <a:off x="9160467" y="2483500"/>
            <a:ext cx="2108269" cy="246221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Failure Reproduced Reruns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4EEE41-4589-47E6-9DB1-71DC1C17FA76}"/>
              </a:ext>
            </a:extLst>
          </p:cNvPr>
          <p:cNvSpPr txBox="1"/>
          <p:nvPr/>
        </p:nvSpPr>
        <p:spPr>
          <a:xfrm>
            <a:off x="8852690" y="4547552"/>
            <a:ext cx="2416046" cy="246221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Failure Not-Reproduced Reruns</a:t>
            </a:r>
          </a:p>
        </p:txBody>
      </p:sp>
    </p:spTree>
    <p:extLst>
      <p:ext uri="{BB962C8B-B14F-4D97-AF65-F5344CB8AC3E}">
        <p14:creationId xmlns:p14="http://schemas.microsoft.com/office/powerpoint/2010/main" val="541694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9E6D7-1DEF-8349-76DF-1704D6A7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F0D14-F21F-E644-E781-F031FC609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D9D46-9663-DDD7-AC77-907AB00F0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063D-CBB2-E7AA-8828-8D03473F66B9}"/>
              </a:ext>
            </a:extLst>
          </p:cNvPr>
          <p:cNvSpPr txBox="1"/>
          <p:nvPr/>
        </p:nvSpPr>
        <p:spPr>
          <a:xfrm>
            <a:off x="168478" y="684664"/>
            <a:ext cx="10547980" cy="63094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RQ1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  <a:endParaRPr lang="en-US" sz="2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5D50F-3589-D6DA-4070-778D70E67C22}"/>
              </a:ext>
            </a:extLst>
          </p:cNvPr>
          <p:cNvSpPr txBox="1"/>
          <p:nvPr/>
        </p:nvSpPr>
        <p:spPr>
          <a:xfrm>
            <a:off x="10716458" y="684664"/>
            <a:ext cx="646331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RQ2</a:t>
            </a:r>
          </a:p>
          <a:p>
            <a:endParaRPr lang="en-US" sz="1500" dirty="0">
              <a:latin typeface="Berkeley Mono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3EE988-BFB9-DDD6-2F3A-9F5486DE449D}"/>
              </a:ext>
            </a:extLst>
          </p:cNvPr>
          <p:cNvSpPr txBox="1"/>
          <p:nvPr/>
        </p:nvSpPr>
        <p:spPr>
          <a:xfrm>
            <a:off x="11362789" y="684664"/>
            <a:ext cx="646331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RQ3</a:t>
            </a:r>
            <a:br>
              <a:rPr lang="en-US" sz="2000" dirty="0">
                <a:latin typeface="Berkeley Mono" pitchFamily="49" charset="77"/>
              </a:rPr>
            </a:br>
            <a:endParaRPr lang="en-US" sz="1500" dirty="0">
              <a:latin typeface="Berkeley Mono" pitchFamily="49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CC250-8DE4-F25A-960E-10280B91BF98}"/>
              </a:ext>
            </a:extLst>
          </p:cNvPr>
          <p:cNvSpPr txBox="1"/>
          <p:nvPr/>
        </p:nvSpPr>
        <p:spPr>
          <a:xfrm>
            <a:off x="168478" y="972185"/>
            <a:ext cx="1022587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To what extent do scenario tests and module tests reproduce planning-module executions?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73092A-6245-5FD1-94F4-984A32F91D1D}"/>
              </a:ext>
            </a:extLst>
          </p:cNvPr>
          <p:cNvSpPr txBox="1"/>
          <p:nvPr/>
        </p:nvSpPr>
        <p:spPr>
          <a:xfrm>
            <a:off x="779334" y="692977"/>
            <a:ext cx="613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Planning Reproducibility</a:t>
            </a:r>
            <a:endParaRPr lang="en-US" sz="20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6DEBFE-4B9A-72CF-2205-ECE342610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956958"/>
              </p:ext>
            </p:extLst>
          </p:nvPr>
        </p:nvGraphicFramePr>
        <p:xfrm>
          <a:off x="168478" y="1543741"/>
          <a:ext cx="11194311" cy="3078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31437">
                  <a:extLst>
                    <a:ext uri="{9D8B030D-6E8A-4147-A177-3AD203B41FA5}">
                      <a16:colId xmlns:a16="http://schemas.microsoft.com/office/drawing/2014/main" val="4275340726"/>
                    </a:ext>
                  </a:extLst>
                </a:gridCol>
                <a:gridCol w="3731437">
                  <a:extLst>
                    <a:ext uri="{9D8B030D-6E8A-4147-A177-3AD203B41FA5}">
                      <a16:colId xmlns:a16="http://schemas.microsoft.com/office/drawing/2014/main" val="1449982840"/>
                    </a:ext>
                  </a:extLst>
                </a:gridCol>
                <a:gridCol w="3731437">
                  <a:extLst>
                    <a:ext uri="{9D8B030D-6E8A-4147-A177-3AD203B41FA5}">
                      <a16:colId xmlns:a16="http://schemas.microsoft.com/office/drawing/2014/main" val="2979994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Failure Reproduced</a:t>
                      </a:r>
                    </a:p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Edit Distances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Failure Not-Reproduced</a:t>
                      </a:r>
                    </a:p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Edit Distances (m)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81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1</a:t>
                      </a:r>
                      <a:r>
                        <a:rPr lang="en-US" sz="2000" baseline="30000" dirty="0">
                          <a:latin typeface="Berkeley Mono" pitchFamily="49" charset="77"/>
                        </a:rPr>
                        <a:t>st</a:t>
                      </a:r>
                      <a:r>
                        <a:rPr lang="en-US" sz="2000" dirty="0">
                          <a:latin typeface="Berkeley Mono" pitchFamily="49" charset="77"/>
                        </a:rPr>
                        <a:t> Quartile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1.62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284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2</a:t>
                      </a:r>
                      <a:r>
                        <a:rPr lang="en-US" sz="2000" baseline="30000" dirty="0">
                          <a:latin typeface="Berkeley Mono" pitchFamily="49" charset="77"/>
                        </a:rPr>
                        <a:t>nd</a:t>
                      </a:r>
                      <a:r>
                        <a:rPr lang="en-US" sz="2000" dirty="0">
                          <a:latin typeface="Berkeley Mono" pitchFamily="49" charset="77"/>
                        </a:rPr>
                        <a:t> Quartile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17.15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422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3</a:t>
                      </a:r>
                      <a:r>
                        <a:rPr lang="en-US" sz="2000" baseline="30000" dirty="0">
                          <a:latin typeface="Berkeley Mono" pitchFamily="49" charset="77"/>
                        </a:rPr>
                        <a:t>rd</a:t>
                      </a:r>
                      <a:r>
                        <a:rPr lang="en-US" sz="2000" dirty="0">
                          <a:latin typeface="Berkeley Mono" pitchFamily="49" charset="77"/>
                        </a:rPr>
                        <a:t> Quartile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6.99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308.71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914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656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29.56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139.51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44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2320.81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1453.06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27644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5A9960B-3066-640C-9448-F140806389D7}"/>
              </a:ext>
            </a:extLst>
          </p:cNvPr>
          <p:cNvSpPr txBox="1"/>
          <p:nvPr/>
        </p:nvSpPr>
        <p:spPr>
          <a:xfrm>
            <a:off x="168476" y="4744276"/>
            <a:ext cx="111943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Table 1. Summary statistics of planning trajectory edit distances across reruns of a system-level scenario test.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389397-BE46-929B-4FC3-07C0AC366A05}"/>
              </a:ext>
            </a:extLst>
          </p:cNvPr>
          <p:cNvSpPr txBox="1"/>
          <p:nvPr/>
        </p:nvSpPr>
        <p:spPr>
          <a:xfrm>
            <a:off x="168475" y="5135342"/>
            <a:ext cx="11194311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Failures revealed by system-level scenario tests tend to be reproduced when planning trajectories remain similar to the original simulation.</a:t>
            </a:r>
          </a:p>
        </p:txBody>
      </p:sp>
    </p:spTree>
    <p:extLst>
      <p:ext uri="{BB962C8B-B14F-4D97-AF65-F5344CB8AC3E}">
        <p14:creationId xmlns:p14="http://schemas.microsoft.com/office/powerpoint/2010/main" val="41005502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BE831-C005-30FA-74A9-E6AA8ADEE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B1D2-74DF-030D-E82C-8E43914A7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6CFB69-5797-2079-7CFC-F7746AF1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53E52-4E3E-277A-FE0B-A64D66A07C85}"/>
              </a:ext>
            </a:extLst>
          </p:cNvPr>
          <p:cNvSpPr txBox="1"/>
          <p:nvPr/>
        </p:nvSpPr>
        <p:spPr>
          <a:xfrm>
            <a:off x="168478" y="684664"/>
            <a:ext cx="10547980" cy="63094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RQ1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  <a:endParaRPr lang="en-US" sz="2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79349-9660-EF27-8F09-2B9FF980FA64}"/>
              </a:ext>
            </a:extLst>
          </p:cNvPr>
          <p:cNvSpPr txBox="1"/>
          <p:nvPr/>
        </p:nvSpPr>
        <p:spPr>
          <a:xfrm>
            <a:off x="10716458" y="684664"/>
            <a:ext cx="646331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RQ2</a:t>
            </a:r>
          </a:p>
          <a:p>
            <a:endParaRPr lang="en-US" sz="1500" dirty="0">
              <a:latin typeface="Berkeley Mono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4D6BA-4ED9-4F27-03BD-F25854D06D52}"/>
              </a:ext>
            </a:extLst>
          </p:cNvPr>
          <p:cNvSpPr txBox="1"/>
          <p:nvPr/>
        </p:nvSpPr>
        <p:spPr>
          <a:xfrm>
            <a:off x="11362789" y="684664"/>
            <a:ext cx="646331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RQ3</a:t>
            </a:r>
            <a:br>
              <a:rPr lang="en-US" sz="2000" dirty="0">
                <a:latin typeface="Berkeley Mono" pitchFamily="49" charset="77"/>
              </a:rPr>
            </a:br>
            <a:endParaRPr lang="en-US" sz="1500" dirty="0">
              <a:latin typeface="Berkeley Mono" pitchFamily="49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B1A042-B1F6-E392-79F1-457B8FD48F19}"/>
              </a:ext>
            </a:extLst>
          </p:cNvPr>
          <p:cNvSpPr txBox="1"/>
          <p:nvPr/>
        </p:nvSpPr>
        <p:spPr>
          <a:xfrm>
            <a:off x="168478" y="972185"/>
            <a:ext cx="1022587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To what extent do scenario tests and module tests reproduce planning-module executions?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8BAB54-7C8A-FB07-51C6-8CE139087A87}"/>
              </a:ext>
            </a:extLst>
          </p:cNvPr>
          <p:cNvSpPr txBox="1"/>
          <p:nvPr/>
        </p:nvSpPr>
        <p:spPr>
          <a:xfrm>
            <a:off x="779334" y="692977"/>
            <a:ext cx="613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Planning Reproducibility</a:t>
            </a:r>
            <a:endParaRPr lang="en-US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72287F8-1459-E845-4551-A783EEBB2424}"/>
              </a:ext>
            </a:extLst>
          </p:cNvPr>
          <p:cNvSpPr txBox="1"/>
          <p:nvPr/>
        </p:nvSpPr>
        <p:spPr>
          <a:xfrm>
            <a:off x="168477" y="1543735"/>
            <a:ext cx="11840621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Compare </a:t>
            </a:r>
            <a:r>
              <a:rPr lang="en-US" sz="1500" b="1" u="sng" dirty="0">
                <a:latin typeface="Berkeley Mono" pitchFamily="49" charset="77"/>
              </a:rPr>
              <a:t>planning trajectories</a:t>
            </a:r>
            <a:r>
              <a:rPr lang="en-US" sz="1500" dirty="0">
                <a:latin typeface="Berkeley Mono" pitchFamily="49" charset="77"/>
              </a:rPr>
              <a:t> from reruns of the scenario test or module tests with the initial simulation.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1377B5A-5013-C5A2-1011-26A969B1BD0F}"/>
              </a:ext>
            </a:extLst>
          </p:cNvPr>
          <p:cNvSpPr txBox="1"/>
          <p:nvPr/>
        </p:nvSpPr>
        <p:spPr>
          <a:xfrm>
            <a:off x="168477" y="4810392"/>
            <a:ext cx="11840633" cy="132343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Hypothesis 1:</a:t>
            </a:r>
          </a:p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Module tests resemble the executions occurred during system-level scenario testing; therefore, running module tests should replicate the planning trajectories observed in those system-level scenarios.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049FAD5-11FC-5A34-6FF1-2F3867DC4993}"/>
              </a:ext>
            </a:extLst>
          </p:cNvPr>
          <p:cNvGrpSpPr/>
          <p:nvPr/>
        </p:nvGrpSpPr>
        <p:grpSpPr>
          <a:xfrm>
            <a:off x="2537636" y="2895145"/>
            <a:ext cx="7116727" cy="1022589"/>
            <a:chOff x="2993143" y="2808574"/>
            <a:chExt cx="7116727" cy="1022589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2116E39-DED8-9DF9-79D1-F13DCBFC43E0}"/>
                </a:ext>
              </a:extLst>
            </p:cNvPr>
            <p:cNvSpPr txBox="1"/>
            <p:nvPr/>
          </p:nvSpPr>
          <p:spPr>
            <a:xfrm>
              <a:off x="2993144" y="2810334"/>
              <a:ext cx="1338828" cy="323165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Scenario 1</a:t>
              </a:r>
              <a:endParaRPr lang="en-US" sz="1500" baseline="300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10149B8-C578-DD29-6B4C-D7BFB5FCC22D}"/>
                </a:ext>
              </a:extLst>
            </p:cNvPr>
            <p:cNvSpPr txBox="1"/>
            <p:nvPr/>
          </p:nvSpPr>
          <p:spPr>
            <a:xfrm>
              <a:off x="5026610" y="2808575"/>
              <a:ext cx="569387" cy="323165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1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1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2C2A14E-FF57-8890-526B-1D85EC2F2757}"/>
                </a:ext>
              </a:extLst>
            </p:cNvPr>
            <p:cNvSpPr txBox="1"/>
            <p:nvPr/>
          </p:nvSpPr>
          <p:spPr>
            <a:xfrm>
              <a:off x="5590844" y="2808575"/>
              <a:ext cx="569387" cy="32316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1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2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6C44473-0A62-B421-D042-5440ECBCBC81}"/>
                </a:ext>
              </a:extLst>
            </p:cNvPr>
            <p:cNvSpPr txBox="1"/>
            <p:nvPr/>
          </p:nvSpPr>
          <p:spPr>
            <a:xfrm>
              <a:off x="6155078" y="2808575"/>
              <a:ext cx="569387" cy="323165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1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3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14B39D0-E58A-5233-FB31-11FCCDF92FF3}"/>
                </a:ext>
              </a:extLst>
            </p:cNvPr>
            <p:cNvSpPr txBox="1"/>
            <p:nvPr/>
          </p:nvSpPr>
          <p:spPr>
            <a:xfrm>
              <a:off x="6719312" y="2808575"/>
              <a:ext cx="569387" cy="32316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1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4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E7EE81A-55CD-0E97-59B3-C94748554FBC}"/>
                </a:ext>
              </a:extLst>
            </p:cNvPr>
            <p:cNvSpPr txBox="1"/>
            <p:nvPr/>
          </p:nvSpPr>
          <p:spPr>
            <a:xfrm>
              <a:off x="7283546" y="2808575"/>
              <a:ext cx="569387" cy="323165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1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5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1401334-DAAF-762B-A88F-5EA48723D560}"/>
                </a:ext>
              </a:extLst>
            </p:cNvPr>
            <p:cNvSpPr txBox="1"/>
            <p:nvPr/>
          </p:nvSpPr>
          <p:spPr>
            <a:xfrm>
              <a:off x="7847780" y="2808575"/>
              <a:ext cx="569387" cy="32316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1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6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D6EBB91-996F-2D3D-28E3-0289AC63C2B9}"/>
                </a:ext>
              </a:extLst>
            </p:cNvPr>
            <p:cNvSpPr txBox="1"/>
            <p:nvPr/>
          </p:nvSpPr>
          <p:spPr>
            <a:xfrm>
              <a:off x="8412014" y="2808575"/>
              <a:ext cx="569387" cy="323165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1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7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563AF78-127F-EF80-DCDA-5D7F6F373586}"/>
                </a:ext>
              </a:extLst>
            </p:cNvPr>
            <p:cNvSpPr txBox="1"/>
            <p:nvPr/>
          </p:nvSpPr>
          <p:spPr>
            <a:xfrm>
              <a:off x="8976248" y="2808575"/>
              <a:ext cx="569387" cy="32316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1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8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BD05E89-257C-76B3-FAE2-5B8F61169984}"/>
                </a:ext>
              </a:extLst>
            </p:cNvPr>
            <p:cNvSpPr txBox="1"/>
            <p:nvPr/>
          </p:nvSpPr>
          <p:spPr>
            <a:xfrm>
              <a:off x="9540482" y="2808575"/>
              <a:ext cx="569387" cy="323165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1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9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5D773E2-D2ED-6946-081C-832C47B41FAC}"/>
                </a:ext>
              </a:extLst>
            </p:cNvPr>
            <p:cNvSpPr txBox="1"/>
            <p:nvPr/>
          </p:nvSpPr>
          <p:spPr>
            <a:xfrm>
              <a:off x="2993145" y="3507998"/>
              <a:ext cx="1338828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MTS 1</a:t>
              </a:r>
              <a:endParaRPr lang="en-US" sz="1500" baseline="30000" dirty="0">
                <a:latin typeface="Berkeley Mono" pitchFamily="49" charset="77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D1B1FBC-8970-CB5B-2377-C3FD5327E733}"/>
                </a:ext>
              </a:extLst>
            </p:cNvPr>
            <p:cNvSpPr txBox="1"/>
            <p:nvPr/>
          </p:nvSpPr>
          <p:spPr>
            <a:xfrm>
              <a:off x="5026610" y="3507828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0ABF599-2AFC-E537-7039-24B220028BC9}"/>
                </a:ext>
              </a:extLst>
            </p:cNvPr>
            <p:cNvSpPr txBox="1"/>
            <p:nvPr/>
          </p:nvSpPr>
          <p:spPr>
            <a:xfrm>
              <a:off x="5590844" y="3507828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2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B46B420-7BCC-6428-2117-E1A657F579B4}"/>
                </a:ext>
              </a:extLst>
            </p:cNvPr>
            <p:cNvSpPr txBox="1"/>
            <p:nvPr/>
          </p:nvSpPr>
          <p:spPr>
            <a:xfrm>
              <a:off x="6155078" y="3507828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3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8C273C7-EAC6-493B-2267-7D5CAFA2B48E}"/>
                </a:ext>
              </a:extLst>
            </p:cNvPr>
            <p:cNvSpPr txBox="1"/>
            <p:nvPr/>
          </p:nvSpPr>
          <p:spPr>
            <a:xfrm>
              <a:off x="6719312" y="3507828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4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5115394-C889-311D-7CD2-5CDFA63EEC0B}"/>
                </a:ext>
              </a:extLst>
            </p:cNvPr>
            <p:cNvSpPr txBox="1"/>
            <p:nvPr/>
          </p:nvSpPr>
          <p:spPr>
            <a:xfrm>
              <a:off x="7283546" y="3507828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5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7E77AE3-F73B-0729-F050-69F9A7EB7BD9}"/>
                </a:ext>
              </a:extLst>
            </p:cNvPr>
            <p:cNvSpPr txBox="1"/>
            <p:nvPr/>
          </p:nvSpPr>
          <p:spPr>
            <a:xfrm>
              <a:off x="7847780" y="3507828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6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319E2A45-692C-12DD-3B3B-DE6F2E7A69B9}"/>
                </a:ext>
              </a:extLst>
            </p:cNvPr>
            <p:cNvSpPr txBox="1"/>
            <p:nvPr/>
          </p:nvSpPr>
          <p:spPr>
            <a:xfrm>
              <a:off x="8412014" y="3507828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7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0511966-A631-65EA-B6AC-60688CFCB461}"/>
                </a:ext>
              </a:extLst>
            </p:cNvPr>
            <p:cNvSpPr txBox="1"/>
            <p:nvPr/>
          </p:nvSpPr>
          <p:spPr>
            <a:xfrm>
              <a:off x="8976248" y="3507828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8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3B79262-E33F-9FB1-2079-D4987C1713DF}"/>
                </a:ext>
              </a:extLst>
            </p:cNvPr>
            <p:cNvSpPr txBox="1"/>
            <p:nvPr/>
          </p:nvSpPr>
          <p:spPr>
            <a:xfrm>
              <a:off x="9540483" y="3507828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9</a:t>
              </a:r>
              <a:endParaRPr lang="en-US" sz="1500" dirty="0">
                <a:latin typeface="Berkeley Mono" pitchFamily="49" charset="77"/>
              </a:endParaRPr>
            </a:p>
          </p:txBody>
        </p:sp>
        <p:cxnSp>
          <p:nvCxnSpPr>
            <p:cNvPr id="116" name="Curved Connector 115">
              <a:extLst>
                <a:ext uri="{FF2B5EF4-FFF2-40B4-BE49-F238E27FC236}">
                  <a16:creationId xmlns:a16="http://schemas.microsoft.com/office/drawing/2014/main" id="{F9D3D638-0752-D094-2A53-FA933244A311}"/>
                </a:ext>
              </a:extLst>
            </p:cNvPr>
            <p:cNvCxnSpPr>
              <a:stCxn id="67" idx="0"/>
              <a:endCxn id="63" idx="0"/>
            </p:cNvCxnSpPr>
            <p:nvPr/>
          </p:nvCxnSpPr>
          <p:spPr>
            <a:xfrm rot="16200000" flipH="1" flipV="1">
              <a:off x="4486051" y="1985081"/>
              <a:ext cx="1759" cy="1648746"/>
            </a:xfrm>
            <a:prstGeom prst="curvedConnector3">
              <a:avLst>
                <a:gd name="adj1" fmla="val -1299602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urved Connector 117">
              <a:extLst>
                <a:ext uri="{FF2B5EF4-FFF2-40B4-BE49-F238E27FC236}">
                  <a16:creationId xmlns:a16="http://schemas.microsoft.com/office/drawing/2014/main" id="{6B9D882D-9387-7172-DCFD-7C2F09E936C8}"/>
                </a:ext>
              </a:extLst>
            </p:cNvPr>
            <p:cNvCxnSpPr>
              <a:stCxn id="68" idx="0"/>
              <a:endCxn id="63" idx="0"/>
            </p:cNvCxnSpPr>
            <p:nvPr/>
          </p:nvCxnSpPr>
          <p:spPr>
            <a:xfrm rot="16200000" flipH="1" flipV="1">
              <a:off x="4768168" y="1702964"/>
              <a:ext cx="1759" cy="2212980"/>
            </a:xfrm>
            <a:prstGeom prst="curvedConnector3">
              <a:avLst>
                <a:gd name="adj1" fmla="val -1299602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urved Connector 119">
              <a:extLst>
                <a:ext uri="{FF2B5EF4-FFF2-40B4-BE49-F238E27FC236}">
                  <a16:creationId xmlns:a16="http://schemas.microsoft.com/office/drawing/2014/main" id="{A8D702D7-F1F8-CD7F-A9ED-8CE7DC9BC87C}"/>
                </a:ext>
              </a:extLst>
            </p:cNvPr>
            <p:cNvCxnSpPr>
              <a:stCxn id="69" idx="0"/>
              <a:endCxn id="63" idx="0"/>
            </p:cNvCxnSpPr>
            <p:nvPr/>
          </p:nvCxnSpPr>
          <p:spPr>
            <a:xfrm rot="16200000" flipH="1" flipV="1">
              <a:off x="5050285" y="1420847"/>
              <a:ext cx="1759" cy="2777214"/>
            </a:xfrm>
            <a:prstGeom prst="curvedConnector3">
              <a:avLst>
                <a:gd name="adj1" fmla="val -1299602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urved Connector 121">
              <a:extLst>
                <a:ext uri="{FF2B5EF4-FFF2-40B4-BE49-F238E27FC236}">
                  <a16:creationId xmlns:a16="http://schemas.microsoft.com/office/drawing/2014/main" id="{00AA2599-B7FA-2FCE-D9C6-26026B51BF72}"/>
                </a:ext>
              </a:extLst>
            </p:cNvPr>
            <p:cNvCxnSpPr>
              <a:stCxn id="70" idx="0"/>
              <a:endCxn id="63" idx="0"/>
            </p:cNvCxnSpPr>
            <p:nvPr/>
          </p:nvCxnSpPr>
          <p:spPr>
            <a:xfrm rot="16200000" flipH="1" flipV="1">
              <a:off x="5332402" y="1138730"/>
              <a:ext cx="1759" cy="3341448"/>
            </a:xfrm>
            <a:prstGeom prst="curvedConnector3">
              <a:avLst>
                <a:gd name="adj1" fmla="val -1299602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urved Connector 123">
              <a:extLst>
                <a:ext uri="{FF2B5EF4-FFF2-40B4-BE49-F238E27FC236}">
                  <a16:creationId xmlns:a16="http://schemas.microsoft.com/office/drawing/2014/main" id="{3511CC3B-18A9-BA14-26BF-3FFD089A7447}"/>
                </a:ext>
              </a:extLst>
            </p:cNvPr>
            <p:cNvCxnSpPr>
              <a:stCxn id="71" idx="0"/>
              <a:endCxn id="63" idx="0"/>
            </p:cNvCxnSpPr>
            <p:nvPr/>
          </p:nvCxnSpPr>
          <p:spPr>
            <a:xfrm rot="16200000" flipH="1" flipV="1">
              <a:off x="5614519" y="856613"/>
              <a:ext cx="1759" cy="3905682"/>
            </a:xfrm>
            <a:prstGeom prst="curvedConnector3">
              <a:avLst>
                <a:gd name="adj1" fmla="val -1299602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urved Connector 125">
              <a:extLst>
                <a:ext uri="{FF2B5EF4-FFF2-40B4-BE49-F238E27FC236}">
                  <a16:creationId xmlns:a16="http://schemas.microsoft.com/office/drawing/2014/main" id="{E85CDE27-978C-006F-04DB-AF9A102E729C}"/>
                </a:ext>
              </a:extLst>
            </p:cNvPr>
            <p:cNvCxnSpPr>
              <a:stCxn id="72" idx="0"/>
              <a:endCxn id="63" idx="0"/>
            </p:cNvCxnSpPr>
            <p:nvPr/>
          </p:nvCxnSpPr>
          <p:spPr>
            <a:xfrm rot="16200000" flipH="1" flipV="1">
              <a:off x="5896636" y="574496"/>
              <a:ext cx="1759" cy="4469916"/>
            </a:xfrm>
            <a:prstGeom prst="curvedConnector3">
              <a:avLst>
                <a:gd name="adj1" fmla="val -1299602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urved Connector 127">
              <a:extLst>
                <a:ext uri="{FF2B5EF4-FFF2-40B4-BE49-F238E27FC236}">
                  <a16:creationId xmlns:a16="http://schemas.microsoft.com/office/drawing/2014/main" id="{60B30947-6995-23C2-BA8D-AD48A8CDB945}"/>
                </a:ext>
              </a:extLst>
            </p:cNvPr>
            <p:cNvCxnSpPr>
              <a:stCxn id="73" idx="0"/>
              <a:endCxn id="63" idx="0"/>
            </p:cNvCxnSpPr>
            <p:nvPr/>
          </p:nvCxnSpPr>
          <p:spPr>
            <a:xfrm rot="16200000" flipH="1" flipV="1">
              <a:off x="6178753" y="292379"/>
              <a:ext cx="1759" cy="5034150"/>
            </a:xfrm>
            <a:prstGeom prst="curvedConnector3">
              <a:avLst>
                <a:gd name="adj1" fmla="val -1299602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urved Connector 129">
              <a:extLst>
                <a:ext uri="{FF2B5EF4-FFF2-40B4-BE49-F238E27FC236}">
                  <a16:creationId xmlns:a16="http://schemas.microsoft.com/office/drawing/2014/main" id="{2948B17A-BFE3-93A2-A478-9510C4657B42}"/>
                </a:ext>
              </a:extLst>
            </p:cNvPr>
            <p:cNvCxnSpPr>
              <a:stCxn id="74" idx="0"/>
              <a:endCxn id="63" idx="0"/>
            </p:cNvCxnSpPr>
            <p:nvPr/>
          </p:nvCxnSpPr>
          <p:spPr>
            <a:xfrm rot="16200000" flipH="1" flipV="1">
              <a:off x="6460870" y="10262"/>
              <a:ext cx="1759" cy="5598384"/>
            </a:xfrm>
            <a:prstGeom prst="curvedConnector3">
              <a:avLst>
                <a:gd name="adj1" fmla="val -1299602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urved Connector 131">
              <a:extLst>
                <a:ext uri="{FF2B5EF4-FFF2-40B4-BE49-F238E27FC236}">
                  <a16:creationId xmlns:a16="http://schemas.microsoft.com/office/drawing/2014/main" id="{19BDD9F1-9311-1E15-0DE7-F3E82A35A174}"/>
                </a:ext>
              </a:extLst>
            </p:cNvPr>
            <p:cNvCxnSpPr>
              <a:stCxn id="75" idx="0"/>
              <a:endCxn id="63" idx="0"/>
            </p:cNvCxnSpPr>
            <p:nvPr/>
          </p:nvCxnSpPr>
          <p:spPr>
            <a:xfrm rot="16200000" flipH="1" flipV="1">
              <a:off x="6742987" y="-271855"/>
              <a:ext cx="1759" cy="6162618"/>
            </a:xfrm>
            <a:prstGeom prst="curvedConnector3">
              <a:avLst>
                <a:gd name="adj1" fmla="val -1299602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urved Connector 133">
              <a:extLst>
                <a:ext uri="{FF2B5EF4-FFF2-40B4-BE49-F238E27FC236}">
                  <a16:creationId xmlns:a16="http://schemas.microsoft.com/office/drawing/2014/main" id="{63BD046F-48B0-9F6F-FB3C-54C66242AECD}"/>
                </a:ext>
              </a:extLst>
            </p:cNvPr>
            <p:cNvCxnSpPr>
              <a:stCxn id="95" idx="0"/>
              <a:endCxn id="63" idx="2"/>
            </p:cNvCxnSpPr>
            <p:nvPr/>
          </p:nvCxnSpPr>
          <p:spPr>
            <a:xfrm rot="16200000" flipV="1">
              <a:off x="4299767" y="2496291"/>
              <a:ext cx="374329" cy="1648746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urved Connector 136">
              <a:extLst>
                <a:ext uri="{FF2B5EF4-FFF2-40B4-BE49-F238E27FC236}">
                  <a16:creationId xmlns:a16="http://schemas.microsoft.com/office/drawing/2014/main" id="{94CB5BEF-02E3-58E6-6CFB-13385E301FFD}"/>
                </a:ext>
              </a:extLst>
            </p:cNvPr>
            <p:cNvCxnSpPr>
              <a:stCxn id="96" idx="0"/>
              <a:endCxn id="63" idx="2"/>
            </p:cNvCxnSpPr>
            <p:nvPr/>
          </p:nvCxnSpPr>
          <p:spPr>
            <a:xfrm rot="16200000" flipV="1">
              <a:off x="4581884" y="2214174"/>
              <a:ext cx="374329" cy="2212980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urved Connector 138">
              <a:extLst>
                <a:ext uri="{FF2B5EF4-FFF2-40B4-BE49-F238E27FC236}">
                  <a16:creationId xmlns:a16="http://schemas.microsoft.com/office/drawing/2014/main" id="{B9090A16-B699-9A0E-0215-FB09D4D91EA5}"/>
                </a:ext>
              </a:extLst>
            </p:cNvPr>
            <p:cNvCxnSpPr>
              <a:stCxn id="97" idx="0"/>
              <a:endCxn id="63" idx="2"/>
            </p:cNvCxnSpPr>
            <p:nvPr/>
          </p:nvCxnSpPr>
          <p:spPr>
            <a:xfrm rot="16200000" flipV="1">
              <a:off x="4864001" y="1932057"/>
              <a:ext cx="374329" cy="2777214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urved Connector 140">
              <a:extLst>
                <a:ext uri="{FF2B5EF4-FFF2-40B4-BE49-F238E27FC236}">
                  <a16:creationId xmlns:a16="http://schemas.microsoft.com/office/drawing/2014/main" id="{EECE6849-EFDA-C7B5-906E-45454F3B8795}"/>
                </a:ext>
              </a:extLst>
            </p:cNvPr>
            <p:cNvCxnSpPr>
              <a:stCxn id="98" idx="0"/>
              <a:endCxn id="63" idx="2"/>
            </p:cNvCxnSpPr>
            <p:nvPr/>
          </p:nvCxnSpPr>
          <p:spPr>
            <a:xfrm rot="16200000" flipV="1">
              <a:off x="5146118" y="1649940"/>
              <a:ext cx="374329" cy="3341448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urved Connector 142">
              <a:extLst>
                <a:ext uri="{FF2B5EF4-FFF2-40B4-BE49-F238E27FC236}">
                  <a16:creationId xmlns:a16="http://schemas.microsoft.com/office/drawing/2014/main" id="{24F32115-4E23-0619-6DE6-3EE86E8A17C3}"/>
                </a:ext>
              </a:extLst>
            </p:cNvPr>
            <p:cNvCxnSpPr>
              <a:stCxn id="99" idx="0"/>
              <a:endCxn id="63" idx="2"/>
            </p:cNvCxnSpPr>
            <p:nvPr/>
          </p:nvCxnSpPr>
          <p:spPr>
            <a:xfrm rot="16200000" flipV="1">
              <a:off x="5428235" y="1367823"/>
              <a:ext cx="374329" cy="390568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urved Connector 144">
              <a:extLst>
                <a:ext uri="{FF2B5EF4-FFF2-40B4-BE49-F238E27FC236}">
                  <a16:creationId xmlns:a16="http://schemas.microsoft.com/office/drawing/2014/main" id="{5567FFCD-FE68-4805-1579-1887986FA3A1}"/>
                </a:ext>
              </a:extLst>
            </p:cNvPr>
            <p:cNvCxnSpPr>
              <a:stCxn id="100" idx="0"/>
              <a:endCxn id="63" idx="2"/>
            </p:cNvCxnSpPr>
            <p:nvPr/>
          </p:nvCxnSpPr>
          <p:spPr>
            <a:xfrm rot="16200000" flipV="1">
              <a:off x="5710352" y="1085706"/>
              <a:ext cx="374329" cy="4469916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urved Connector 146">
              <a:extLst>
                <a:ext uri="{FF2B5EF4-FFF2-40B4-BE49-F238E27FC236}">
                  <a16:creationId xmlns:a16="http://schemas.microsoft.com/office/drawing/2014/main" id="{47397060-9058-352C-F7ED-C8159A73DE0B}"/>
                </a:ext>
              </a:extLst>
            </p:cNvPr>
            <p:cNvCxnSpPr>
              <a:stCxn id="101" idx="0"/>
              <a:endCxn id="63" idx="2"/>
            </p:cNvCxnSpPr>
            <p:nvPr/>
          </p:nvCxnSpPr>
          <p:spPr>
            <a:xfrm rot="16200000" flipV="1">
              <a:off x="5992469" y="803589"/>
              <a:ext cx="374329" cy="5034150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urved Connector 148">
              <a:extLst>
                <a:ext uri="{FF2B5EF4-FFF2-40B4-BE49-F238E27FC236}">
                  <a16:creationId xmlns:a16="http://schemas.microsoft.com/office/drawing/2014/main" id="{D52E6238-C2FE-855C-1613-889A2D569268}"/>
                </a:ext>
              </a:extLst>
            </p:cNvPr>
            <p:cNvCxnSpPr>
              <a:stCxn id="102" idx="0"/>
              <a:endCxn id="63" idx="2"/>
            </p:cNvCxnSpPr>
            <p:nvPr/>
          </p:nvCxnSpPr>
          <p:spPr>
            <a:xfrm rot="16200000" flipV="1">
              <a:off x="6274586" y="521472"/>
              <a:ext cx="374329" cy="5598384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urved Connector 150">
              <a:extLst>
                <a:ext uri="{FF2B5EF4-FFF2-40B4-BE49-F238E27FC236}">
                  <a16:creationId xmlns:a16="http://schemas.microsoft.com/office/drawing/2014/main" id="{BA72686B-A799-D314-2B57-754156210612}"/>
                </a:ext>
              </a:extLst>
            </p:cNvPr>
            <p:cNvCxnSpPr>
              <a:stCxn id="103" idx="0"/>
              <a:endCxn id="63" idx="2"/>
            </p:cNvCxnSpPr>
            <p:nvPr/>
          </p:nvCxnSpPr>
          <p:spPr>
            <a:xfrm rot="16200000" flipV="1">
              <a:off x="6556704" y="239354"/>
              <a:ext cx="374329" cy="6162619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Elbow Connector 158">
              <a:extLst>
                <a:ext uri="{FF2B5EF4-FFF2-40B4-BE49-F238E27FC236}">
                  <a16:creationId xmlns:a16="http://schemas.microsoft.com/office/drawing/2014/main" id="{B576D016-01D5-F9B7-24D1-5D1E4B439D25}"/>
                </a:ext>
              </a:extLst>
            </p:cNvPr>
            <p:cNvCxnSpPr>
              <a:stCxn id="63" idx="1"/>
              <a:endCxn id="91" idx="1"/>
            </p:cNvCxnSpPr>
            <p:nvPr/>
          </p:nvCxnSpPr>
          <p:spPr>
            <a:xfrm rot="10800000" flipH="1" flipV="1">
              <a:off x="2993143" y="2971917"/>
              <a:ext cx="1" cy="697664"/>
            </a:xfrm>
            <a:prstGeom prst="bentConnector3">
              <a:avLst>
                <a:gd name="adj1" fmla="val -228600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0583858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E365-9663-CBFC-9FE2-F72BE45F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4745-5702-472C-9798-FB041B257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F78FA1-CC86-55B0-83CB-E3BB77C1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9B447-23A7-D792-5613-9869C37BDAC1}"/>
              </a:ext>
            </a:extLst>
          </p:cNvPr>
          <p:cNvSpPr txBox="1"/>
          <p:nvPr/>
        </p:nvSpPr>
        <p:spPr>
          <a:xfrm>
            <a:off x="168478" y="684664"/>
            <a:ext cx="10547980" cy="63094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RQ1</a:t>
            </a: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 </a:t>
            </a:r>
            <a:endParaRPr lang="en-US" sz="20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03C95-325E-47C7-15EE-B16FBFAE8ACE}"/>
              </a:ext>
            </a:extLst>
          </p:cNvPr>
          <p:cNvSpPr txBox="1"/>
          <p:nvPr/>
        </p:nvSpPr>
        <p:spPr>
          <a:xfrm>
            <a:off x="10716458" y="684664"/>
            <a:ext cx="646331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RQ2</a:t>
            </a:r>
          </a:p>
          <a:p>
            <a:endParaRPr lang="en-US" sz="1500" dirty="0">
              <a:latin typeface="Berkeley Mono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D75770-970B-810C-F962-8219E85A0BA8}"/>
              </a:ext>
            </a:extLst>
          </p:cNvPr>
          <p:cNvSpPr txBox="1"/>
          <p:nvPr/>
        </p:nvSpPr>
        <p:spPr>
          <a:xfrm>
            <a:off x="11362789" y="684664"/>
            <a:ext cx="646331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RQ3</a:t>
            </a:r>
            <a:br>
              <a:rPr lang="en-US" sz="2000" dirty="0">
                <a:latin typeface="Berkeley Mono" pitchFamily="49" charset="77"/>
              </a:rPr>
            </a:br>
            <a:endParaRPr lang="en-US" sz="1500" dirty="0">
              <a:latin typeface="Berkeley Mono" pitchFamily="49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D8837A-8E4A-737B-1566-B5AFDB182920}"/>
              </a:ext>
            </a:extLst>
          </p:cNvPr>
          <p:cNvSpPr txBox="1"/>
          <p:nvPr/>
        </p:nvSpPr>
        <p:spPr>
          <a:xfrm>
            <a:off x="168478" y="972185"/>
            <a:ext cx="1022587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To what extent do scenario tests and module tests reproduce planning-module executions?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110D41-8547-2EAA-4BA4-E4A848A63BB4}"/>
              </a:ext>
            </a:extLst>
          </p:cNvPr>
          <p:cNvSpPr txBox="1"/>
          <p:nvPr/>
        </p:nvSpPr>
        <p:spPr>
          <a:xfrm>
            <a:off x="779334" y="692977"/>
            <a:ext cx="613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Planning Reproducibility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3FA18B-59AC-7C6C-6763-0A5DA4800E28}"/>
              </a:ext>
            </a:extLst>
          </p:cNvPr>
          <p:cNvSpPr txBox="1"/>
          <p:nvPr/>
        </p:nvSpPr>
        <p:spPr>
          <a:xfrm>
            <a:off x="168475" y="4818685"/>
            <a:ext cx="111943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Table 2. Number of planning trajectories reproduced by DeFT module tests compared to rerunning scenario tests under different thresholds.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24D9DB-A26D-E578-D3F2-1D0A3F43909A}"/>
              </a:ext>
            </a:extLst>
          </p:cNvPr>
          <p:cNvSpPr txBox="1"/>
          <p:nvPr/>
        </p:nvSpPr>
        <p:spPr>
          <a:xfrm>
            <a:off x="168475" y="5356685"/>
            <a:ext cx="11194311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DeFT module tests reproduces more planning trajectories across different thresholds.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0F5A4F-EEE8-C050-07F9-DA1D06DE1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318153"/>
              </p:ext>
            </p:extLst>
          </p:nvPr>
        </p:nvGraphicFramePr>
        <p:xfrm>
          <a:off x="168477" y="1543741"/>
          <a:ext cx="11194311" cy="316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31437">
                  <a:extLst>
                    <a:ext uri="{9D8B030D-6E8A-4147-A177-3AD203B41FA5}">
                      <a16:colId xmlns:a16="http://schemas.microsoft.com/office/drawing/2014/main" val="4275340726"/>
                    </a:ext>
                  </a:extLst>
                </a:gridCol>
                <a:gridCol w="3731437">
                  <a:extLst>
                    <a:ext uri="{9D8B030D-6E8A-4147-A177-3AD203B41FA5}">
                      <a16:colId xmlns:a16="http://schemas.microsoft.com/office/drawing/2014/main" val="1449982840"/>
                    </a:ext>
                  </a:extLst>
                </a:gridCol>
                <a:gridCol w="3731437">
                  <a:extLst>
                    <a:ext uri="{9D8B030D-6E8A-4147-A177-3AD203B41FA5}">
                      <a16:colId xmlns:a16="http://schemas.microsoft.com/office/drawing/2014/main" val="2979994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Threshold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Module Test Rerun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System-Test Rerun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81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224,888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1,637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284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228,956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42,335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422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228,975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95,235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914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1.62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229,108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127,258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656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6.99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229,915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154,467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44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17.15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230,637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173,282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276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29.56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230,852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184,047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50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2079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AB0C0-0A1E-AF13-F124-0DC675232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FA521-723C-09ED-A0A8-112497BA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CA9864-F160-A883-5211-530C1A158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41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393DA-BF12-7ED4-E291-66F4FF6A8221}"/>
              </a:ext>
            </a:extLst>
          </p:cNvPr>
          <p:cNvSpPr txBox="1"/>
          <p:nvPr/>
        </p:nvSpPr>
        <p:spPr>
          <a:xfrm>
            <a:off x="164781" y="684664"/>
            <a:ext cx="11198009" cy="63094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RQ2 </a:t>
            </a:r>
          </a:p>
          <a:p>
            <a:endParaRPr lang="en-US" sz="1500" dirty="0">
              <a:latin typeface="Berkeley Mono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0DBD5E-354D-095E-D30B-00A089DC7548}"/>
              </a:ext>
            </a:extLst>
          </p:cNvPr>
          <p:cNvSpPr txBox="1"/>
          <p:nvPr/>
        </p:nvSpPr>
        <p:spPr>
          <a:xfrm>
            <a:off x="11362789" y="684664"/>
            <a:ext cx="646331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RQ3</a:t>
            </a:r>
            <a:br>
              <a:rPr lang="en-US" sz="2000" dirty="0">
                <a:latin typeface="Berkeley Mono" pitchFamily="49" charset="77"/>
              </a:rPr>
            </a:br>
            <a:endParaRPr lang="en-US" sz="1500" dirty="0">
              <a:latin typeface="Berkeley Mono" pitchFamily="49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1BE4D3-EFD3-D5AC-E444-8BE8C92D4467}"/>
              </a:ext>
            </a:extLst>
          </p:cNvPr>
          <p:cNvSpPr txBox="1"/>
          <p:nvPr/>
        </p:nvSpPr>
        <p:spPr>
          <a:xfrm>
            <a:off x="164780" y="968913"/>
            <a:ext cx="105721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To what extent can module tests reproduce failures detected by test generation approaches?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97E12E-F668-C60E-FA48-C2D42C77104B}"/>
              </a:ext>
            </a:extLst>
          </p:cNvPr>
          <p:cNvSpPr txBox="1"/>
          <p:nvPr/>
        </p:nvSpPr>
        <p:spPr>
          <a:xfrm>
            <a:off x="767484" y="693728"/>
            <a:ext cx="613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Failure Reproducibility</a:t>
            </a:r>
            <a:endParaRPr lang="en-US" sz="2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3100CF-5952-B933-42F1-F9609DE69B68}"/>
              </a:ext>
            </a:extLst>
          </p:cNvPr>
          <p:cNvSpPr txBox="1"/>
          <p:nvPr/>
        </p:nvSpPr>
        <p:spPr>
          <a:xfrm>
            <a:off x="168477" y="1543735"/>
            <a:ext cx="1184063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Compare </a:t>
            </a:r>
            <a:r>
              <a:rPr lang="en-US" sz="1500" b="1" u="sng" dirty="0">
                <a:latin typeface="Berkeley Mono" pitchFamily="49" charset="77"/>
              </a:rPr>
              <a:t>test oracle outputs</a:t>
            </a:r>
            <a:r>
              <a:rPr lang="en-US" sz="1500" dirty="0">
                <a:latin typeface="Berkeley Mono" pitchFamily="49" charset="77"/>
              </a:rPr>
              <a:t> from reruns of the scenario or module tests with those from the initial simulation/execution.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EA7947A-3E76-F8F1-E2B7-18BF579F1F06}"/>
              </a:ext>
            </a:extLst>
          </p:cNvPr>
          <p:cNvSpPr txBox="1"/>
          <p:nvPr/>
        </p:nvSpPr>
        <p:spPr>
          <a:xfrm>
            <a:off x="164781" y="4401969"/>
            <a:ext cx="11844326" cy="16312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Hypothesis 2:</a:t>
            </a:r>
          </a:p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System tests are non-deterministic, so collisions observed in the initial simulation may not occur again. </a:t>
            </a:r>
            <a:br>
              <a:rPr lang="en-US" sz="2000" dirty="0">
                <a:solidFill>
                  <a:schemeClr val="bg1"/>
                </a:solidFill>
                <a:latin typeface="Berkeley Mono" pitchFamily="49" charset="77"/>
              </a:rPr>
            </a:br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In contrast, module tests are deterministic, meaning repeated executions should consistently yield the same outputs.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47A8D27-7892-EBB9-6D4B-BAF0B8B02132}"/>
              </a:ext>
            </a:extLst>
          </p:cNvPr>
          <p:cNvGrpSpPr/>
          <p:nvPr/>
        </p:nvGrpSpPr>
        <p:grpSpPr>
          <a:xfrm>
            <a:off x="1594930" y="2726569"/>
            <a:ext cx="8984028" cy="954231"/>
            <a:chOff x="164789" y="2591444"/>
            <a:chExt cx="8984028" cy="95423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FE13103-73AE-8C2C-9072-AEE6DD89B9A2}"/>
                </a:ext>
              </a:extLst>
            </p:cNvPr>
            <p:cNvSpPr txBox="1"/>
            <p:nvPr/>
          </p:nvSpPr>
          <p:spPr>
            <a:xfrm>
              <a:off x="164790" y="2591444"/>
              <a:ext cx="3531735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Collision Scenario X</a:t>
              </a:r>
              <a:endParaRPr lang="en-US" sz="1500" baseline="300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5B4A975-3B13-7B43-C4B2-BAB8CFC064B3}"/>
                </a:ext>
              </a:extLst>
            </p:cNvPr>
            <p:cNvSpPr txBox="1"/>
            <p:nvPr/>
          </p:nvSpPr>
          <p:spPr>
            <a:xfrm>
              <a:off x="164791" y="3222509"/>
              <a:ext cx="3531736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Failure-inducing Module Tests</a:t>
              </a:r>
              <a:endParaRPr lang="en-US" sz="1500" baseline="30000" dirty="0">
                <a:latin typeface="Berkeley Mono" pitchFamily="49" charset="7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B8901D-2DD8-6C89-7BAA-D7AF69AE4C00}"/>
                </a:ext>
              </a:extLst>
            </p:cNvPr>
            <p:cNvSpPr txBox="1"/>
            <p:nvPr/>
          </p:nvSpPr>
          <p:spPr>
            <a:xfrm>
              <a:off x="4065557" y="2591748"/>
              <a:ext cx="569387" cy="323165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X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1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0F6CC27-2C81-EAF5-D95A-FDBF9C04B7AC}"/>
                </a:ext>
              </a:extLst>
            </p:cNvPr>
            <p:cNvSpPr txBox="1"/>
            <p:nvPr/>
          </p:nvSpPr>
          <p:spPr>
            <a:xfrm>
              <a:off x="4629791" y="2591748"/>
              <a:ext cx="569387" cy="32316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X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2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AA8A172-E224-576D-EB15-5357CB8FB3E3}"/>
                </a:ext>
              </a:extLst>
            </p:cNvPr>
            <p:cNvSpPr txBox="1"/>
            <p:nvPr/>
          </p:nvSpPr>
          <p:spPr>
            <a:xfrm>
              <a:off x="5194025" y="2591748"/>
              <a:ext cx="569387" cy="323165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X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3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303D0-C240-6E1E-B182-B0488B0A7ED2}"/>
                </a:ext>
              </a:extLst>
            </p:cNvPr>
            <p:cNvSpPr txBox="1"/>
            <p:nvPr/>
          </p:nvSpPr>
          <p:spPr>
            <a:xfrm>
              <a:off x="5758259" y="2591748"/>
              <a:ext cx="569387" cy="32316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X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4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65845F8-9B17-D95B-B0B5-A4BB0D072326}"/>
                </a:ext>
              </a:extLst>
            </p:cNvPr>
            <p:cNvSpPr txBox="1"/>
            <p:nvPr/>
          </p:nvSpPr>
          <p:spPr>
            <a:xfrm>
              <a:off x="6322493" y="2591748"/>
              <a:ext cx="569387" cy="323165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X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5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FCE1C3C-C695-21EA-5301-41E417BA50C3}"/>
                </a:ext>
              </a:extLst>
            </p:cNvPr>
            <p:cNvSpPr txBox="1"/>
            <p:nvPr/>
          </p:nvSpPr>
          <p:spPr>
            <a:xfrm>
              <a:off x="6886727" y="2591748"/>
              <a:ext cx="569387" cy="32316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X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6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EB45BEF-921A-3F11-920C-9C93E886FF29}"/>
                </a:ext>
              </a:extLst>
            </p:cNvPr>
            <p:cNvSpPr txBox="1"/>
            <p:nvPr/>
          </p:nvSpPr>
          <p:spPr>
            <a:xfrm>
              <a:off x="7450961" y="2591748"/>
              <a:ext cx="569387" cy="323165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X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7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995A55B-ECE7-91F4-298B-DB006139A521}"/>
                </a:ext>
              </a:extLst>
            </p:cNvPr>
            <p:cNvSpPr txBox="1"/>
            <p:nvPr/>
          </p:nvSpPr>
          <p:spPr>
            <a:xfrm>
              <a:off x="8015195" y="2591748"/>
              <a:ext cx="569387" cy="32316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X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8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3381260-17F3-207A-BB7A-C9E6638DF287}"/>
                </a:ext>
              </a:extLst>
            </p:cNvPr>
            <p:cNvSpPr txBox="1"/>
            <p:nvPr/>
          </p:nvSpPr>
          <p:spPr>
            <a:xfrm>
              <a:off x="8579429" y="2591748"/>
              <a:ext cx="569387" cy="323165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S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X</a:t>
              </a:r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R</a:t>
              </a:r>
              <a:r>
                <a:rPr lang="en-US" sz="1500" baseline="30000" dirty="0">
                  <a:solidFill>
                    <a:schemeClr val="bg1"/>
                  </a:solidFill>
                  <a:latin typeface="Berkeley Mono" pitchFamily="49" charset="77"/>
                </a:rPr>
                <a:t>9</a:t>
              </a:r>
              <a:endParaRPr lang="en-US" sz="1500" dirty="0">
                <a:solidFill>
                  <a:schemeClr val="bg1"/>
                </a:solidFill>
                <a:latin typeface="Berkeley Mono" pitchFamily="49" charset="7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57BE3B0-9231-C896-39E7-0E7E3E684851}"/>
                </a:ext>
              </a:extLst>
            </p:cNvPr>
            <p:cNvSpPr txBox="1"/>
            <p:nvPr/>
          </p:nvSpPr>
          <p:spPr>
            <a:xfrm>
              <a:off x="4065557" y="3220297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8F2CB79-1655-8FE6-A475-C213FB77FAAD}"/>
                </a:ext>
              </a:extLst>
            </p:cNvPr>
            <p:cNvSpPr txBox="1"/>
            <p:nvPr/>
          </p:nvSpPr>
          <p:spPr>
            <a:xfrm>
              <a:off x="4629791" y="3220297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2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3285E83-1F44-D667-C6BA-D25BCDAF2599}"/>
                </a:ext>
              </a:extLst>
            </p:cNvPr>
            <p:cNvSpPr txBox="1"/>
            <p:nvPr/>
          </p:nvSpPr>
          <p:spPr>
            <a:xfrm>
              <a:off x="5194025" y="3220297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3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CB14BFA-5FD1-77B3-7E44-FF2D6B387C5C}"/>
                </a:ext>
              </a:extLst>
            </p:cNvPr>
            <p:cNvSpPr txBox="1"/>
            <p:nvPr/>
          </p:nvSpPr>
          <p:spPr>
            <a:xfrm>
              <a:off x="5758259" y="3220297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4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AEAF97F-BAFE-E010-D027-0E4443F51AE9}"/>
                </a:ext>
              </a:extLst>
            </p:cNvPr>
            <p:cNvSpPr txBox="1"/>
            <p:nvPr/>
          </p:nvSpPr>
          <p:spPr>
            <a:xfrm>
              <a:off x="6322493" y="3220297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5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7884992-9B6E-5C33-574E-811F962A4B3B}"/>
                </a:ext>
              </a:extLst>
            </p:cNvPr>
            <p:cNvSpPr txBox="1"/>
            <p:nvPr/>
          </p:nvSpPr>
          <p:spPr>
            <a:xfrm>
              <a:off x="6886727" y="3220297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6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C06CAE2-5A7F-5897-6F47-2DFF3DE3C895}"/>
                </a:ext>
              </a:extLst>
            </p:cNvPr>
            <p:cNvSpPr txBox="1"/>
            <p:nvPr/>
          </p:nvSpPr>
          <p:spPr>
            <a:xfrm>
              <a:off x="7450961" y="3220297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7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9CEF0CB-2C45-63B3-D6C4-E7358FA6A93F}"/>
                </a:ext>
              </a:extLst>
            </p:cNvPr>
            <p:cNvSpPr txBox="1"/>
            <p:nvPr/>
          </p:nvSpPr>
          <p:spPr>
            <a:xfrm>
              <a:off x="8015195" y="3220297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8</a:t>
              </a:r>
              <a:endParaRPr lang="en-US" sz="1500" dirty="0">
                <a:latin typeface="Berkeley Mono" pitchFamily="49" charset="77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2DE1456-4572-9E05-3DC6-B2E73BCCDBA2}"/>
                </a:ext>
              </a:extLst>
            </p:cNvPr>
            <p:cNvSpPr txBox="1"/>
            <p:nvPr/>
          </p:nvSpPr>
          <p:spPr>
            <a:xfrm>
              <a:off x="8579430" y="3220297"/>
              <a:ext cx="569387" cy="323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Berkeley Mono" pitchFamily="49" charset="77"/>
                </a:rPr>
                <a:t>M</a:t>
              </a:r>
              <a:r>
                <a:rPr lang="en-US" sz="1500" baseline="30000" dirty="0">
                  <a:latin typeface="Berkeley Mono" pitchFamily="49" charset="77"/>
                </a:rPr>
                <a:t>1</a:t>
              </a:r>
              <a:r>
                <a:rPr lang="en-US" sz="1500" dirty="0">
                  <a:latin typeface="Berkeley Mono" pitchFamily="49" charset="77"/>
                </a:rPr>
                <a:t>R</a:t>
              </a:r>
              <a:r>
                <a:rPr lang="en-US" sz="1500" baseline="30000" dirty="0">
                  <a:latin typeface="Berkeley Mono" pitchFamily="49" charset="77"/>
                </a:rPr>
                <a:t>9</a:t>
              </a:r>
              <a:endParaRPr lang="en-US" sz="1500" dirty="0">
                <a:latin typeface="Berkeley Mono" pitchFamily="49" charset="77"/>
              </a:endParaRPr>
            </a:p>
          </p:txBody>
        </p:sp>
        <p:cxnSp>
          <p:nvCxnSpPr>
            <p:cNvPr id="73" name="Curved Connector 72">
              <a:extLst>
                <a:ext uri="{FF2B5EF4-FFF2-40B4-BE49-F238E27FC236}">
                  <a16:creationId xmlns:a16="http://schemas.microsoft.com/office/drawing/2014/main" id="{72AA1088-DFFB-8E26-C496-4B110D33DF80}"/>
                </a:ext>
              </a:extLst>
            </p:cNvPr>
            <p:cNvCxnSpPr>
              <a:stCxn id="54" idx="0"/>
              <a:endCxn id="51" idx="0"/>
            </p:cNvCxnSpPr>
            <p:nvPr/>
          </p:nvCxnSpPr>
          <p:spPr>
            <a:xfrm rot="16200000" flipV="1">
              <a:off x="3140303" y="1381799"/>
              <a:ext cx="304" cy="2419593"/>
            </a:xfrm>
            <a:prstGeom prst="curvedConnector3">
              <a:avLst>
                <a:gd name="adj1" fmla="val 7529736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urved Connector 74">
              <a:extLst>
                <a:ext uri="{FF2B5EF4-FFF2-40B4-BE49-F238E27FC236}">
                  <a16:creationId xmlns:a16="http://schemas.microsoft.com/office/drawing/2014/main" id="{B29D3137-E44C-46CB-4888-011862CED13A}"/>
                </a:ext>
              </a:extLst>
            </p:cNvPr>
            <p:cNvCxnSpPr>
              <a:stCxn id="55" idx="0"/>
              <a:endCxn id="51" idx="0"/>
            </p:cNvCxnSpPr>
            <p:nvPr/>
          </p:nvCxnSpPr>
          <p:spPr>
            <a:xfrm rot="16200000" flipV="1">
              <a:off x="3422420" y="1099682"/>
              <a:ext cx="304" cy="2983827"/>
            </a:xfrm>
            <a:prstGeom prst="curvedConnector3">
              <a:avLst>
                <a:gd name="adj1" fmla="val 7529736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urved Connector 76">
              <a:extLst>
                <a:ext uri="{FF2B5EF4-FFF2-40B4-BE49-F238E27FC236}">
                  <a16:creationId xmlns:a16="http://schemas.microsoft.com/office/drawing/2014/main" id="{5C71CB76-19FE-9E9F-06C5-00C28474734D}"/>
                </a:ext>
              </a:extLst>
            </p:cNvPr>
            <p:cNvCxnSpPr>
              <a:stCxn id="56" idx="0"/>
              <a:endCxn id="51" idx="0"/>
            </p:cNvCxnSpPr>
            <p:nvPr/>
          </p:nvCxnSpPr>
          <p:spPr>
            <a:xfrm rot="16200000" flipV="1">
              <a:off x="3704537" y="817565"/>
              <a:ext cx="304" cy="3548061"/>
            </a:xfrm>
            <a:prstGeom prst="curvedConnector3">
              <a:avLst>
                <a:gd name="adj1" fmla="val 7529736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urved Connector 78">
              <a:extLst>
                <a:ext uri="{FF2B5EF4-FFF2-40B4-BE49-F238E27FC236}">
                  <a16:creationId xmlns:a16="http://schemas.microsoft.com/office/drawing/2014/main" id="{3F5016F6-50A4-8DAF-86C3-AF6CAAA093B3}"/>
                </a:ext>
              </a:extLst>
            </p:cNvPr>
            <p:cNvCxnSpPr>
              <a:stCxn id="57" idx="0"/>
              <a:endCxn id="51" idx="0"/>
            </p:cNvCxnSpPr>
            <p:nvPr/>
          </p:nvCxnSpPr>
          <p:spPr>
            <a:xfrm rot="16200000" flipV="1">
              <a:off x="3986654" y="535448"/>
              <a:ext cx="304" cy="4112295"/>
            </a:xfrm>
            <a:prstGeom prst="curvedConnector3">
              <a:avLst>
                <a:gd name="adj1" fmla="val 7529736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urved Connector 80">
              <a:extLst>
                <a:ext uri="{FF2B5EF4-FFF2-40B4-BE49-F238E27FC236}">
                  <a16:creationId xmlns:a16="http://schemas.microsoft.com/office/drawing/2014/main" id="{50540ED3-02FC-B754-270F-D6587A51885C}"/>
                </a:ext>
              </a:extLst>
            </p:cNvPr>
            <p:cNvCxnSpPr>
              <a:stCxn id="58" idx="0"/>
              <a:endCxn id="51" idx="0"/>
            </p:cNvCxnSpPr>
            <p:nvPr/>
          </p:nvCxnSpPr>
          <p:spPr>
            <a:xfrm rot="16200000" flipV="1">
              <a:off x="4268771" y="253331"/>
              <a:ext cx="304" cy="4676529"/>
            </a:xfrm>
            <a:prstGeom prst="curvedConnector3">
              <a:avLst>
                <a:gd name="adj1" fmla="val 7529736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urved Connector 82">
              <a:extLst>
                <a:ext uri="{FF2B5EF4-FFF2-40B4-BE49-F238E27FC236}">
                  <a16:creationId xmlns:a16="http://schemas.microsoft.com/office/drawing/2014/main" id="{9F938D81-EA71-3777-F879-63C6C6C20DE9}"/>
                </a:ext>
              </a:extLst>
            </p:cNvPr>
            <p:cNvCxnSpPr>
              <a:stCxn id="59" idx="0"/>
              <a:endCxn id="51" idx="0"/>
            </p:cNvCxnSpPr>
            <p:nvPr/>
          </p:nvCxnSpPr>
          <p:spPr>
            <a:xfrm rot="16200000" flipV="1">
              <a:off x="4550888" y="-28786"/>
              <a:ext cx="304" cy="5240763"/>
            </a:xfrm>
            <a:prstGeom prst="curvedConnector3">
              <a:avLst>
                <a:gd name="adj1" fmla="val 7529736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urved Connector 84">
              <a:extLst>
                <a:ext uri="{FF2B5EF4-FFF2-40B4-BE49-F238E27FC236}">
                  <a16:creationId xmlns:a16="http://schemas.microsoft.com/office/drawing/2014/main" id="{626615A1-ED2B-6AC8-4375-060C241BCB5F}"/>
                </a:ext>
              </a:extLst>
            </p:cNvPr>
            <p:cNvCxnSpPr>
              <a:stCxn id="60" idx="0"/>
              <a:endCxn id="51" idx="0"/>
            </p:cNvCxnSpPr>
            <p:nvPr/>
          </p:nvCxnSpPr>
          <p:spPr>
            <a:xfrm rot="16200000" flipV="1">
              <a:off x="4833005" y="-310903"/>
              <a:ext cx="304" cy="5804997"/>
            </a:xfrm>
            <a:prstGeom prst="curvedConnector3">
              <a:avLst>
                <a:gd name="adj1" fmla="val 7529736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urved Connector 86">
              <a:extLst>
                <a:ext uri="{FF2B5EF4-FFF2-40B4-BE49-F238E27FC236}">
                  <a16:creationId xmlns:a16="http://schemas.microsoft.com/office/drawing/2014/main" id="{AEBC321A-E7CE-C121-A306-648FC6C05081}"/>
                </a:ext>
              </a:extLst>
            </p:cNvPr>
            <p:cNvCxnSpPr>
              <a:stCxn id="61" idx="0"/>
              <a:endCxn id="51" idx="0"/>
            </p:cNvCxnSpPr>
            <p:nvPr/>
          </p:nvCxnSpPr>
          <p:spPr>
            <a:xfrm rot="16200000" flipV="1">
              <a:off x="5115122" y="-593020"/>
              <a:ext cx="304" cy="6369231"/>
            </a:xfrm>
            <a:prstGeom prst="curvedConnector3">
              <a:avLst>
                <a:gd name="adj1" fmla="val 7529736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urved Connector 88">
              <a:extLst>
                <a:ext uri="{FF2B5EF4-FFF2-40B4-BE49-F238E27FC236}">
                  <a16:creationId xmlns:a16="http://schemas.microsoft.com/office/drawing/2014/main" id="{1FACA08E-2462-2629-AF95-218C142A9729}"/>
                </a:ext>
              </a:extLst>
            </p:cNvPr>
            <p:cNvCxnSpPr>
              <a:stCxn id="62" idx="0"/>
              <a:endCxn id="51" idx="0"/>
            </p:cNvCxnSpPr>
            <p:nvPr/>
          </p:nvCxnSpPr>
          <p:spPr>
            <a:xfrm rot="16200000" flipV="1">
              <a:off x="5397239" y="-875137"/>
              <a:ext cx="304" cy="6933465"/>
            </a:xfrm>
            <a:prstGeom prst="curvedConnector3">
              <a:avLst>
                <a:gd name="adj1" fmla="val 7529736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urved Connector 90">
              <a:extLst>
                <a:ext uri="{FF2B5EF4-FFF2-40B4-BE49-F238E27FC236}">
                  <a16:creationId xmlns:a16="http://schemas.microsoft.com/office/drawing/2014/main" id="{B9A76A34-DEEB-EBA2-DE68-32B60D6661D8}"/>
                </a:ext>
              </a:extLst>
            </p:cNvPr>
            <p:cNvCxnSpPr>
              <a:stCxn id="63" idx="2"/>
              <a:endCxn id="52" idx="2"/>
            </p:cNvCxnSpPr>
            <p:nvPr/>
          </p:nvCxnSpPr>
          <p:spPr>
            <a:xfrm rot="5400000">
              <a:off x="3139349" y="2334772"/>
              <a:ext cx="2212" cy="2419592"/>
            </a:xfrm>
            <a:prstGeom prst="curvedConnector3">
              <a:avLst>
                <a:gd name="adj1" fmla="val 1043453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urved Connector 92">
              <a:extLst>
                <a:ext uri="{FF2B5EF4-FFF2-40B4-BE49-F238E27FC236}">
                  <a16:creationId xmlns:a16="http://schemas.microsoft.com/office/drawing/2014/main" id="{06349740-9F07-FF1A-029B-C54825B185AB}"/>
                </a:ext>
              </a:extLst>
            </p:cNvPr>
            <p:cNvCxnSpPr>
              <a:stCxn id="64" idx="2"/>
              <a:endCxn id="52" idx="2"/>
            </p:cNvCxnSpPr>
            <p:nvPr/>
          </p:nvCxnSpPr>
          <p:spPr>
            <a:xfrm rot="5400000">
              <a:off x="3421466" y="2052655"/>
              <a:ext cx="2212" cy="2983826"/>
            </a:xfrm>
            <a:prstGeom prst="curvedConnector3">
              <a:avLst>
                <a:gd name="adj1" fmla="val 1043453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urved Connector 94">
              <a:extLst>
                <a:ext uri="{FF2B5EF4-FFF2-40B4-BE49-F238E27FC236}">
                  <a16:creationId xmlns:a16="http://schemas.microsoft.com/office/drawing/2014/main" id="{EB75F6BA-3DE9-5891-9761-C404823A2B58}"/>
                </a:ext>
              </a:extLst>
            </p:cNvPr>
            <p:cNvCxnSpPr>
              <a:stCxn id="65" idx="2"/>
              <a:endCxn id="52" idx="2"/>
            </p:cNvCxnSpPr>
            <p:nvPr/>
          </p:nvCxnSpPr>
          <p:spPr>
            <a:xfrm rot="5400000">
              <a:off x="3703583" y="1770538"/>
              <a:ext cx="2212" cy="3548060"/>
            </a:xfrm>
            <a:prstGeom prst="curvedConnector3">
              <a:avLst>
                <a:gd name="adj1" fmla="val 1043453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urved Connector 96">
              <a:extLst>
                <a:ext uri="{FF2B5EF4-FFF2-40B4-BE49-F238E27FC236}">
                  <a16:creationId xmlns:a16="http://schemas.microsoft.com/office/drawing/2014/main" id="{068D2757-5E0D-AE64-C4E4-BD49D378E21C}"/>
                </a:ext>
              </a:extLst>
            </p:cNvPr>
            <p:cNvCxnSpPr>
              <a:stCxn id="66" idx="2"/>
              <a:endCxn id="52" idx="2"/>
            </p:cNvCxnSpPr>
            <p:nvPr/>
          </p:nvCxnSpPr>
          <p:spPr>
            <a:xfrm rot="5400000">
              <a:off x="3985700" y="1488421"/>
              <a:ext cx="2212" cy="4112294"/>
            </a:xfrm>
            <a:prstGeom prst="curvedConnector3">
              <a:avLst>
                <a:gd name="adj1" fmla="val 1043453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urved Connector 98">
              <a:extLst>
                <a:ext uri="{FF2B5EF4-FFF2-40B4-BE49-F238E27FC236}">
                  <a16:creationId xmlns:a16="http://schemas.microsoft.com/office/drawing/2014/main" id="{1F00AB25-1F3D-A19E-37FD-C24B50700BA4}"/>
                </a:ext>
              </a:extLst>
            </p:cNvPr>
            <p:cNvCxnSpPr>
              <a:stCxn id="67" idx="2"/>
              <a:endCxn id="52" idx="2"/>
            </p:cNvCxnSpPr>
            <p:nvPr/>
          </p:nvCxnSpPr>
          <p:spPr>
            <a:xfrm rot="5400000">
              <a:off x="4267817" y="1206304"/>
              <a:ext cx="2212" cy="4676528"/>
            </a:xfrm>
            <a:prstGeom prst="curvedConnector3">
              <a:avLst>
                <a:gd name="adj1" fmla="val 1043453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urved Connector 100">
              <a:extLst>
                <a:ext uri="{FF2B5EF4-FFF2-40B4-BE49-F238E27FC236}">
                  <a16:creationId xmlns:a16="http://schemas.microsoft.com/office/drawing/2014/main" id="{3FF89DAB-ACEE-2898-EC6E-F17E85907B9F}"/>
                </a:ext>
              </a:extLst>
            </p:cNvPr>
            <p:cNvCxnSpPr>
              <a:stCxn id="68" idx="2"/>
              <a:endCxn id="52" idx="2"/>
            </p:cNvCxnSpPr>
            <p:nvPr/>
          </p:nvCxnSpPr>
          <p:spPr>
            <a:xfrm rot="5400000">
              <a:off x="4549934" y="924187"/>
              <a:ext cx="2212" cy="5240762"/>
            </a:xfrm>
            <a:prstGeom prst="curvedConnector3">
              <a:avLst>
                <a:gd name="adj1" fmla="val 1043453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urved Connector 102">
              <a:extLst>
                <a:ext uri="{FF2B5EF4-FFF2-40B4-BE49-F238E27FC236}">
                  <a16:creationId xmlns:a16="http://schemas.microsoft.com/office/drawing/2014/main" id="{BD0E32FF-22BB-4077-0038-8440BF027B5B}"/>
                </a:ext>
              </a:extLst>
            </p:cNvPr>
            <p:cNvCxnSpPr>
              <a:stCxn id="69" idx="2"/>
              <a:endCxn id="52" idx="2"/>
            </p:cNvCxnSpPr>
            <p:nvPr/>
          </p:nvCxnSpPr>
          <p:spPr>
            <a:xfrm rot="5400000">
              <a:off x="4832051" y="642070"/>
              <a:ext cx="2212" cy="5804996"/>
            </a:xfrm>
            <a:prstGeom prst="curvedConnector3">
              <a:avLst>
                <a:gd name="adj1" fmla="val 1043453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59DAA4BF-C1E1-BCED-1F3C-FA7A078AD7AD}"/>
                </a:ext>
              </a:extLst>
            </p:cNvPr>
            <p:cNvCxnSpPr>
              <a:stCxn id="70" idx="2"/>
              <a:endCxn id="52" idx="2"/>
            </p:cNvCxnSpPr>
            <p:nvPr/>
          </p:nvCxnSpPr>
          <p:spPr>
            <a:xfrm rot="5400000">
              <a:off x="5114168" y="359953"/>
              <a:ext cx="2212" cy="6369230"/>
            </a:xfrm>
            <a:prstGeom prst="curvedConnector3">
              <a:avLst>
                <a:gd name="adj1" fmla="val 1043453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urved Connector 106">
              <a:extLst>
                <a:ext uri="{FF2B5EF4-FFF2-40B4-BE49-F238E27FC236}">
                  <a16:creationId xmlns:a16="http://schemas.microsoft.com/office/drawing/2014/main" id="{30BFCC05-D549-259E-FB66-1D43FABAE53D}"/>
                </a:ext>
              </a:extLst>
            </p:cNvPr>
            <p:cNvCxnSpPr>
              <a:stCxn id="71" idx="2"/>
              <a:endCxn id="52" idx="2"/>
            </p:cNvCxnSpPr>
            <p:nvPr/>
          </p:nvCxnSpPr>
          <p:spPr>
            <a:xfrm rot="5400000">
              <a:off x="5396286" y="77836"/>
              <a:ext cx="2212" cy="6933465"/>
            </a:xfrm>
            <a:prstGeom prst="curvedConnector3">
              <a:avLst>
                <a:gd name="adj1" fmla="val 1043453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Elbow Connector 108">
              <a:extLst>
                <a:ext uri="{FF2B5EF4-FFF2-40B4-BE49-F238E27FC236}">
                  <a16:creationId xmlns:a16="http://schemas.microsoft.com/office/drawing/2014/main" id="{2937F9AF-DC4E-6D9D-9F7A-00699EBE09BD}"/>
                </a:ext>
              </a:extLst>
            </p:cNvPr>
            <p:cNvCxnSpPr>
              <a:stCxn id="51" idx="1"/>
              <a:endCxn id="52" idx="1"/>
            </p:cNvCxnSpPr>
            <p:nvPr/>
          </p:nvCxnSpPr>
          <p:spPr>
            <a:xfrm rot="10800000" flipH="1" flipV="1">
              <a:off x="164789" y="2753026"/>
              <a:ext cx="1" cy="631065"/>
            </a:xfrm>
            <a:prstGeom prst="bentConnector3">
              <a:avLst>
                <a:gd name="adj1" fmla="val -228600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081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04F49-51FC-CA60-6347-267091A1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3512-10BD-C299-1EBE-F930E8DD2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C9B364-7689-066F-7E2B-4E62689F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42</a:t>
            </a:fld>
            <a:endParaRPr lang="en-US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CE80AEC-31D7-D28A-164F-A85572173A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5299490"/>
              </p:ext>
            </p:extLst>
          </p:nvPr>
        </p:nvGraphicFramePr>
        <p:xfrm>
          <a:off x="182879" y="1384631"/>
          <a:ext cx="8604985" cy="4207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A4AD4D6-EAA8-48F9-3B53-DBC6B673BF99}"/>
              </a:ext>
            </a:extLst>
          </p:cNvPr>
          <p:cNvSpPr txBox="1"/>
          <p:nvPr/>
        </p:nvSpPr>
        <p:spPr>
          <a:xfrm>
            <a:off x="168476" y="5726887"/>
            <a:ext cx="11194311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Rerunning simple scenario tests does not reliably reproduce all violations, whereas the DeFT module test provides deterministic results.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B0914A-181D-5F3E-0B93-E5876268A4BA}"/>
              </a:ext>
            </a:extLst>
          </p:cNvPr>
          <p:cNvSpPr txBox="1"/>
          <p:nvPr/>
        </p:nvSpPr>
        <p:spPr>
          <a:xfrm>
            <a:off x="164781" y="684664"/>
            <a:ext cx="11198009" cy="63094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RQ2</a:t>
            </a:r>
          </a:p>
          <a:p>
            <a:endParaRPr lang="en-US" sz="1500" dirty="0">
              <a:latin typeface="Berkeley Mono" pitchFamily="49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A341B-A74F-1D54-E004-399170A6885A}"/>
              </a:ext>
            </a:extLst>
          </p:cNvPr>
          <p:cNvSpPr txBox="1"/>
          <p:nvPr/>
        </p:nvSpPr>
        <p:spPr>
          <a:xfrm>
            <a:off x="11362789" y="684664"/>
            <a:ext cx="646331" cy="630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RQ3</a:t>
            </a:r>
            <a:br>
              <a:rPr lang="en-US" sz="2000" dirty="0">
                <a:latin typeface="Berkeley Mono" pitchFamily="49" charset="77"/>
              </a:rPr>
            </a:br>
            <a:endParaRPr lang="en-US" sz="1500" dirty="0">
              <a:latin typeface="Berkeley Mono" pitchFamily="49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269478-4380-FF8A-78EA-D14B75241541}"/>
              </a:ext>
            </a:extLst>
          </p:cNvPr>
          <p:cNvSpPr txBox="1"/>
          <p:nvPr/>
        </p:nvSpPr>
        <p:spPr>
          <a:xfrm>
            <a:off x="164780" y="968913"/>
            <a:ext cx="105721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To what extent can module tests reproduce failures detected by test generation approaches?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369AEC-FE99-63F6-B599-DD1984C64CA1}"/>
              </a:ext>
            </a:extLst>
          </p:cNvPr>
          <p:cNvSpPr txBox="1"/>
          <p:nvPr/>
        </p:nvSpPr>
        <p:spPr>
          <a:xfrm>
            <a:off x="767484" y="693728"/>
            <a:ext cx="613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Failure Reproducibility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49703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4228-937D-F0D5-95CC-59995DCF3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72106-4B83-AA02-4641-71B0C3B7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9895A9-9473-B332-D2DA-5450250BF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43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9523D-6714-EBF3-1C8E-7595107CEB8C}"/>
              </a:ext>
            </a:extLst>
          </p:cNvPr>
          <p:cNvSpPr txBox="1"/>
          <p:nvPr/>
        </p:nvSpPr>
        <p:spPr>
          <a:xfrm>
            <a:off x="164794" y="684664"/>
            <a:ext cx="11844327" cy="63094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RQ3</a:t>
            </a:r>
            <a:br>
              <a:rPr lang="en-US" sz="2000" dirty="0">
                <a:solidFill>
                  <a:schemeClr val="bg1"/>
                </a:solidFill>
                <a:latin typeface="Berkeley Mono" pitchFamily="49" charset="77"/>
              </a:rPr>
            </a:b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548D91-9809-AB46-1B5D-F47B0F141A1A}"/>
              </a:ext>
            </a:extLst>
          </p:cNvPr>
          <p:cNvSpPr txBox="1"/>
          <p:nvPr/>
        </p:nvSpPr>
        <p:spPr>
          <a:xfrm>
            <a:off x="164794" y="992441"/>
            <a:ext cx="82638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What is the run-time efficiency of DeFT and the produced module tests?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113F15-01AB-8C1D-FC8D-AC10B8C8EE9B}"/>
              </a:ext>
            </a:extLst>
          </p:cNvPr>
          <p:cNvSpPr txBox="1"/>
          <p:nvPr/>
        </p:nvSpPr>
        <p:spPr>
          <a:xfrm>
            <a:off x="764588" y="699084"/>
            <a:ext cx="613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Efficiency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BCF612-5FEE-B1C8-0817-7BD13B4FB64E}"/>
              </a:ext>
            </a:extLst>
          </p:cNvPr>
          <p:cNvSpPr txBox="1"/>
          <p:nvPr/>
        </p:nvSpPr>
        <p:spPr>
          <a:xfrm>
            <a:off x="168478" y="1543741"/>
            <a:ext cx="7502054" cy="2308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System Testing – Idle time occurs in each module execution cycle.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7305BF6-EDF3-523D-AC4B-535D2F95519D}"/>
              </a:ext>
            </a:extLst>
          </p:cNvPr>
          <p:cNvGrpSpPr/>
          <p:nvPr/>
        </p:nvGrpSpPr>
        <p:grpSpPr>
          <a:xfrm>
            <a:off x="168478" y="1986677"/>
            <a:ext cx="11840642" cy="486253"/>
            <a:chOff x="168478" y="1986677"/>
            <a:chExt cx="11840642" cy="48625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302A75A-613D-F340-0A0F-AF0EA31448A3}"/>
                </a:ext>
              </a:extLst>
            </p:cNvPr>
            <p:cNvSpPr txBox="1"/>
            <p:nvPr/>
          </p:nvSpPr>
          <p:spPr>
            <a:xfrm>
              <a:off x="168478" y="2114389"/>
              <a:ext cx="692497" cy="2308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 Time 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C171992-C294-2351-1767-DE0811D6B8B6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860975" y="2229805"/>
              <a:ext cx="1114814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9420E1-3857-E583-58DA-6981A0491CA8}"/>
                </a:ext>
              </a:extLst>
            </p:cNvPr>
            <p:cNvSpPr/>
            <p:nvPr/>
          </p:nvSpPr>
          <p:spPr>
            <a:xfrm>
              <a:off x="1137975" y="1986679"/>
              <a:ext cx="1913984" cy="4862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  <a:t>Execution 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EB8F6B-01D0-7A1A-EE90-4339ECD60BC3}"/>
                </a:ext>
              </a:extLst>
            </p:cNvPr>
            <p:cNvSpPr/>
            <p:nvPr/>
          </p:nvSpPr>
          <p:spPr>
            <a:xfrm>
              <a:off x="4436954" y="1986677"/>
              <a:ext cx="2632563" cy="4862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  <a:t>Execution 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59FD20-9D7B-9454-6507-8F9322BC1905}"/>
                </a:ext>
              </a:extLst>
            </p:cNvPr>
            <p:cNvSpPr/>
            <p:nvPr/>
          </p:nvSpPr>
          <p:spPr>
            <a:xfrm>
              <a:off x="8454512" y="1986677"/>
              <a:ext cx="2294929" cy="4862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  <a:t>Execution 3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1AC990B-75E0-030A-D55A-CE788F06EFE7}"/>
              </a:ext>
            </a:extLst>
          </p:cNvPr>
          <p:cNvSpPr txBox="1"/>
          <p:nvPr/>
        </p:nvSpPr>
        <p:spPr>
          <a:xfrm>
            <a:off x="168478" y="3143999"/>
            <a:ext cx="9694962" cy="2308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Module Testing – Shorter frame input read intervals occur between module executions.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4A18642-CFD4-DBDE-D202-CECE12FBED34}"/>
              </a:ext>
            </a:extLst>
          </p:cNvPr>
          <p:cNvGrpSpPr/>
          <p:nvPr/>
        </p:nvGrpSpPr>
        <p:grpSpPr>
          <a:xfrm>
            <a:off x="168478" y="3641438"/>
            <a:ext cx="11840642" cy="491348"/>
            <a:chOff x="168478" y="3641438"/>
            <a:chExt cx="11840642" cy="49134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D6B023-915B-F3EF-A0CB-6EC628F0560F}"/>
                </a:ext>
              </a:extLst>
            </p:cNvPr>
            <p:cNvSpPr txBox="1"/>
            <p:nvPr/>
          </p:nvSpPr>
          <p:spPr>
            <a:xfrm>
              <a:off x="168478" y="3772244"/>
              <a:ext cx="692497" cy="2308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Berkeley Mono" pitchFamily="49" charset="77"/>
                </a:rPr>
                <a:t> Time 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DCD238F-1A71-75C2-5F00-4B57E28C3A3E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860975" y="3887660"/>
              <a:ext cx="1114814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A6EB142-5517-63C7-B0C3-225295AEEA78}"/>
                </a:ext>
              </a:extLst>
            </p:cNvPr>
            <p:cNvSpPr/>
            <p:nvPr/>
          </p:nvSpPr>
          <p:spPr>
            <a:xfrm>
              <a:off x="1137975" y="3644534"/>
              <a:ext cx="1913984" cy="4862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  <a:t>Execution 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9DC0493-5A47-525E-31C6-5DF49A8DF37C}"/>
                </a:ext>
              </a:extLst>
            </p:cNvPr>
            <p:cNvSpPr/>
            <p:nvPr/>
          </p:nvSpPr>
          <p:spPr>
            <a:xfrm>
              <a:off x="3120672" y="3641438"/>
              <a:ext cx="2632563" cy="4862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  <a:t>Execution 2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B17CD9C-57D7-9249-4B6E-0562B37DE145}"/>
                </a:ext>
              </a:extLst>
            </p:cNvPr>
            <p:cNvSpPr/>
            <p:nvPr/>
          </p:nvSpPr>
          <p:spPr>
            <a:xfrm>
              <a:off x="5821948" y="3646535"/>
              <a:ext cx="2294929" cy="4862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  <a:t>Execution 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02C0808-1D02-C8A8-8A5E-F2DE81C7B71F}"/>
                </a:ext>
              </a:extLst>
            </p:cNvPr>
            <p:cNvSpPr/>
            <p:nvPr/>
          </p:nvSpPr>
          <p:spPr>
            <a:xfrm>
              <a:off x="8185590" y="3641438"/>
              <a:ext cx="2294929" cy="4862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  <a:t>Execution 4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9023D49-3CBC-E896-D56D-4A0F73EE2501}"/>
              </a:ext>
            </a:extLst>
          </p:cNvPr>
          <p:cNvSpPr txBox="1"/>
          <p:nvPr/>
        </p:nvSpPr>
        <p:spPr>
          <a:xfrm>
            <a:off x="164794" y="5032685"/>
            <a:ext cx="11844326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Hypothesis 3:</a:t>
            </a:r>
          </a:p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Since a smaller portion of the ADS is exercised, and planning module is directly invoked, module-level testing is expected to reduce execution time.</a:t>
            </a:r>
          </a:p>
        </p:txBody>
      </p:sp>
    </p:spTree>
    <p:extLst>
      <p:ext uri="{BB962C8B-B14F-4D97-AF65-F5344CB8AC3E}">
        <p14:creationId xmlns:p14="http://schemas.microsoft.com/office/powerpoint/2010/main" val="798111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9A1E-3D4C-35B4-1F7B-01CCDD974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29FF-0104-720D-02EC-219019852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7684AF-A5A1-6A6F-5891-95D91ED3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44</a:t>
            </a:fld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6A7B6-E9DA-279B-CE71-679EC842E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066894"/>
              </p:ext>
            </p:extLst>
          </p:nvPr>
        </p:nvGraphicFramePr>
        <p:xfrm>
          <a:off x="168478" y="1543741"/>
          <a:ext cx="11840640" cy="3566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76339">
                  <a:extLst>
                    <a:ext uri="{9D8B030D-6E8A-4147-A177-3AD203B41FA5}">
                      <a16:colId xmlns:a16="http://schemas.microsoft.com/office/drawing/2014/main" val="385580979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3240351"/>
                    </a:ext>
                  </a:extLst>
                </a:gridCol>
                <a:gridCol w="2107932">
                  <a:extLst>
                    <a:ext uri="{9D8B030D-6E8A-4147-A177-3AD203B41FA5}">
                      <a16:colId xmlns:a16="http://schemas.microsoft.com/office/drawing/2014/main" val="2925190366"/>
                    </a:ext>
                  </a:extLst>
                </a:gridCol>
                <a:gridCol w="1680689">
                  <a:extLst>
                    <a:ext uri="{9D8B030D-6E8A-4147-A177-3AD203B41FA5}">
                      <a16:colId xmlns:a16="http://schemas.microsoft.com/office/drawing/2014/main" val="4138741543"/>
                    </a:ext>
                  </a:extLst>
                </a:gridCol>
                <a:gridCol w="1973440">
                  <a:extLst>
                    <a:ext uri="{9D8B030D-6E8A-4147-A177-3AD203B41FA5}">
                      <a16:colId xmlns:a16="http://schemas.microsoft.com/office/drawing/2014/main" val="2027340834"/>
                    </a:ext>
                  </a:extLst>
                </a:gridCol>
                <a:gridCol w="1973440">
                  <a:extLst>
                    <a:ext uri="{9D8B030D-6E8A-4147-A177-3AD203B41FA5}">
                      <a16:colId xmlns:a16="http://schemas.microsoft.com/office/drawing/2014/main" val="2712562195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erkeley Mono" pitchFamily="49" charset="77"/>
                        </a:rPr>
                        <a:t>Approach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erkeley Mono" pitchFamily="49" charset="77"/>
                        </a:rPr>
                        <a:t>Deterministic Frame-Based Testing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System Test (s)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Reduction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4381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Total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2000" dirty="0">
                        <a:latin typeface="Berkeley Mono" pitchFamily="49" charset="7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2000" dirty="0">
                        <a:latin typeface="Berkeley Mono" pitchFamily="49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76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AV-FUZZER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21.22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54.23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bg1"/>
                          </a:solidFill>
                          <a:latin typeface="Berkeley Mono" pitchFamily="49" charset="77"/>
                        </a:rPr>
                        <a:t>75.34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86.33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12.73%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0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Berkeley Mono" pitchFamily="49" charset="77"/>
                        </a:rPr>
                        <a:t>BehAVExplor</a:t>
                      </a:r>
                      <a:endParaRPr lang="en-US" sz="2000" dirty="0">
                        <a:latin typeface="Berkeley Mono" pitchFamily="49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44.54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86.03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bg1"/>
                          </a:solidFill>
                          <a:latin typeface="Berkeley Mono" pitchFamily="49" charset="77"/>
                        </a:rPr>
                        <a:t>130.57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138.43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5.67%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584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Berkeley Mono" pitchFamily="49" charset="77"/>
                        </a:rPr>
                        <a:t>Decictor</a:t>
                      </a:r>
                      <a:endParaRPr lang="en-US" sz="2000" dirty="0">
                        <a:latin typeface="Berkeley Mono" pitchFamily="49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22.50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54.55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bg1"/>
                          </a:solidFill>
                          <a:latin typeface="Berkeley Mono" pitchFamily="49" charset="77"/>
                        </a:rPr>
                        <a:t>77.05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84.85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9.19%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961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Berkeley Mono" pitchFamily="49" charset="77"/>
                        </a:rPr>
                        <a:t>DeepCollision</a:t>
                      </a:r>
                      <a:endParaRPr lang="en-US" sz="2000" dirty="0">
                        <a:latin typeface="Berkeley Mono" pitchFamily="49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13.84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39.23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bg1"/>
                          </a:solidFill>
                          <a:latin typeface="Berkeley Mono" pitchFamily="49" charset="77"/>
                        </a:rPr>
                        <a:t>53.07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60.90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12.86%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096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DoppelTest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12.77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18.69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bg1"/>
                          </a:solidFill>
                          <a:latin typeface="Berkeley Mono" pitchFamily="49" charset="77"/>
                        </a:rPr>
                        <a:t>31.46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35.77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12.04%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27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Berkeley Mono" pitchFamily="49" charset="77"/>
                        </a:rPr>
                        <a:t>DriveFuzz</a:t>
                      </a:r>
                      <a:endParaRPr lang="en-US" sz="2000" dirty="0">
                        <a:latin typeface="Berkeley Mono" pitchFamily="49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22.11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57.17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bg1"/>
                          </a:solidFill>
                          <a:latin typeface="Berkeley Mono" pitchFamily="49" charset="77"/>
                        </a:rPr>
                        <a:t>79.27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88.47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10.40%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32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Berkeley Mono" pitchFamily="49" charset="77"/>
                        </a:rPr>
                        <a:t>scenoRITA</a:t>
                      </a:r>
                      <a:endParaRPr lang="en-US" sz="2000" dirty="0">
                        <a:latin typeface="Berkeley Mono" pitchFamily="49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14.70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21.88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36.57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bg1"/>
                          </a:solidFill>
                          <a:latin typeface="Berkeley Mono" pitchFamily="49" charset="77"/>
                        </a:rPr>
                        <a:t>34.79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-5.14%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67326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9D37692-561B-96D5-EF98-AAE6ACFDBB05}"/>
              </a:ext>
            </a:extLst>
          </p:cNvPr>
          <p:cNvSpPr txBox="1"/>
          <p:nvPr/>
        </p:nvSpPr>
        <p:spPr>
          <a:xfrm>
            <a:off x="168478" y="5519315"/>
            <a:ext cx="11840640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Module-level testing offers a more efficient alternative to system-level testing in terms of runtime cost.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7B4092-0D4C-BC72-699C-4044A465094A}"/>
              </a:ext>
            </a:extLst>
          </p:cNvPr>
          <p:cNvSpPr txBox="1"/>
          <p:nvPr/>
        </p:nvSpPr>
        <p:spPr>
          <a:xfrm>
            <a:off x="168478" y="5148453"/>
            <a:ext cx="111943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Table 3. Run-time cost of running DeFT compared to system-level scenario tests.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B23D0E-A9DC-09AD-4906-22EF9807FB45}"/>
              </a:ext>
            </a:extLst>
          </p:cNvPr>
          <p:cNvSpPr txBox="1"/>
          <p:nvPr/>
        </p:nvSpPr>
        <p:spPr>
          <a:xfrm>
            <a:off x="164794" y="684664"/>
            <a:ext cx="11844327" cy="63094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RQ3</a:t>
            </a:r>
            <a:br>
              <a:rPr lang="en-US" sz="2000" dirty="0">
                <a:solidFill>
                  <a:schemeClr val="bg1"/>
                </a:solidFill>
                <a:latin typeface="Berkeley Mono" pitchFamily="49" charset="77"/>
              </a:rPr>
            </a:b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6CF5DC-A836-DDBF-081A-2AE484A32566}"/>
              </a:ext>
            </a:extLst>
          </p:cNvPr>
          <p:cNvSpPr txBox="1"/>
          <p:nvPr/>
        </p:nvSpPr>
        <p:spPr>
          <a:xfrm>
            <a:off x="164794" y="992441"/>
            <a:ext cx="82638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What is the run-time efficiency of DeFT and the produced module tests?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064929-BB6F-D176-89F8-19365CBDD778}"/>
              </a:ext>
            </a:extLst>
          </p:cNvPr>
          <p:cNvSpPr txBox="1"/>
          <p:nvPr/>
        </p:nvSpPr>
        <p:spPr>
          <a:xfrm>
            <a:off x="764588" y="699084"/>
            <a:ext cx="613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Efficiency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55672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3E5DEA-B032-A780-AA3C-3C1AE301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3557-7670-3D64-4E1F-E5BA908B5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D29C0C-E6F7-CEA8-520A-A254B147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45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374472-D617-8501-6547-C3F39B26F6A7}"/>
              </a:ext>
            </a:extLst>
          </p:cNvPr>
          <p:cNvSpPr txBox="1"/>
          <p:nvPr/>
        </p:nvSpPr>
        <p:spPr>
          <a:xfrm>
            <a:off x="814809" y="3558979"/>
            <a:ext cx="1057212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Berkeley Mono" pitchFamily="49" charset="77"/>
              </a:rPr>
              <a:t>TTRF = Total Time Needed To Reproduce Failure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C2B063-3100-AEF3-00D0-C3F07C3969B8}"/>
              </a:ext>
            </a:extLst>
          </p:cNvPr>
          <p:cNvSpPr txBox="1"/>
          <p:nvPr/>
        </p:nvSpPr>
        <p:spPr>
          <a:xfrm>
            <a:off x="164794" y="684664"/>
            <a:ext cx="11844327" cy="63094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RQ3</a:t>
            </a:r>
            <a:br>
              <a:rPr lang="en-US" sz="2000" dirty="0">
                <a:solidFill>
                  <a:schemeClr val="bg1"/>
                </a:solidFill>
                <a:latin typeface="Berkeley Mono" pitchFamily="49" charset="77"/>
              </a:rPr>
            </a:b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822736-1B4D-1A01-A6C4-15563B1DE28D}"/>
              </a:ext>
            </a:extLst>
          </p:cNvPr>
          <p:cNvSpPr txBox="1"/>
          <p:nvPr/>
        </p:nvSpPr>
        <p:spPr>
          <a:xfrm>
            <a:off x="164794" y="992441"/>
            <a:ext cx="82638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What is the run-time efficiency of DeFT and the produced module tests?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4F2FC9-7105-6AB0-B3BC-72903D3047B8}"/>
              </a:ext>
            </a:extLst>
          </p:cNvPr>
          <p:cNvSpPr txBox="1"/>
          <p:nvPr/>
        </p:nvSpPr>
        <p:spPr>
          <a:xfrm>
            <a:off x="764588" y="699084"/>
            <a:ext cx="613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Efficiency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809823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37A3DE-7647-15D3-A457-2E1B7B986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8F591-99FC-B159-6659-4B22524F8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315A70-80D4-9352-918D-8C23B6D9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46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B9EE4E-3F7A-49BF-6FF7-6DD5A0E58C2C}"/>
              </a:ext>
            </a:extLst>
          </p:cNvPr>
          <p:cNvSpPr txBox="1"/>
          <p:nvPr/>
        </p:nvSpPr>
        <p:spPr>
          <a:xfrm>
            <a:off x="168478" y="5519315"/>
            <a:ext cx="11840640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Considering the non-deterministic nature of system-level testing, module-level tests greatly reduce the time needed to reproduce failures.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252383-1F52-8184-E539-5E81BA25BADB}"/>
              </a:ext>
            </a:extLst>
          </p:cNvPr>
          <p:cNvSpPr txBox="1"/>
          <p:nvPr/>
        </p:nvSpPr>
        <p:spPr>
          <a:xfrm>
            <a:off x="168478" y="5143945"/>
            <a:ext cx="111943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Table 4. TTRF from each test generator by rerunning system tests and module tests.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0A02D2-2EC6-80BD-99BC-5F2D280FA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578259"/>
              </p:ext>
            </p:extLst>
          </p:nvPr>
        </p:nvGraphicFramePr>
        <p:xfrm>
          <a:off x="168478" y="1940530"/>
          <a:ext cx="11840640" cy="316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960160">
                  <a:extLst>
                    <a:ext uri="{9D8B030D-6E8A-4147-A177-3AD203B41FA5}">
                      <a16:colId xmlns:a16="http://schemas.microsoft.com/office/drawing/2014/main" val="4132494964"/>
                    </a:ext>
                  </a:extLst>
                </a:gridCol>
                <a:gridCol w="2960160">
                  <a:extLst>
                    <a:ext uri="{9D8B030D-6E8A-4147-A177-3AD203B41FA5}">
                      <a16:colId xmlns:a16="http://schemas.microsoft.com/office/drawing/2014/main" val="2173637976"/>
                    </a:ext>
                  </a:extLst>
                </a:gridCol>
                <a:gridCol w="2960160">
                  <a:extLst>
                    <a:ext uri="{9D8B030D-6E8A-4147-A177-3AD203B41FA5}">
                      <a16:colId xmlns:a16="http://schemas.microsoft.com/office/drawing/2014/main" val="2080703346"/>
                    </a:ext>
                  </a:extLst>
                </a:gridCol>
                <a:gridCol w="2960160">
                  <a:extLst>
                    <a:ext uri="{9D8B030D-6E8A-4147-A177-3AD203B41FA5}">
                      <a16:colId xmlns:a16="http://schemas.microsoft.com/office/drawing/2014/main" val="849248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System Test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Module Test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Reduction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555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AV-FUZZER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104.67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56.54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45.98%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430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Berkeley Mono" pitchFamily="49" charset="77"/>
                        </a:rPr>
                        <a:t>BehAVExplor</a:t>
                      </a:r>
                      <a:endParaRPr lang="en-US" sz="2000" dirty="0">
                        <a:latin typeface="Berkeley Mono" pitchFamily="49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152.19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79.33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47.87%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9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Berkeley Mono" pitchFamily="49" charset="77"/>
                        </a:rPr>
                        <a:t>Decictor</a:t>
                      </a:r>
                      <a:endParaRPr lang="en-US" sz="2000" dirty="0">
                        <a:latin typeface="Berkeley Mono" pitchFamily="49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334.46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74.78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77.64%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759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Berkeley Mono" pitchFamily="49" charset="77"/>
                        </a:rPr>
                        <a:t>DeepCollision</a:t>
                      </a:r>
                      <a:endParaRPr lang="en-US" sz="2000" dirty="0">
                        <a:latin typeface="Berkeley Mono" pitchFamily="49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123.14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58.11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52.81%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012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erkeley Mono" pitchFamily="49" charset="77"/>
                        </a:rPr>
                        <a:t>DoppelTest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59.68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15.38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74.23%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680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Berkeley Mono" pitchFamily="49" charset="77"/>
                        </a:rPr>
                        <a:t>DriveFuzz</a:t>
                      </a:r>
                      <a:endParaRPr lang="en-US" sz="2000" dirty="0">
                        <a:latin typeface="Berkeley Mono" pitchFamily="49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132.09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71.87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45.59%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404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Berkeley Mono" pitchFamily="49" charset="77"/>
                        </a:rPr>
                        <a:t>scenoRITA</a:t>
                      </a:r>
                      <a:endParaRPr lang="en-US" sz="2000" dirty="0">
                        <a:latin typeface="Berkeley Mono" pitchFamily="49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56.79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20.54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Berkeley Mono" pitchFamily="49" charset="77"/>
                        </a:rPr>
                        <a:t>63.83%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81149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1A2508E-AB5E-CCE6-FCB6-193FCA1F1424}"/>
              </a:ext>
            </a:extLst>
          </p:cNvPr>
          <p:cNvSpPr txBox="1"/>
          <p:nvPr/>
        </p:nvSpPr>
        <p:spPr>
          <a:xfrm>
            <a:off x="3406802" y="1488216"/>
            <a:ext cx="53783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TTRF = Total Time Needed To Reproduce Failure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EBE12E-6D3C-C25F-1349-729C83505A60}"/>
              </a:ext>
            </a:extLst>
          </p:cNvPr>
          <p:cNvSpPr txBox="1"/>
          <p:nvPr/>
        </p:nvSpPr>
        <p:spPr>
          <a:xfrm>
            <a:off x="164794" y="684664"/>
            <a:ext cx="11844327" cy="63094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RQ3</a:t>
            </a:r>
            <a:br>
              <a:rPr lang="en-US" sz="2000" dirty="0">
                <a:solidFill>
                  <a:schemeClr val="bg1"/>
                </a:solidFill>
                <a:latin typeface="Berkeley Mono" pitchFamily="49" charset="77"/>
              </a:rPr>
            </a:br>
            <a:endParaRPr lang="en-US" sz="1500" dirty="0">
              <a:solidFill>
                <a:schemeClr val="bg1"/>
              </a:solidFill>
              <a:latin typeface="Berkeley Mono" pitchFamily="49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65A893-0CD4-A4FD-EB60-33A7593597AB}"/>
              </a:ext>
            </a:extLst>
          </p:cNvPr>
          <p:cNvSpPr txBox="1"/>
          <p:nvPr/>
        </p:nvSpPr>
        <p:spPr>
          <a:xfrm>
            <a:off x="164794" y="992441"/>
            <a:ext cx="82638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What is the run-time efficiency of DeFT and the produced module tests?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5533B4-A728-6C9B-DEDD-BD59A14F0F55}"/>
              </a:ext>
            </a:extLst>
          </p:cNvPr>
          <p:cNvSpPr txBox="1"/>
          <p:nvPr/>
        </p:nvSpPr>
        <p:spPr>
          <a:xfrm>
            <a:off x="764588" y="699084"/>
            <a:ext cx="613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Efficiency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673143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10019F-D779-0BD7-A094-05E0174F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99F9-D30D-4FC9-B818-47C6D25E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DeFT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21E61F-9D3B-73AA-BF9B-363396DB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47</a:t>
            </a:fld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313CC08-9145-4865-40CB-3FE3D143BF08}"/>
              </a:ext>
            </a:extLst>
          </p:cNvPr>
          <p:cNvSpPr/>
          <p:nvPr/>
        </p:nvSpPr>
        <p:spPr>
          <a:xfrm>
            <a:off x="216950" y="640367"/>
            <a:ext cx="11789225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000" u="sng" dirty="0">
                <a:solidFill>
                  <a:schemeClr val="tx1"/>
                </a:solidFill>
                <a:latin typeface="Berkeley Mono" pitchFamily="49" charset="77"/>
              </a:rPr>
              <a:t>De</a:t>
            </a:r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terministic </a:t>
            </a:r>
            <a:r>
              <a:rPr lang="en-US" sz="2000" u="sng" dirty="0">
                <a:solidFill>
                  <a:schemeClr val="tx1"/>
                </a:solidFill>
                <a:latin typeface="Berkeley Mono" pitchFamily="49" charset="77"/>
              </a:rPr>
              <a:t>F</a:t>
            </a:r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rame-Based </a:t>
            </a:r>
            <a:r>
              <a:rPr lang="en-US" sz="2000" u="sng" dirty="0">
                <a:solidFill>
                  <a:schemeClr val="tx1"/>
                </a:solidFill>
                <a:latin typeface="Berkeley Mono" pitchFamily="49" charset="77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esting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B25F5BF-F7F5-3D7F-05E8-675739DEA6ED}"/>
              </a:ext>
            </a:extLst>
          </p:cNvPr>
          <p:cNvSpPr txBox="1"/>
          <p:nvPr/>
        </p:nvSpPr>
        <p:spPr>
          <a:xfrm>
            <a:off x="214008" y="1302424"/>
            <a:ext cx="1107996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Message Pool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EE4052B1-DD18-CD9C-7E25-209968146812}"/>
              </a:ext>
            </a:extLst>
          </p:cNvPr>
          <p:cNvSpPr/>
          <p:nvPr/>
        </p:nvSpPr>
        <p:spPr>
          <a:xfrm>
            <a:off x="248100" y="1615544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3A8C5ED9-AB25-AB46-B83E-C7B117A7D4F3}"/>
              </a:ext>
            </a:extLst>
          </p:cNvPr>
          <p:cNvSpPr/>
          <p:nvPr/>
        </p:nvSpPr>
        <p:spPr>
          <a:xfrm>
            <a:off x="499892" y="1615544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6DE5D4C9-D10A-4AF3-FC86-C756E52D874B}"/>
              </a:ext>
            </a:extLst>
          </p:cNvPr>
          <p:cNvSpPr/>
          <p:nvPr/>
        </p:nvSpPr>
        <p:spPr>
          <a:xfrm>
            <a:off x="751684" y="1615544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3A2BD5F8-5683-90FD-E5F8-38EE2EF6C672}"/>
              </a:ext>
            </a:extLst>
          </p:cNvPr>
          <p:cNvSpPr/>
          <p:nvPr/>
        </p:nvSpPr>
        <p:spPr>
          <a:xfrm>
            <a:off x="1003476" y="1615544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FA8B165E-75F2-AF77-0B70-BFAB0411C538}"/>
              </a:ext>
            </a:extLst>
          </p:cNvPr>
          <p:cNvSpPr/>
          <p:nvPr/>
        </p:nvSpPr>
        <p:spPr>
          <a:xfrm>
            <a:off x="1255268" y="1615544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DC8733A-EE01-AD65-2514-ED01B510B1BB}"/>
              </a:ext>
            </a:extLst>
          </p:cNvPr>
          <p:cNvSpPr/>
          <p:nvPr/>
        </p:nvSpPr>
        <p:spPr>
          <a:xfrm>
            <a:off x="216176" y="1559285"/>
            <a:ext cx="1310850" cy="18805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AA0BE334-CC2D-AC16-BDCF-EE786D44764B}"/>
              </a:ext>
            </a:extLst>
          </p:cNvPr>
          <p:cNvSpPr/>
          <p:nvPr/>
        </p:nvSpPr>
        <p:spPr>
          <a:xfrm>
            <a:off x="248100" y="1927591"/>
            <a:ext cx="228600" cy="2286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5A183C88-1695-5E0C-20AA-731D3209F14F}"/>
              </a:ext>
            </a:extLst>
          </p:cNvPr>
          <p:cNvSpPr/>
          <p:nvPr/>
        </p:nvSpPr>
        <p:spPr>
          <a:xfrm>
            <a:off x="499892" y="1927591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6A4E3BC3-9E5C-064B-582D-847C752CBD2D}"/>
              </a:ext>
            </a:extLst>
          </p:cNvPr>
          <p:cNvSpPr/>
          <p:nvPr/>
        </p:nvSpPr>
        <p:spPr>
          <a:xfrm>
            <a:off x="751684" y="1927591"/>
            <a:ext cx="22860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E031E89E-0F7D-85F2-6885-7AFB1B29C2B9}"/>
              </a:ext>
            </a:extLst>
          </p:cNvPr>
          <p:cNvSpPr/>
          <p:nvPr/>
        </p:nvSpPr>
        <p:spPr>
          <a:xfrm>
            <a:off x="1003476" y="1927591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CC780A9D-2501-0ACE-66B4-BB66ED33E1D2}"/>
              </a:ext>
            </a:extLst>
          </p:cNvPr>
          <p:cNvSpPr/>
          <p:nvPr/>
        </p:nvSpPr>
        <p:spPr>
          <a:xfrm>
            <a:off x="1255268" y="1927591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928E7FF3-39C2-6C52-A079-05AD75BFF563}"/>
              </a:ext>
            </a:extLst>
          </p:cNvPr>
          <p:cNvSpPr/>
          <p:nvPr/>
        </p:nvSpPr>
        <p:spPr>
          <a:xfrm>
            <a:off x="248100" y="2239638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A6512921-6DBD-B66A-59C7-D057FAFDDDF5}"/>
              </a:ext>
            </a:extLst>
          </p:cNvPr>
          <p:cNvSpPr/>
          <p:nvPr/>
        </p:nvSpPr>
        <p:spPr>
          <a:xfrm>
            <a:off x="499892" y="2238892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2C8DAFF5-2A46-EE56-9D43-BF55FBEF4F19}"/>
              </a:ext>
            </a:extLst>
          </p:cNvPr>
          <p:cNvSpPr/>
          <p:nvPr/>
        </p:nvSpPr>
        <p:spPr>
          <a:xfrm>
            <a:off x="751684" y="2238892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1BEB106C-AA39-9A53-07DC-BFE286E7EC96}"/>
              </a:ext>
            </a:extLst>
          </p:cNvPr>
          <p:cNvSpPr/>
          <p:nvPr/>
        </p:nvSpPr>
        <p:spPr>
          <a:xfrm>
            <a:off x="1003476" y="2238892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C502994D-EAA5-2773-AD34-ABAE9B2B6EC0}"/>
              </a:ext>
            </a:extLst>
          </p:cNvPr>
          <p:cNvSpPr/>
          <p:nvPr/>
        </p:nvSpPr>
        <p:spPr>
          <a:xfrm>
            <a:off x="1255268" y="2238892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C67B21E9-D1C9-C4D9-2AC9-9809ABBC46E8}"/>
              </a:ext>
            </a:extLst>
          </p:cNvPr>
          <p:cNvSpPr/>
          <p:nvPr/>
        </p:nvSpPr>
        <p:spPr>
          <a:xfrm>
            <a:off x="248100" y="2551685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FF001C0F-5FB3-2254-6963-5DDCE8DCDDCA}"/>
              </a:ext>
            </a:extLst>
          </p:cNvPr>
          <p:cNvSpPr/>
          <p:nvPr/>
        </p:nvSpPr>
        <p:spPr>
          <a:xfrm>
            <a:off x="498158" y="2550193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CB932FA7-8FC0-EF60-82A5-33D124FBE54E}"/>
              </a:ext>
            </a:extLst>
          </p:cNvPr>
          <p:cNvSpPr/>
          <p:nvPr/>
        </p:nvSpPr>
        <p:spPr>
          <a:xfrm>
            <a:off x="749950" y="2550193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F145EEE6-DC1C-209F-C37A-06AAE068C2F0}"/>
              </a:ext>
            </a:extLst>
          </p:cNvPr>
          <p:cNvSpPr/>
          <p:nvPr/>
        </p:nvSpPr>
        <p:spPr>
          <a:xfrm>
            <a:off x="1001742" y="2550193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4707C4B-E872-A025-D443-91BCBCF1AE57}"/>
              </a:ext>
            </a:extLst>
          </p:cNvPr>
          <p:cNvSpPr/>
          <p:nvPr/>
        </p:nvSpPr>
        <p:spPr>
          <a:xfrm>
            <a:off x="1253534" y="2550193"/>
            <a:ext cx="228600" cy="228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8459B2AA-9C7C-06D5-AACD-15C60528EECF}"/>
              </a:ext>
            </a:extLst>
          </p:cNvPr>
          <p:cNvSpPr/>
          <p:nvPr/>
        </p:nvSpPr>
        <p:spPr>
          <a:xfrm>
            <a:off x="248100" y="2863732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D4B22CB3-8D30-0D06-0F92-6AFA05D0FDA4}"/>
              </a:ext>
            </a:extLst>
          </p:cNvPr>
          <p:cNvSpPr/>
          <p:nvPr/>
        </p:nvSpPr>
        <p:spPr>
          <a:xfrm>
            <a:off x="498158" y="2863732"/>
            <a:ext cx="228600" cy="228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7088001A-EF55-34E2-9828-86A93C020B5D}"/>
              </a:ext>
            </a:extLst>
          </p:cNvPr>
          <p:cNvSpPr/>
          <p:nvPr/>
        </p:nvSpPr>
        <p:spPr>
          <a:xfrm>
            <a:off x="749950" y="2863732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E3E5639C-720C-8DA6-9E69-F3EBF0C5C11B}"/>
              </a:ext>
            </a:extLst>
          </p:cNvPr>
          <p:cNvSpPr/>
          <p:nvPr/>
        </p:nvSpPr>
        <p:spPr>
          <a:xfrm>
            <a:off x="1001742" y="2863732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1CCC11E6-72B9-3B3C-03DD-E7D4A0F7014F}"/>
              </a:ext>
            </a:extLst>
          </p:cNvPr>
          <p:cNvSpPr/>
          <p:nvPr/>
        </p:nvSpPr>
        <p:spPr>
          <a:xfrm>
            <a:off x="1253534" y="2863732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7B652C07-3172-33F6-9FB6-0AE346B45BB0}"/>
              </a:ext>
            </a:extLst>
          </p:cNvPr>
          <p:cNvSpPr/>
          <p:nvPr/>
        </p:nvSpPr>
        <p:spPr>
          <a:xfrm>
            <a:off x="248100" y="3175780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50D46E65-338A-CAAC-64D1-04961582491C}"/>
              </a:ext>
            </a:extLst>
          </p:cNvPr>
          <p:cNvSpPr/>
          <p:nvPr/>
        </p:nvSpPr>
        <p:spPr>
          <a:xfrm>
            <a:off x="498158" y="3172795"/>
            <a:ext cx="22860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20527FFB-EF57-A18B-FA65-31187CDFCAF7}"/>
              </a:ext>
            </a:extLst>
          </p:cNvPr>
          <p:cNvSpPr/>
          <p:nvPr/>
        </p:nvSpPr>
        <p:spPr>
          <a:xfrm>
            <a:off x="749950" y="3172795"/>
            <a:ext cx="22860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38C5A2BC-1DAE-CEBE-BE8B-A237BA3B5084}"/>
              </a:ext>
            </a:extLst>
          </p:cNvPr>
          <p:cNvSpPr/>
          <p:nvPr/>
        </p:nvSpPr>
        <p:spPr>
          <a:xfrm>
            <a:off x="1001742" y="3172795"/>
            <a:ext cx="22860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AAF3F65B-F890-F016-6F4F-F69DF172C01C}"/>
              </a:ext>
            </a:extLst>
          </p:cNvPr>
          <p:cNvSpPr/>
          <p:nvPr/>
        </p:nvSpPr>
        <p:spPr>
          <a:xfrm>
            <a:off x="1253534" y="3172795"/>
            <a:ext cx="22860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57937-1814-665A-CFBA-762474B7A6E4}"/>
              </a:ext>
            </a:extLst>
          </p:cNvPr>
          <p:cNvSpPr txBox="1"/>
          <p:nvPr/>
        </p:nvSpPr>
        <p:spPr>
          <a:xfrm>
            <a:off x="2089597" y="1299522"/>
            <a:ext cx="492443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DeFT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205A5-98C2-FC22-AD07-5F5680D5BBA4}"/>
              </a:ext>
            </a:extLst>
          </p:cNvPr>
          <p:cNvSpPr txBox="1"/>
          <p:nvPr/>
        </p:nvSpPr>
        <p:spPr>
          <a:xfrm>
            <a:off x="2089595" y="1545743"/>
            <a:ext cx="4076623" cy="63094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Filter</a:t>
            </a:r>
          </a:p>
          <a:p>
            <a:r>
              <a:rPr lang="en-US" sz="1500" dirty="0">
                <a:latin typeface="Berkeley Mono" pitchFamily="49" charset="77"/>
              </a:rPr>
              <a:t>module’s input messages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11E89B-C71C-BC38-AF2A-BD987B9F3A7D}"/>
              </a:ext>
            </a:extLst>
          </p:cNvPr>
          <p:cNvSpPr txBox="1"/>
          <p:nvPr/>
        </p:nvSpPr>
        <p:spPr>
          <a:xfrm>
            <a:off x="2089597" y="2177513"/>
            <a:ext cx="4076621" cy="63094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Reconstruct</a:t>
            </a:r>
          </a:p>
          <a:p>
            <a:r>
              <a:rPr lang="en-US" sz="1500" dirty="0">
                <a:latin typeface="Berkeley Mono" pitchFamily="49" charset="77"/>
              </a:rPr>
              <a:t>input combinations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D742C-6151-201E-2489-C83CFC2DAD16}"/>
              </a:ext>
            </a:extLst>
          </p:cNvPr>
          <p:cNvSpPr txBox="1"/>
          <p:nvPr/>
        </p:nvSpPr>
        <p:spPr>
          <a:xfrm>
            <a:off x="2089597" y="2805953"/>
            <a:ext cx="4076621" cy="63094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Validate</a:t>
            </a:r>
          </a:p>
          <a:p>
            <a:r>
              <a:rPr lang="en-US" sz="1500" dirty="0">
                <a:latin typeface="Berkeley Mono" pitchFamily="49" charset="77"/>
              </a:rPr>
              <a:t>module tests based on outputs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553D88-FB8A-001F-EE3C-07438009D650}"/>
              </a:ext>
            </a:extLst>
          </p:cNvPr>
          <p:cNvSpPr/>
          <p:nvPr/>
        </p:nvSpPr>
        <p:spPr>
          <a:xfrm>
            <a:off x="6806161" y="1563649"/>
            <a:ext cx="1757244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01CD5B-67E5-9729-4A20-73DD191E8C9C}"/>
              </a:ext>
            </a:extLst>
          </p:cNvPr>
          <p:cNvSpPr txBox="1"/>
          <p:nvPr/>
        </p:nvSpPr>
        <p:spPr>
          <a:xfrm>
            <a:off x="6806161" y="1313064"/>
            <a:ext cx="1877437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Sequential Frame Tests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FA1AC6E-11F7-D436-7B4E-EC7F09B14413}"/>
              </a:ext>
            </a:extLst>
          </p:cNvPr>
          <p:cNvSpPr/>
          <p:nvPr/>
        </p:nvSpPr>
        <p:spPr>
          <a:xfrm>
            <a:off x="7283474" y="1618616"/>
            <a:ext cx="36576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23B5C40-EE9F-F8C0-B39F-4E09DC200797}"/>
              </a:ext>
            </a:extLst>
          </p:cNvPr>
          <p:cNvSpPr/>
          <p:nvPr/>
        </p:nvSpPr>
        <p:spPr>
          <a:xfrm>
            <a:off x="7718066" y="1618616"/>
            <a:ext cx="36576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95D869D-D6DB-DCA6-A515-67F80297D255}"/>
              </a:ext>
            </a:extLst>
          </p:cNvPr>
          <p:cNvSpPr/>
          <p:nvPr/>
        </p:nvSpPr>
        <p:spPr>
          <a:xfrm>
            <a:off x="8152659" y="1618616"/>
            <a:ext cx="36576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7F8ADD8-4225-D654-E1F5-E5AC8B20F662}"/>
              </a:ext>
            </a:extLst>
          </p:cNvPr>
          <p:cNvSpPr/>
          <p:nvPr/>
        </p:nvSpPr>
        <p:spPr>
          <a:xfrm>
            <a:off x="6848882" y="1618616"/>
            <a:ext cx="36576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9001AD-0797-FDAC-386D-C6D7E719FCEF}"/>
              </a:ext>
            </a:extLst>
          </p:cNvPr>
          <p:cNvSpPr/>
          <p:nvPr/>
        </p:nvSpPr>
        <p:spPr>
          <a:xfrm>
            <a:off x="6806161" y="1902183"/>
            <a:ext cx="1757244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73FB694-2248-6EF5-538C-B61D22E325ED}"/>
              </a:ext>
            </a:extLst>
          </p:cNvPr>
          <p:cNvSpPr/>
          <p:nvPr/>
        </p:nvSpPr>
        <p:spPr>
          <a:xfrm>
            <a:off x="7283474" y="1957150"/>
            <a:ext cx="36576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2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E484A36-4932-8C26-6946-D85E9D9102C3}"/>
              </a:ext>
            </a:extLst>
          </p:cNvPr>
          <p:cNvSpPr/>
          <p:nvPr/>
        </p:nvSpPr>
        <p:spPr>
          <a:xfrm>
            <a:off x="7718066" y="1957150"/>
            <a:ext cx="36576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2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D3159E6-B8D6-9ACF-4D93-3E8C2B5227F3}"/>
              </a:ext>
            </a:extLst>
          </p:cNvPr>
          <p:cNvSpPr/>
          <p:nvPr/>
        </p:nvSpPr>
        <p:spPr>
          <a:xfrm>
            <a:off x="8152659" y="1957150"/>
            <a:ext cx="36576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2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110A59D-FC5A-10BE-175A-A4A67061083C}"/>
              </a:ext>
            </a:extLst>
          </p:cNvPr>
          <p:cNvSpPr/>
          <p:nvPr/>
        </p:nvSpPr>
        <p:spPr>
          <a:xfrm>
            <a:off x="6848882" y="1957150"/>
            <a:ext cx="36576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2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1BECD0-C207-F16D-3F8E-29F3C55D4718}"/>
              </a:ext>
            </a:extLst>
          </p:cNvPr>
          <p:cNvSpPr/>
          <p:nvPr/>
        </p:nvSpPr>
        <p:spPr>
          <a:xfrm>
            <a:off x="6806161" y="3101497"/>
            <a:ext cx="1757244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8323B24-F07C-4E10-6CCA-9C57550280DD}"/>
              </a:ext>
            </a:extLst>
          </p:cNvPr>
          <p:cNvSpPr/>
          <p:nvPr/>
        </p:nvSpPr>
        <p:spPr>
          <a:xfrm>
            <a:off x="7283474" y="3156464"/>
            <a:ext cx="36576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E40D95-7307-F535-B579-781D9AAF336D}"/>
              </a:ext>
            </a:extLst>
          </p:cNvPr>
          <p:cNvSpPr/>
          <p:nvPr/>
        </p:nvSpPr>
        <p:spPr>
          <a:xfrm>
            <a:off x="7718066" y="3156464"/>
            <a:ext cx="36576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DBB3F8B-6CF5-88AF-7224-1A73EC38AE3C}"/>
              </a:ext>
            </a:extLst>
          </p:cNvPr>
          <p:cNvSpPr/>
          <p:nvPr/>
        </p:nvSpPr>
        <p:spPr>
          <a:xfrm>
            <a:off x="8152659" y="3156464"/>
            <a:ext cx="36576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C4AA3C1-9E8F-5E72-5AFC-5D999CD36D87}"/>
              </a:ext>
            </a:extLst>
          </p:cNvPr>
          <p:cNvSpPr/>
          <p:nvPr/>
        </p:nvSpPr>
        <p:spPr>
          <a:xfrm>
            <a:off x="6848882" y="3156464"/>
            <a:ext cx="36576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7AA478-D526-5F9F-945F-2312C9C91D91}"/>
              </a:ext>
            </a:extLst>
          </p:cNvPr>
          <p:cNvSpPr txBox="1"/>
          <p:nvPr/>
        </p:nvSpPr>
        <p:spPr>
          <a:xfrm>
            <a:off x="6806161" y="2740857"/>
            <a:ext cx="415498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...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45C94A6-5466-96D8-AD9A-A4A1D66F0F9B}"/>
              </a:ext>
            </a:extLst>
          </p:cNvPr>
          <p:cNvSpPr/>
          <p:nvPr/>
        </p:nvSpPr>
        <p:spPr>
          <a:xfrm>
            <a:off x="8601951" y="1618616"/>
            <a:ext cx="36576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P</a:t>
            </a:r>
            <a:r>
              <a:rPr lang="en-US" sz="1000" baseline="30000" dirty="0">
                <a:latin typeface="Berkeley Mono" pitchFamily="49" charset="77"/>
              </a:rPr>
              <a:t>1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7B0AC8-B9F9-5DEB-852C-0405FF5AA854}"/>
              </a:ext>
            </a:extLst>
          </p:cNvPr>
          <p:cNvSpPr/>
          <p:nvPr/>
        </p:nvSpPr>
        <p:spPr>
          <a:xfrm>
            <a:off x="8562202" y="1563648"/>
            <a:ext cx="456613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A3FA2F0-E182-6DBA-1843-B1F723FC3D89}"/>
              </a:ext>
            </a:extLst>
          </p:cNvPr>
          <p:cNvSpPr/>
          <p:nvPr/>
        </p:nvSpPr>
        <p:spPr>
          <a:xfrm>
            <a:off x="8603942" y="1957151"/>
            <a:ext cx="36576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P</a:t>
            </a:r>
            <a:r>
              <a:rPr lang="en-US" sz="1000" baseline="30000" dirty="0">
                <a:latin typeface="Berkeley Mono" pitchFamily="49" charset="77"/>
              </a:rPr>
              <a:t>2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9964E0-43EA-4AD4-A642-F9952A127421}"/>
              </a:ext>
            </a:extLst>
          </p:cNvPr>
          <p:cNvSpPr/>
          <p:nvPr/>
        </p:nvSpPr>
        <p:spPr>
          <a:xfrm>
            <a:off x="8562202" y="1902183"/>
            <a:ext cx="456613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8047497-1327-2FDC-1BE0-24EBD2EFD99D}"/>
              </a:ext>
            </a:extLst>
          </p:cNvPr>
          <p:cNvSpPr/>
          <p:nvPr/>
        </p:nvSpPr>
        <p:spPr>
          <a:xfrm>
            <a:off x="8603942" y="3156465"/>
            <a:ext cx="36576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P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3B0082-7FE5-CD98-5092-97B33C886935}"/>
              </a:ext>
            </a:extLst>
          </p:cNvPr>
          <p:cNvSpPr/>
          <p:nvPr/>
        </p:nvSpPr>
        <p:spPr>
          <a:xfrm>
            <a:off x="8562202" y="3101497"/>
            <a:ext cx="456613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DB6569-9086-8AFF-AE4D-F1F0EEC2F0AC}"/>
              </a:ext>
            </a:extLst>
          </p:cNvPr>
          <p:cNvSpPr/>
          <p:nvPr/>
        </p:nvSpPr>
        <p:spPr>
          <a:xfrm>
            <a:off x="6806161" y="2239128"/>
            <a:ext cx="1757244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BFBBB6D-1EA1-D2FF-0E82-CDAAA7BC2178}"/>
              </a:ext>
            </a:extLst>
          </p:cNvPr>
          <p:cNvSpPr/>
          <p:nvPr/>
        </p:nvSpPr>
        <p:spPr>
          <a:xfrm>
            <a:off x="7283474" y="2294095"/>
            <a:ext cx="36576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3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23F6F37-A14D-11EE-01EE-FFDB89D49D8E}"/>
              </a:ext>
            </a:extLst>
          </p:cNvPr>
          <p:cNvSpPr/>
          <p:nvPr/>
        </p:nvSpPr>
        <p:spPr>
          <a:xfrm>
            <a:off x="7718066" y="2294095"/>
            <a:ext cx="36576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3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44C95BB-F115-8B0E-41E2-435770DB4B89}"/>
              </a:ext>
            </a:extLst>
          </p:cNvPr>
          <p:cNvSpPr/>
          <p:nvPr/>
        </p:nvSpPr>
        <p:spPr>
          <a:xfrm>
            <a:off x="8152659" y="2294095"/>
            <a:ext cx="36576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3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58577DA-755E-2431-3F50-ED5A71315711}"/>
              </a:ext>
            </a:extLst>
          </p:cNvPr>
          <p:cNvSpPr/>
          <p:nvPr/>
        </p:nvSpPr>
        <p:spPr>
          <a:xfrm>
            <a:off x="6848882" y="2294095"/>
            <a:ext cx="36576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m</a:t>
            </a:r>
            <a:r>
              <a:rPr lang="en-US" sz="1000" baseline="30000" dirty="0">
                <a:latin typeface="Berkeley Mono" pitchFamily="49" charset="77"/>
              </a:rPr>
              <a:t>3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6DA40B9-F00C-2766-54CD-092DB7DC53C2}"/>
              </a:ext>
            </a:extLst>
          </p:cNvPr>
          <p:cNvSpPr/>
          <p:nvPr/>
        </p:nvSpPr>
        <p:spPr>
          <a:xfrm>
            <a:off x="8603942" y="2294096"/>
            <a:ext cx="36576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Berkeley Mono" pitchFamily="49" charset="77"/>
              </a:rPr>
              <a:t>P</a:t>
            </a:r>
            <a:r>
              <a:rPr lang="en-US" sz="1000" baseline="30000" dirty="0">
                <a:latin typeface="Berkeley Mono" pitchFamily="49" charset="77"/>
              </a:rPr>
              <a:t>3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FBE1983-01B7-F9BA-DF63-566601730E33}"/>
              </a:ext>
            </a:extLst>
          </p:cNvPr>
          <p:cNvSpPr/>
          <p:nvPr/>
        </p:nvSpPr>
        <p:spPr>
          <a:xfrm>
            <a:off x="8562202" y="2239128"/>
            <a:ext cx="456613" cy="338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50CC05B-4F46-25CB-9560-68E644B6CAEB}"/>
              </a:ext>
            </a:extLst>
          </p:cNvPr>
          <p:cNvSpPr/>
          <p:nvPr/>
        </p:nvSpPr>
        <p:spPr>
          <a:xfrm>
            <a:off x="9572311" y="1550036"/>
            <a:ext cx="2433865" cy="3341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Berkeley Mono" pitchFamily="49" charset="77"/>
              </a:rPr>
              <a:t>Test Executor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55600E-92BB-095F-307E-B5E43F78F15D}"/>
              </a:ext>
            </a:extLst>
          </p:cNvPr>
          <p:cNvSpPr txBox="1"/>
          <p:nvPr/>
        </p:nvSpPr>
        <p:spPr>
          <a:xfrm>
            <a:off x="9572311" y="1300180"/>
            <a:ext cx="492443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DeFT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77C745-30D9-F053-35A7-9029F5D868BD}"/>
              </a:ext>
            </a:extLst>
          </p:cNvPr>
          <p:cNvSpPr/>
          <p:nvPr/>
        </p:nvSpPr>
        <p:spPr>
          <a:xfrm>
            <a:off x="9577220" y="2915284"/>
            <a:ext cx="2433865" cy="5112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Berkeley Mono" pitchFamily="49" charset="77"/>
              </a:rPr>
              <a:t>Planning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C946C37-D5FE-8767-B89D-8004149C8373}"/>
              </a:ext>
            </a:extLst>
          </p:cNvPr>
          <p:cNvSpPr/>
          <p:nvPr/>
        </p:nvSpPr>
        <p:spPr>
          <a:xfrm>
            <a:off x="10685820" y="1961808"/>
            <a:ext cx="365760" cy="228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1472A2D-5BED-94E0-03E5-040B77903978}"/>
              </a:ext>
            </a:extLst>
          </p:cNvPr>
          <p:cNvSpPr/>
          <p:nvPr/>
        </p:nvSpPr>
        <p:spPr>
          <a:xfrm>
            <a:off x="11129765" y="1961808"/>
            <a:ext cx="365760" cy="228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3F37FF98-2B29-D367-425E-8973E6A3F0D1}"/>
              </a:ext>
            </a:extLst>
          </p:cNvPr>
          <p:cNvSpPr/>
          <p:nvPr/>
        </p:nvSpPr>
        <p:spPr>
          <a:xfrm>
            <a:off x="11573711" y="1966945"/>
            <a:ext cx="365760" cy="228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2646886E-3EFC-60C9-22D9-E758EB97BBDB}"/>
              </a:ext>
            </a:extLst>
          </p:cNvPr>
          <p:cNvSpPr/>
          <p:nvPr/>
        </p:nvSpPr>
        <p:spPr>
          <a:xfrm>
            <a:off x="10241875" y="1961808"/>
            <a:ext cx="365760" cy="228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m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9068649-2E72-8F8F-39EA-5F878951E44A}"/>
              </a:ext>
            </a:extLst>
          </p:cNvPr>
          <p:cNvSpPr/>
          <p:nvPr/>
        </p:nvSpPr>
        <p:spPr>
          <a:xfrm>
            <a:off x="11581557" y="2257634"/>
            <a:ext cx="365760" cy="228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Berkeley Mono" pitchFamily="49" charset="77"/>
              </a:rPr>
              <a:t>P</a:t>
            </a:r>
            <a:r>
              <a:rPr lang="en-US" sz="1000" baseline="30000" dirty="0" err="1">
                <a:latin typeface="Berkeley Mono" pitchFamily="49" charset="77"/>
              </a:rPr>
              <a:t>n</a:t>
            </a:r>
            <a:endParaRPr lang="en-US" sz="1000" dirty="0">
              <a:latin typeface="Berkeley Mono" pitchFamily="49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51F06B-F4AD-C91B-882D-65B6CF9E50E7}"/>
              </a:ext>
            </a:extLst>
          </p:cNvPr>
          <p:cNvSpPr txBox="1"/>
          <p:nvPr/>
        </p:nvSpPr>
        <p:spPr>
          <a:xfrm>
            <a:off x="9575254" y="1943776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Input: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A8FD70-222E-D351-A594-0ABB8B2D2F78}"/>
              </a:ext>
            </a:extLst>
          </p:cNvPr>
          <p:cNvSpPr txBox="1"/>
          <p:nvPr/>
        </p:nvSpPr>
        <p:spPr>
          <a:xfrm>
            <a:off x="9569520" y="2268146"/>
            <a:ext cx="14157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Expected Output: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03CCDDE-8A0A-892B-9525-35CB8A98FC65}"/>
              </a:ext>
            </a:extLst>
          </p:cNvPr>
          <p:cNvSpPr/>
          <p:nvPr/>
        </p:nvSpPr>
        <p:spPr>
          <a:xfrm>
            <a:off x="9572311" y="1545743"/>
            <a:ext cx="2436809" cy="101498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3BEB560-8B5D-6513-7252-C5782CF6EC2F}"/>
              </a:ext>
            </a:extLst>
          </p:cNvPr>
          <p:cNvCxnSpPr>
            <a:stCxn id="49" idx="2"/>
            <a:endCxn id="41" idx="0"/>
          </p:cNvCxnSpPr>
          <p:nvPr/>
        </p:nvCxnSpPr>
        <p:spPr>
          <a:xfrm>
            <a:off x="10790716" y="2560727"/>
            <a:ext cx="3437" cy="3545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EDA7A809-3AA2-854B-FDA3-A73E361DBBF4}"/>
              </a:ext>
            </a:extLst>
          </p:cNvPr>
          <p:cNvCxnSpPr>
            <a:stCxn id="118" idx="3"/>
            <a:endCxn id="4" idx="1"/>
          </p:cNvCxnSpPr>
          <p:nvPr/>
        </p:nvCxnSpPr>
        <p:spPr>
          <a:xfrm flipV="1">
            <a:off x="1527026" y="1422633"/>
            <a:ext cx="562571" cy="107690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CB2A8FB-FC47-5A7F-2B54-8DFDB80C5127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2582040" y="1422633"/>
            <a:ext cx="4224121" cy="135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9158455-95DF-1AA3-F6EC-AED9A66E3C59}"/>
              </a:ext>
            </a:extLst>
          </p:cNvPr>
          <p:cNvCxnSpPr>
            <a:stCxn id="10" idx="3"/>
            <a:endCxn id="40" idx="1"/>
          </p:cNvCxnSpPr>
          <p:nvPr/>
        </p:nvCxnSpPr>
        <p:spPr>
          <a:xfrm flipV="1">
            <a:off x="8683598" y="1423291"/>
            <a:ext cx="888713" cy="128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4AA48AAC-F547-B9E6-7374-362C80EDBAE3}"/>
              </a:ext>
            </a:extLst>
          </p:cNvPr>
          <p:cNvSpPr/>
          <p:nvPr/>
        </p:nvSpPr>
        <p:spPr>
          <a:xfrm>
            <a:off x="205299" y="4680271"/>
            <a:ext cx="3657600" cy="1536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Berkeley Mono" pitchFamily="49" charset="77"/>
              </a:rPr>
              <a:t>Module-tests can accurately reproduce planning behaviors.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Berkeley Mono" pitchFamily="49" charset="77"/>
            </a:endParaRPr>
          </a:p>
          <a:p>
            <a:pPr algn="ctr"/>
            <a:r>
              <a:rPr lang="en-US" sz="2000" strike="sngStrike" dirty="0">
                <a:solidFill>
                  <a:schemeClr val="bg1">
                    <a:lumMod val="75000"/>
                  </a:schemeClr>
                </a:solidFill>
                <a:latin typeface="Berkeley Mono" pitchFamily="49" charset="77"/>
              </a:rPr>
              <a:t>0.005%</a:t>
            </a:r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 -&gt; 97.16%</a:t>
            </a:r>
            <a:br>
              <a:rPr lang="en-US" sz="2000" dirty="0">
                <a:solidFill>
                  <a:schemeClr val="tx1"/>
                </a:solidFill>
                <a:latin typeface="Berkeley Mono" pitchFamily="49" charset="77"/>
              </a:rPr>
            </a:br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Planning Reproduction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A78A4F5-1B44-B66E-A101-7D261D881C66}"/>
              </a:ext>
            </a:extLst>
          </p:cNvPr>
          <p:cNvSpPr/>
          <p:nvPr/>
        </p:nvSpPr>
        <p:spPr>
          <a:xfrm>
            <a:off x="205299" y="4280338"/>
            <a:ext cx="3657600" cy="402336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Realistic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C1D0526-1863-8DF6-4168-9021CABE2D0A}"/>
              </a:ext>
            </a:extLst>
          </p:cNvPr>
          <p:cNvSpPr/>
          <p:nvPr/>
        </p:nvSpPr>
        <p:spPr>
          <a:xfrm>
            <a:off x="4275554" y="4683665"/>
            <a:ext cx="3657600" cy="15339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Berkeley Mono" pitchFamily="49" charset="77"/>
              </a:rPr>
              <a:t>Module-tests yield predictable results when the module-under-test is deterministic.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Berkeley Mono" pitchFamily="49" charset="77"/>
            </a:endParaRPr>
          </a:p>
          <a:p>
            <a:pPr algn="ctr"/>
            <a:r>
              <a:rPr lang="en-US" sz="2000" strike="sngStrike" dirty="0">
                <a:solidFill>
                  <a:schemeClr val="bg1">
                    <a:lumMod val="75000"/>
                  </a:schemeClr>
                </a:solidFill>
                <a:latin typeface="Berkeley Mono" pitchFamily="49" charset="77"/>
              </a:rPr>
              <a:t>71.58%</a:t>
            </a:r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 -&gt; 100% </a:t>
            </a:r>
            <a:br>
              <a:rPr lang="en-US" sz="2000" dirty="0">
                <a:solidFill>
                  <a:schemeClr val="tx1"/>
                </a:solidFill>
                <a:latin typeface="Berkeley Mono" pitchFamily="49" charset="77"/>
              </a:rPr>
            </a:br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Failure Reproduction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6408320-97AF-0D71-F506-FDD45773A747}"/>
              </a:ext>
            </a:extLst>
          </p:cNvPr>
          <p:cNvSpPr/>
          <p:nvPr/>
        </p:nvSpPr>
        <p:spPr>
          <a:xfrm>
            <a:off x="4275554" y="4280338"/>
            <a:ext cx="3657600" cy="402336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Deterministic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07507FB-81A0-D13A-4359-32A115ADE1D1}"/>
              </a:ext>
            </a:extLst>
          </p:cNvPr>
          <p:cNvSpPr/>
          <p:nvPr/>
        </p:nvSpPr>
        <p:spPr>
          <a:xfrm>
            <a:off x="8348576" y="4686439"/>
            <a:ext cx="3657600" cy="1536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Berkeley Mono" pitchFamily="49" charset="77"/>
              </a:rPr>
              <a:t>Module-tests are faster to execute comparing to simulation.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Berkeley Mono" pitchFamily="49" charset="77"/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5.67% – 12.86%</a:t>
            </a:r>
            <a:br>
              <a:rPr lang="en-US" sz="2000" dirty="0">
                <a:solidFill>
                  <a:schemeClr val="tx1"/>
                </a:solidFill>
                <a:latin typeface="Berkeley Mono" pitchFamily="49" charset="77"/>
              </a:rPr>
            </a:br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Time Saving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1503E56-134E-C51E-FC14-408314C04099}"/>
              </a:ext>
            </a:extLst>
          </p:cNvPr>
          <p:cNvSpPr/>
          <p:nvPr/>
        </p:nvSpPr>
        <p:spPr>
          <a:xfrm>
            <a:off x="8348576" y="4280338"/>
            <a:ext cx="3657600" cy="402336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Efficient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782A998-D800-409C-CD1E-AF97C63EC0E3}"/>
              </a:ext>
            </a:extLst>
          </p:cNvPr>
          <p:cNvSpPr/>
          <p:nvPr/>
        </p:nvSpPr>
        <p:spPr>
          <a:xfrm>
            <a:off x="213546" y="3758549"/>
            <a:ext cx="6894390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Key Findings</a:t>
            </a:r>
          </a:p>
        </p:txBody>
      </p:sp>
    </p:spTree>
    <p:extLst>
      <p:ext uri="{BB962C8B-B14F-4D97-AF65-F5344CB8AC3E}">
        <p14:creationId xmlns:p14="http://schemas.microsoft.com/office/powerpoint/2010/main" val="3742624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7CC5C-280A-EA52-EB94-4EC45911B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EADD337-0910-3AEE-B45A-70DAD3D07D03}"/>
              </a:ext>
            </a:extLst>
          </p:cNvPr>
          <p:cNvSpPr/>
          <p:nvPr/>
        </p:nvSpPr>
        <p:spPr>
          <a:xfrm>
            <a:off x="0" y="443210"/>
            <a:ext cx="8311284" cy="64147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7D76B-9C11-2CC2-80AD-FAEAE752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56529"/>
          </a:xfrm>
        </p:spPr>
        <p:txBody>
          <a:bodyPr/>
          <a:lstStyle/>
          <a:p>
            <a:r>
              <a:rPr lang="en-US" dirty="0"/>
              <a:t>// DeFT In 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E2D586-59B4-7104-DDF5-01422934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48</a:t>
            </a:fld>
            <a:endParaRPr lang="en-US" dirty="0"/>
          </a:p>
        </p:txBody>
      </p:sp>
      <p:pic>
        <p:nvPicPr>
          <p:cNvPr id="10" name="Picture 9" descr="A screenshot of a game&#10;&#10;AI-generated content may be incorrect.">
            <a:extLst>
              <a:ext uri="{FF2B5EF4-FFF2-40B4-BE49-F238E27FC236}">
                <a16:creationId xmlns:a16="http://schemas.microsoft.com/office/drawing/2014/main" id="{4DC024BF-7FE0-B2FD-9F65-8DAABC7FE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301" y="1224555"/>
            <a:ext cx="1054188" cy="2006594"/>
          </a:xfrm>
          <a:prstGeom prst="rect">
            <a:avLst/>
          </a:prstGeom>
        </p:spPr>
      </p:pic>
      <p:pic>
        <p:nvPicPr>
          <p:cNvPr id="11" name="Picture 1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3EE82AF1-4DFF-D761-9F39-706CA7172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227" y="1222420"/>
            <a:ext cx="1055310" cy="2008729"/>
          </a:xfrm>
          <a:prstGeom prst="rect">
            <a:avLst/>
          </a:prstGeom>
        </p:spPr>
      </p:pic>
      <p:pic>
        <p:nvPicPr>
          <p:cNvPr id="12" name="Picture 11" descr="A screenshot of a game&#10;&#10;AI-generated content may be incorrect.">
            <a:extLst>
              <a:ext uri="{FF2B5EF4-FFF2-40B4-BE49-F238E27FC236}">
                <a16:creationId xmlns:a16="http://schemas.microsoft.com/office/drawing/2014/main" id="{9E17532C-BBF6-DB58-8660-27A2FFAE65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0680" y="1216765"/>
            <a:ext cx="1054188" cy="20065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BC61BF-6D61-A6C5-25B2-AD623F5AB4BA}"/>
              </a:ext>
            </a:extLst>
          </p:cNvPr>
          <p:cNvSpPr txBox="1"/>
          <p:nvPr/>
        </p:nvSpPr>
        <p:spPr>
          <a:xfrm>
            <a:off x="8382302" y="553682"/>
            <a:ext cx="3762568" cy="3231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Failing Test Executions (4/20)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0A5960-D947-4A2C-75D6-05C9164483A6}"/>
              </a:ext>
            </a:extLst>
          </p:cNvPr>
          <p:cNvSpPr txBox="1"/>
          <p:nvPr/>
        </p:nvSpPr>
        <p:spPr>
          <a:xfrm>
            <a:off x="9541416" y="2102134"/>
            <a:ext cx="133883" cy="249299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2ACC3E-A856-93C9-B63F-1E64EC45FD3F}"/>
              </a:ext>
            </a:extLst>
          </p:cNvPr>
          <p:cNvSpPr txBox="1"/>
          <p:nvPr/>
        </p:nvSpPr>
        <p:spPr>
          <a:xfrm>
            <a:off x="10896167" y="2102134"/>
            <a:ext cx="133883" cy="249299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  <a:ea typeface="Fira Code" pitchFamily="49" charset="0"/>
                <a:cs typeface="Fira Code" pitchFamily="49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B62AA3-75EF-96B6-38E9-A0CDB7090FDF}"/>
              </a:ext>
            </a:extLst>
          </p:cNvPr>
          <p:cNvSpPr txBox="1"/>
          <p:nvPr/>
        </p:nvSpPr>
        <p:spPr>
          <a:xfrm>
            <a:off x="8382301" y="890363"/>
            <a:ext cx="37625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F0000"/>
                </a:solidFill>
                <a:latin typeface="Berkeley Mono" pitchFamily="49" charset="77"/>
              </a:rPr>
              <a:t>AV</a:t>
            </a:r>
            <a:r>
              <a:rPr lang="en-US" sz="1500" dirty="0">
                <a:latin typeface="Berkeley Mono" pitchFamily="49" charset="77"/>
              </a:rPr>
              <a:t> Cuts off </a:t>
            </a:r>
            <a:r>
              <a:rPr lang="en-US" sz="1500" b="1" dirty="0">
                <a:solidFill>
                  <a:srgbClr val="00B050"/>
                </a:solidFill>
                <a:latin typeface="Berkeley Mono" pitchFamily="49" charset="77"/>
              </a:rPr>
              <a:t>another vehicle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746B36-139D-EBC4-FF5B-B1C18424FA34}"/>
              </a:ext>
            </a:extLst>
          </p:cNvPr>
          <p:cNvSpPr txBox="1"/>
          <p:nvPr/>
        </p:nvSpPr>
        <p:spPr>
          <a:xfrm>
            <a:off x="8382302" y="3455023"/>
            <a:ext cx="3762568" cy="323165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Passing Test Executions (16/20)</a:t>
            </a:r>
          </a:p>
        </p:txBody>
      </p:sp>
      <p:pic>
        <p:nvPicPr>
          <p:cNvPr id="19" name="Picture 18" descr="A screenshot of a game&#10;&#10;AI-generated content may be incorrect.">
            <a:extLst>
              <a:ext uri="{FF2B5EF4-FFF2-40B4-BE49-F238E27FC236}">
                <a16:creationId xmlns:a16="http://schemas.microsoft.com/office/drawing/2014/main" id="{67E3A985-EDC3-4C6E-8035-482DCD5168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4433" y="4353814"/>
            <a:ext cx="1052056" cy="2002536"/>
          </a:xfrm>
          <a:prstGeom prst="rect">
            <a:avLst/>
          </a:prstGeom>
        </p:spPr>
      </p:pic>
      <p:pic>
        <p:nvPicPr>
          <p:cNvPr id="20" name="Picture 19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4D98B5C-7736-A414-8DC9-C6B6C13856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0224" y="4353814"/>
            <a:ext cx="1052056" cy="2002536"/>
          </a:xfrm>
          <a:prstGeom prst="rect">
            <a:avLst/>
          </a:prstGeom>
        </p:spPr>
      </p:pic>
      <p:pic>
        <p:nvPicPr>
          <p:cNvPr id="21" name="Picture 20" descr="A screenshot of a game&#10;&#10;AI-generated content may be incorrect.">
            <a:extLst>
              <a:ext uri="{FF2B5EF4-FFF2-40B4-BE49-F238E27FC236}">
                <a16:creationId xmlns:a16="http://schemas.microsoft.com/office/drawing/2014/main" id="{62C99E90-4156-6324-635C-D104C30368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2812" y="4353814"/>
            <a:ext cx="1052056" cy="200253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7FCE04A-612C-A288-CF70-822C9F732CD5}"/>
              </a:ext>
            </a:extLst>
          </p:cNvPr>
          <p:cNvSpPr txBox="1"/>
          <p:nvPr/>
        </p:nvSpPr>
        <p:spPr>
          <a:xfrm>
            <a:off x="9541415" y="5158385"/>
            <a:ext cx="133883" cy="249299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F6A1CB-E1D0-75D9-8AEF-991B1C775DED}"/>
              </a:ext>
            </a:extLst>
          </p:cNvPr>
          <p:cNvSpPr txBox="1"/>
          <p:nvPr/>
        </p:nvSpPr>
        <p:spPr>
          <a:xfrm>
            <a:off x="10896167" y="5158385"/>
            <a:ext cx="133883" cy="249299"/>
          </a:xfrm>
          <a:prstGeom prst="rect">
            <a:avLst/>
          </a:prstGeom>
          <a:solidFill>
            <a:schemeClr val="tx1"/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Berkeley Mono" pitchFamily="49" charset="77"/>
              </a:rPr>
              <a:t>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CC9F9F-F363-AC3B-515A-F67675334902}"/>
              </a:ext>
            </a:extLst>
          </p:cNvPr>
          <p:cNvSpPr txBox="1"/>
          <p:nvPr/>
        </p:nvSpPr>
        <p:spPr>
          <a:xfrm>
            <a:off x="8382301" y="3783617"/>
            <a:ext cx="37625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  <a:latin typeface="Berkeley Mono" pitchFamily="49" charset="77"/>
              </a:rPr>
              <a:t>AV</a:t>
            </a:r>
            <a:r>
              <a:rPr lang="en-US" sz="1500" dirty="0">
                <a:latin typeface="Berkeley Mono" pitchFamily="49" charset="77"/>
              </a:rPr>
              <a:t> Returns to its original lane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62026-2F0A-8174-D19C-576FC84871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43210"/>
            <a:ext cx="8311284" cy="641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23874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5A6DB-99E9-6A89-BDFC-4F34A6E45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01B2-C5B7-F3DA-8856-9F760C138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DeFT In 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75CEB1-D48B-C2D2-B468-5CC10891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49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1072FD-118A-8151-91BD-5BC9E966C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473029"/>
            <a:ext cx="36576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48B7E3-7D8C-289F-972F-CC6818438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50" y="3476883"/>
            <a:ext cx="3657600" cy="2743200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168B756-EF88-3187-9248-28B058AE5537}"/>
              </a:ext>
            </a:extLst>
          </p:cNvPr>
          <p:cNvSpPr/>
          <p:nvPr/>
        </p:nvSpPr>
        <p:spPr>
          <a:xfrm>
            <a:off x="214161" y="1286300"/>
            <a:ext cx="3657600" cy="457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Test Specification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2D28DC5-F183-7719-7D1F-3F268BDBD452}"/>
              </a:ext>
            </a:extLst>
          </p:cNvPr>
          <p:cNvSpPr/>
          <p:nvPr/>
        </p:nvSpPr>
        <p:spPr>
          <a:xfrm>
            <a:off x="4282840" y="1286300"/>
            <a:ext cx="3657600" cy="457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Simulation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B20D1F-1B05-F201-E436-4E3518AF0902}"/>
              </a:ext>
            </a:extLst>
          </p:cNvPr>
          <p:cNvSpPr/>
          <p:nvPr/>
        </p:nvSpPr>
        <p:spPr>
          <a:xfrm>
            <a:off x="214161" y="717526"/>
            <a:ext cx="5539978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In the scenario-based test world ...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8823589-732C-5917-8E48-3A5EDD82F42A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3871761" y="1514900"/>
            <a:ext cx="4110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88A0D74-1A31-B620-4A57-C55087EF04FF}"/>
              </a:ext>
            </a:extLst>
          </p:cNvPr>
          <p:cNvSpPr txBox="1"/>
          <p:nvPr/>
        </p:nvSpPr>
        <p:spPr>
          <a:xfrm>
            <a:off x="8347704" y="1314845"/>
            <a:ext cx="3786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Hope for reproduction </a:t>
            </a:r>
            <a:r>
              <a:rPr lang="en-US" sz="2000" dirty="0">
                <a:latin typeface="Berkeley Mono" pitchFamily="49" charset="77"/>
                <a:sym typeface="Wingdings" pitchFamily="2" charset="2"/>
              </a:rPr>
              <a:t></a:t>
            </a:r>
            <a:endParaRPr lang="en-US" sz="2000" dirty="0">
              <a:latin typeface="Berkeley Mono" pitchFamily="49" charset="77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6615F72-8E79-4541-199B-CD692B38C7D4}"/>
              </a:ext>
            </a:extLst>
          </p:cNvPr>
          <p:cNvCxnSpPr>
            <a:stCxn id="32" idx="3"/>
            <a:endCxn id="39" idx="1"/>
          </p:cNvCxnSpPr>
          <p:nvPr/>
        </p:nvCxnSpPr>
        <p:spPr>
          <a:xfrm>
            <a:off x="7940440" y="1514900"/>
            <a:ext cx="4072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2643D30-EC83-46E8-BCFD-55E1216F1E49}"/>
              </a:ext>
            </a:extLst>
          </p:cNvPr>
          <p:cNvSpPr/>
          <p:nvPr/>
        </p:nvSpPr>
        <p:spPr>
          <a:xfrm>
            <a:off x="214161" y="2004497"/>
            <a:ext cx="3231654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In the DeFT world ...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BD88BB-022B-EE98-5D64-9E745403E732}"/>
              </a:ext>
            </a:extLst>
          </p:cNvPr>
          <p:cNvSpPr txBox="1"/>
          <p:nvPr/>
        </p:nvSpPr>
        <p:spPr>
          <a:xfrm>
            <a:off x="214161" y="2486758"/>
            <a:ext cx="3339376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Sequential Module-Level Frame-Based Tests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CCD376-8D44-3334-C1DC-C599ECEF4B8E}"/>
              </a:ext>
            </a:extLst>
          </p:cNvPr>
          <p:cNvSpPr txBox="1"/>
          <p:nvPr/>
        </p:nvSpPr>
        <p:spPr>
          <a:xfrm>
            <a:off x="214161" y="2736833"/>
            <a:ext cx="441146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1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3B2EF76-7907-56A6-A75C-4D2F2F28AC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162" t="27233" r="24832" b="30003"/>
          <a:stretch>
            <a:fillRect/>
          </a:stretch>
        </p:blipFill>
        <p:spPr>
          <a:xfrm>
            <a:off x="8317450" y="3473029"/>
            <a:ext cx="3657600" cy="27432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966114C8-5EB6-F4D9-9886-AA80F0BBD6A3}"/>
              </a:ext>
            </a:extLst>
          </p:cNvPr>
          <p:cNvSpPr txBox="1"/>
          <p:nvPr/>
        </p:nvSpPr>
        <p:spPr>
          <a:xfrm>
            <a:off x="655307" y="2736833"/>
            <a:ext cx="441146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48666D-2458-FFE0-A3D8-131608599286}"/>
              </a:ext>
            </a:extLst>
          </p:cNvPr>
          <p:cNvSpPr txBox="1"/>
          <p:nvPr/>
        </p:nvSpPr>
        <p:spPr>
          <a:xfrm>
            <a:off x="1096453" y="2736833"/>
            <a:ext cx="441146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DB5866-8BD3-E01B-3F3A-F853052C36EB}"/>
              </a:ext>
            </a:extLst>
          </p:cNvPr>
          <p:cNvSpPr txBox="1"/>
          <p:nvPr/>
        </p:nvSpPr>
        <p:spPr>
          <a:xfrm>
            <a:off x="1537599" y="2736833"/>
            <a:ext cx="441146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D4C64B-82ED-D3EC-7B61-6E9BE3C779B0}"/>
              </a:ext>
            </a:extLst>
          </p:cNvPr>
          <p:cNvSpPr txBox="1"/>
          <p:nvPr/>
        </p:nvSpPr>
        <p:spPr>
          <a:xfrm>
            <a:off x="1978745" y="2736833"/>
            <a:ext cx="441146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D60C90-E26A-27E4-7EE1-B54BEF227947}"/>
              </a:ext>
            </a:extLst>
          </p:cNvPr>
          <p:cNvSpPr txBox="1"/>
          <p:nvPr/>
        </p:nvSpPr>
        <p:spPr>
          <a:xfrm>
            <a:off x="2419891" y="2736833"/>
            <a:ext cx="441146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013C51-B828-FE41-E5BE-FB3D2173810F}"/>
              </a:ext>
            </a:extLst>
          </p:cNvPr>
          <p:cNvSpPr txBox="1"/>
          <p:nvPr/>
        </p:nvSpPr>
        <p:spPr>
          <a:xfrm>
            <a:off x="2861037" y="2736833"/>
            <a:ext cx="441146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522B78-496E-2FEB-AA83-7A11E6E487A9}"/>
              </a:ext>
            </a:extLst>
          </p:cNvPr>
          <p:cNvSpPr txBox="1"/>
          <p:nvPr/>
        </p:nvSpPr>
        <p:spPr>
          <a:xfrm>
            <a:off x="3302183" y="2736833"/>
            <a:ext cx="441146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7AF8FA-55CE-DADB-6CD1-FD4B2927B5BD}"/>
              </a:ext>
            </a:extLst>
          </p:cNvPr>
          <p:cNvSpPr txBox="1"/>
          <p:nvPr/>
        </p:nvSpPr>
        <p:spPr>
          <a:xfrm>
            <a:off x="3743329" y="2736833"/>
            <a:ext cx="441146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9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C6B87752-C6C9-962D-CA1C-5894B5E9C5B9}"/>
              </a:ext>
            </a:extLst>
          </p:cNvPr>
          <p:cNvSpPr txBox="1"/>
          <p:nvPr/>
        </p:nvSpPr>
        <p:spPr>
          <a:xfrm>
            <a:off x="4184475" y="2736833"/>
            <a:ext cx="543739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10</a:t>
            </a: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527FA467-A404-6A2C-0F8E-C1DE644552DA}"/>
              </a:ext>
            </a:extLst>
          </p:cNvPr>
          <p:cNvSpPr txBox="1"/>
          <p:nvPr/>
        </p:nvSpPr>
        <p:spPr>
          <a:xfrm>
            <a:off x="4728214" y="2736833"/>
            <a:ext cx="543739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11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923814B-FFD1-70C4-A2D8-632C07D2C67C}"/>
              </a:ext>
            </a:extLst>
          </p:cNvPr>
          <p:cNvSpPr txBox="1"/>
          <p:nvPr/>
        </p:nvSpPr>
        <p:spPr>
          <a:xfrm>
            <a:off x="5271953" y="2736833"/>
            <a:ext cx="646331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...</a:t>
            </a:r>
            <a:endParaRPr lang="en-US" sz="2000" baseline="-25000" dirty="0">
              <a:latin typeface="Berkeley Mono" pitchFamily="49" charset="77"/>
            </a:endParaRP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DD5B1628-4954-7066-2DE2-58E003C02D65}"/>
              </a:ext>
            </a:extLst>
          </p:cNvPr>
          <p:cNvSpPr txBox="1"/>
          <p:nvPr/>
        </p:nvSpPr>
        <p:spPr>
          <a:xfrm>
            <a:off x="5918284" y="2736833"/>
            <a:ext cx="543739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70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88980B43-F28D-4254-15F4-B8FC4A99F2BA}"/>
              </a:ext>
            </a:extLst>
          </p:cNvPr>
          <p:cNvSpPr txBox="1"/>
          <p:nvPr/>
        </p:nvSpPr>
        <p:spPr>
          <a:xfrm>
            <a:off x="6462023" y="2736833"/>
            <a:ext cx="646331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...</a:t>
            </a:r>
            <a:endParaRPr lang="en-US" sz="2000" baseline="-25000" dirty="0">
              <a:latin typeface="Berkeley Mono" pitchFamily="49" charset="77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75B04950-5A09-5A56-0CAE-672EB6CDAC14}"/>
              </a:ext>
            </a:extLst>
          </p:cNvPr>
          <p:cNvSpPr txBox="1"/>
          <p:nvPr/>
        </p:nvSpPr>
        <p:spPr>
          <a:xfrm>
            <a:off x="7108343" y="2736833"/>
            <a:ext cx="646331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294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C5FE75C9-3712-E0C6-47F5-D3308A5ECA4D}"/>
              </a:ext>
            </a:extLst>
          </p:cNvPr>
          <p:cNvSpPr txBox="1"/>
          <p:nvPr/>
        </p:nvSpPr>
        <p:spPr>
          <a:xfrm>
            <a:off x="7754663" y="2736833"/>
            <a:ext cx="646331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295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19996714-02DD-E092-0330-7CD19415C216}"/>
              </a:ext>
            </a:extLst>
          </p:cNvPr>
          <p:cNvSpPr txBox="1"/>
          <p:nvPr/>
        </p:nvSpPr>
        <p:spPr>
          <a:xfrm>
            <a:off x="8397684" y="2736833"/>
            <a:ext cx="646331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296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43CCE449-3281-6F56-29BC-5ACF4FCC518B}"/>
              </a:ext>
            </a:extLst>
          </p:cNvPr>
          <p:cNvSpPr txBox="1"/>
          <p:nvPr/>
        </p:nvSpPr>
        <p:spPr>
          <a:xfrm>
            <a:off x="9044004" y="2736833"/>
            <a:ext cx="646331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297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A39A851-512C-69E5-BF11-B943E0A3B193}"/>
              </a:ext>
            </a:extLst>
          </p:cNvPr>
          <p:cNvSpPr txBox="1"/>
          <p:nvPr/>
        </p:nvSpPr>
        <p:spPr>
          <a:xfrm>
            <a:off x="9687014" y="2736833"/>
            <a:ext cx="646331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298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A31B6875-A272-8D88-83CB-26DA6D63D6F1}"/>
              </a:ext>
            </a:extLst>
          </p:cNvPr>
          <p:cNvSpPr txBox="1"/>
          <p:nvPr/>
        </p:nvSpPr>
        <p:spPr>
          <a:xfrm>
            <a:off x="10333334" y="2736833"/>
            <a:ext cx="646331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299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7F28E956-4DA6-B215-B56D-33A091D01921}"/>
              </a:ext>
            </a:extLst>
          </p:cNvPr>
          <p:cNvSpPr txBox="1"/>
          <p:nvPr/>
        </p:nvSpPr>
        <p:spPr>
          <a:xfrm>
            <a:off x="10976355" y="2736833"/>
            <a:ext cx="646331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F</a:t>
            </a:r>
            <a:r>
              <a:rPr lang="en-US" sz="2000" baseline="-25000" dirty="0">
                <a:latin typeface="Berkeley Mono" pitchFamily="49" charset="77"/>
              </a:rPr>
              <a:t>300</a:t>
            </a:r>
          </a:p>
        </p:txBody>
      </p:sp>
      <p:cxnSp>
        <p:nvCxnSpPr>
          <p:cNvPr id="1049" name="Elbow Connector 1048">
            <a:extLst>
              <a:ext uri="{FF2B5EF4-FFF2-40B4-BE49-F238E27FC236}">
                <a16:creationId xmlns:a16="http://schemas.microsoft.com/office/drawing/2014/main" id="{76E7F9D6-E712-E84A-187D-E171CF0173E3}"/>
              </a:ext>
            </a:extLst>
          </p:cNvPr>
          <p:cNvCxnSpPr>
            <a:stCxn id="1038" idx="2"/>
            <a:endCxn id="4" idx="0"/>
          </p:cNvCxnSpPr>
          <p:nvPr/>
        </p:nvCxnSpPr>
        <p:spPr>
          <a:xfrm rot="5400000">
            <a:off x="3947982" y="1234711"/>
            <a:ext cx="339940" cy="414440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4" name="TextBox 1053">
            <a:extLst>
              <a:ext uri="{FF2B5EF4-FFF2-40B4-BE49-F238E27FC236}">
                <a16:creationId xmlns:a16="http://schemas.microsoft.com/office/drawing/2014/main" id="{B071733F-5205-6B20-B4D7-46C327AB2A34}"/>
              </a:ext>
            </a:extLst>
          </p:cNvPr>
          <p:cNvSpPr txBox="1"/>
          <p:nvPr/>
        </p:nvSpPr>
        <p:spPr>
          <a:xfrm>
            <a:off x="214161" y="6216229"/>
            <a:ext cx="253915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Visualization of the frame input.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588A8AA4-39F3-C08B-5658-4FDAFCF5D83E}"/>
              </a:ext>
            </a:extLst>
          </p:cNvPr>
          <p:cNvSpPr txBox="1"/>
          <p:nvPr/>
        </p:nvSpPr>
        <p:spPr>
          <a:xfrm>
            <a:off x="4265805" y="6216229"/>
            <a:ext cx="338554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Visualization of the faulty </a:t>
            </a:r>
            <a:r>
              <a:rPr lang="en-US" sz="1000" b="1" dirty="0">
                <a:solidFill>
                  <a:srgbClr val="FF0000"/>
                </a:solidFill>
                <a:latin typeface="Berkeley Mono" pitchFamily="49" charset="77"/>
              </a:rPr>
              <a:t>planning output</a:t>
            </a:r>
            <a:r>
              <a:rPr lang="en-US" sz="1000" b="1" dirty="0">
                <a:latin typeface="Berkeley Mono" pitchFamily="49" charset="77"/>
              </a:rPr>
              <a:t>.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296EE4E-5556-87EE-8768-57F8D228D455}"/>
              </a:ext>
            </a:extLst>
          </p:cNvPr>
          <p:cNvSpPr txBox="1"/>
          <p:nvPr/>
        </p:nvSpPr>
        <p:spPr>
          <a:xfrm>
            <a:off x="8317450" y="6216229"/>
            <a:ext cx="284693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Known collision from the system-test.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6C37526A-0B7E-EFE1-FA76-A7A57A9168A4}"/>
              </a:ext>
            </a:extLst>
          </p:cNvPr>
          <p:cNvSpPr txBox="1"/>
          <p:nvPr/>
        </p:nvSpPr>
        <p:spPr>
          <a:xfrm>
            <a:off x="4265805" y="6370117"/>
            <a:ext cx="1231106" cy="153888"/>
          </a:xfrm>
          <a:prstGeom prst="rect">
            <a:avLst/>
          </a:prstGeom>
          <a:solidFill>
            <a:schemeClr val="accent3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 DETERMINISTIC! </a:t>
            </a:r>
            <a:endParaRPr lang="en-US" sz="1000" b="1" dirty="0">
              <a:solidFill>
                <a:schemeClr val="bg1"/>
              </a:solidFill>
              <a:latin typeface="Berkeley Mono" pitchFamily="49" charset="77"/>
            </a:endParaRPr>
          </a:p>
        </p:txBody>
      </p:sp>
      <p:cxnSp>
        <p:nvCxnSpPr>
          <p:cNvPr id="1059" name="Straight Arrow Connector 1058">
            <a:extLst>
              <a:ext uri="{FF2B5EF4-FFF2-40B4-BE49-F238E27FC236}">
                <a16:creationId xmlns:a16="http://schemas.microsoft.com/office/drawing/2014/main" id="{FCFB150E-EACF-B3E1-4AAC-DF0FDE2A7011}"/>
              </a:ext>
            </a:extLst>
          </p:cNvPr>
          <p:cNvCxnSpPr>
            <a:stCxn id="4" idx="3"/>
            <a:endCxn id="1026" idx="1"/>
          </p:cNvCxnSpPr>
          <p:nvPr/>
        </p:nvCxnSpPr>
        <p:spPr>
          <a:xfrm flipV="1">
            <a:off x="3874550" y="4844629"/>
            <a:ext cx="392650" cy="38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969AECE1-37DE-5A73-D1DA-1231BCAEB723}"/>
              </a:ext>
            </a:extLst>
          </p:cNvPr>
          <p:cNvCxnSpPr>
            <a:stCxn id="1026" idx="3"/>
            <a:endCxn id="55" idx="1"/>
          </p:cNvCxnSpPr>
          <p:nvPr/>
        </p:nvCxnSpPr>
        <p:spPr>
          <a:xfrm>
            <a:off x="7924800" y="4844629"/>
            <a:ext cx="3926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TextBox 1061">
            <a:extLst>
              <a:ext uri="{FF2B5EF4-FFF2-40B4-BE49-F238E27FC236}">
                <a16:creationId xmlns:a16="http://schemas.microsoft.com/office/drawing/2014/main" id="{71E25343-B11C-9DF8-3DD2-CEEC8FAC1B8F}"/>
              </a:ext>
            </a:extLst>
          </p:cNvPr>
          <p:cNvSpPr txBox="1"/>
          <p:nvPr/>
        </p:nvSpPr>
        <p:spPr>
          <a:xfrm>
            <a:off x="3553537" y="2486758"/>
            <a:ext cx="2877711" cy="24622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rkeley Mono" pitchFamily="49" charset="77"/>
              </a:rPr>
              <a:t>Sets of Inputs and Expected Outputs</a:t>
            </a:r>
          </a:p>
        </p:txBody>
      </p:sp>
      <p:cxnSp>
        <p:nvCxnSpPr>
          <p:cNvPr id="1068" name="Elbow Connector 1067">
            <a:extLst>
              <a:ext uri="{FF2B5EF4-FFF2-40B4-BE49-F238E27FC236}">
                <a16:creationId xmlns:a16="http://schemas.microsoft.com/office/drawing/2014/main" id="{7C53CD77-32A7-8793-5AD1-D211BE3F70AB}"/>
              </a:ext>
            </a:extLst>
          </p:cNvPr>
          <p:cNvCxnSpPr>
            <a:cxnSpLocks/>
            <a:stCxn id="32" idx="2"/>
            <a:endCxn id="1062" idx="3"/>
          </p:cNvCxnSpPr>
          <p:nvPr/>
        </p:nvCxnSpPr>
        <p:spPr>
          <a:xfrm rot="16200000" flipH="1">
            <a:off x="5838260" y="2016880"/>
            <a:ext cx="866369" cy="319608"/>
          </a:xfrm>
          <a:prstGeom prst="bentConnector4">
            <a:avLst>
              <a:gd name="adj1" fmla="val 42895"/>
              <a:gd name="adj2" fmla="val 6437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629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9" grpId="0"/>
      <p:bldP spid="42" grpId="0"/>
      <p:bldP spid="43" grpId="0" animBg="1"/>
      <p:bldP spid="46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1024" grpId="0" animBg="1"/>
      <p:bldP spid="1036" grpId="0" animBg="1"/>
      <p:bldP spid="1037" grpId="0" animBg="1"/>
      <p:bldP spid="1038" grpId="0" animBg="1"/>
      <p:bldP spid="1039" grpId="0" animBg="1"/>
      <p:bldP spid="1040" grpId="0" animBg="1"/>
      <p:bldP spid="1041" grpId="0" animBg="1"/>
      <p:bldP spid="1042" grpId="0" animBg="1"/>
      <p:bldP spid="1043" grpId="0" animBg="1"/>
      <p:bldP spid="1044" grpId="0" animBg="1"/>
      <p:bldP spid="1045" grpId="0" animBg="1"/>
      <p:bldP spid="1046" grpId="0" animBg="1"/>
      <p:bldP spid="1054" grpId="0"/>
      <p:bldP spid="1055" grpId="0"/>
      <p:bldP spid="1056" grpId="0"/>
      <p:bldP spid="1057" grpId="0" animBg="1"/>
      <p:bldP spid="106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3C1F-FBC6-32C5-1399-11C79DD69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>
            <a:extLst>
              <a:ext uri="{FF2B5EF4-FFF2-40B4-BE49-F238E27FC236}">
                <a16:creationId xmlns:a16="http://schemas.microsoft.com/office/drawing/2014/main" id="{80E1FDBA-A4C6-3253-A2F0-5EFF49EED228}"/>
              </a:ext>
            </a:extLst>
          </p:cNvPr>
          <p:cNvSpPr/>
          <p:nvPr/>
        </p:nvSpPr>
        <p:spPr>
          <a:xfrm>
            <a:off x="5762909" y="5586647"/>
            <a:ext cx="4744464" cy="76583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6CF43-DB67-294A-4067-271B639A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76AC08-93E6-CA66-E15A-C850D149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55C4-D458-A544-894F-A9CF0821323A}" type="slidenum">
              <a:rPr lang="en-US" smtClean="0"/>
              <a:t>50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BCC6A05-6E9F-3A16-5A23-149AD7083F69}"/>
              </a:ext>
            </a:extLst>
          </p:cNvPr>
          <p:cNvSpPr/>
          <p:nvPr/>
        </p:nvSpPr>
        <p:spPr>
          <a:xfrm>
            <a:off x="226604" y="960728"/>
            <a:ext cx="3653926" cy="457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Test Specification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43C22F-EE3F-97CC-BEAE-BA10D83CC09F}"/>
              </a:ext>
            </a:extLst>
          </p:cNvPr>
          <p:cNvSpPr/>
          <p:nvPr/>
        </p:nvSpPr>
        <p:spPr>
          <a:xfrm>
            <a:off x="4291679" y="961278"/>
            <a:ext cx="3660490" cy="457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erkeley Mono" pitchFamily="49" charset="77"/>
              </a:rPr>
              <a:t>Simulation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98F232-7E5C-8157-FB24-889FB29026F6}"/>
              </a:ext>
            </a:extLst>
          </p:cNvPr>
          <p:cNvSpPr/>
          <p:nvPr/>
        </p:nvSpPr>
        <p:spPr>
          <a:xfrm>
            <a:off x="222929" y="584609"/>
            <a:ext cx="3755836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Scenario-based Testing </a:t>
            </a:r>
            <a:r>
              <a:rPr lang="en-US" sz="2000" dirty="0">
                <a:solidFill>
                  <a:schemeClr val="tx1"/>
                </a:solidFill>
                <a:latin typeface="Berkeley Mono" pitchFamily="49" charset="77"/>
                <a:sym typeface="Wingdings" pitchFamily="2" charset="2"/>
              </a:rPr>
              <a:t></a:t>
            </a:r>
            <a:endParaRPr lang="en-US" sz="2000" dirty="0">
              <a:solidFill>
                <a:schemeClr val="tx1"/>
              </a:solidFill>
              <a:latin typeface="Berkeley Mono" pitchFamily="49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1765EE-CD58-B080-36A1-28E5582235CE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3880530" y="1189328"/>
            <a:ext cx="411149" cy="5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5BB5AD7-2A24-406C-2CB6-DCE368DD91E0}"/>
              </a:ext>
            </a:extLst>
          </p:cNvPr>
          <p:cNvSpPr txBox="1"/>
          <p:nvPr/>
        </p:nvSpPr>
        <p:spPr>
          <a:xfrm>
            <a:off x="8361073" y="956156"/>
            <a:ext cx="366049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Berkeley Mono" pitchFamily="49" charset="77"/>
              </a:rPr>
              <a:t>One observation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31E2B4-49FE-CD1F-5846-8101F6C11C53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 flipV="1">
            <a:off x="7952169" y="1184756"/>
            <a:ext cx="408904" cy="51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278EEDD-BE11-2266-1C2A-98DAE8ABD543}"/>
              </a:ext>
            </a:extLst>
          </p:cNvPr>
          <p:cNvSpPr txBox="1"/>
          <p:nvPr/>
        </p:nvSpPr>
        <p:spPr>
          <a:xfrm rot="396665">
            <a:off x="10649375" y="916098"/>
            <a:ext cx="1538883" cy="153888"/>
          </a:xfrm>
          <a:prstGeom prst="rect">
            <a:avLst/>
          </a:prstGeom>
          <a:solidFill>
            <a:schemeClr val="accent2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Berkeley Mono" pitchFamily="49" charset="77"/>
              </a:rPr>
              <a:t> Non-Deterministic!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98312C-D0A7-B505-26BD-3D9DFE14DF23}"/>
              </a:ext>
            </a:extLst>
          </p:cNvPr>
          <p:cNvSpPr/>
          <p:nvPr/>
        </p:nvSpPr>
        <p:spPr>
          <a:xfrm>
            <a:off x="222929" y="1558424"/>
            <a:ext cx="5539978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Berkeley Mono" pitchFamily="49" charset="77"/>
              </a:rPr>
              <a:t>Deterministic Frame-based Testing </a:t>
            </a:r>
            <a:r>
              <a:rPr lang="en-US" sz="2000" dirty="0">
                <a:solidFill>
                  <a:schemeClr val="tx1"/>
                </a:solidFill>
                <a:latin typeface="Berkeley Mono" pitchFamily="49" charset="77"/>
                <a:sym typeface="Wingdings" pitchFamily="2" charset="2"/>
              </a:rPr>
              <a:t></a:t>
            </a:r>
            <a:endParaRPr lang="en-US" sz="2000" dirty="0">
              <a:solidFill>
                <a:schemeClr val="tx1"/>
              </a:solidFill>
              <a:latin typeface="Berkeley Mono" pitchFamily="49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B9562B-F0F9-2BCF-4972-8BABAD57FA40}"/>
              </a:ext>
            </a:extLst>
          </p:cNvPr>
          <p:cNvSpPr txBox="1"/>
          <p:nvPr/>
        </p:nvSpPr>
        <p:spPr>
          <a:xfrm>
            <a:off x="223250" y="2004436"/>
            <a:ext cx="3339376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Sequential Module—Level Frame-Based Tests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62DED13-F3C5-2156-9679-6F3330E24FA5}"/>
              </a:ext>
            </a:extLst>
          </p:cNvPr>
          <p:cNvGrpSpPr/>
          <p:nvPr/>
        </p:nvGrpSpPr>
        <p:grpSpPr>
          <a:xfrm>
            <a:off x="3161229" y="2257914"/>
            <a:ext cx="2934624" cy="338536"/>
            <a:chOff x="5518806" y="4889731"/>
            <a:chExt cx="2934624" cy="338536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38674F6-7A06-B9C9-272F-09EE023F82E0}"/>
                </a:ext>
              </a:extLst>
            </p:cNvPr>
            <p:cNvSpPr/>
            <p:nvPr/>
          </p:nvSpPr>
          <p:spPr>
            <a:xfrm>
              <a:off x="6240776" y="4889732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B23B1CBA-F683-965C-8C6E-830B83028C8E}"/>
                </a:ext>
              </a:extLst>
            </p:cNvPr>
            <p:cNvSpPr/>
            <p:nvPr/>
          </p:nvSpPr>
          <p:spPr>
            <a:xfrm>
              <a:off x="6718089" y="4944699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288C9312-1D53-F1D3-AAAB-828474862660}"/>
                </a:ext>
              </a:extLst>
            </p:cNvPr>
            <p:cNvSpPr/>
            <p:nvPr/>
          </p:nvSpPr>
          <p:spPr>
            <a:xfrm>
              <a:off x="7152681" y="4944699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EEAFCA77-C85C-C62B-384B-D422C0CA4967}"/>
                </a:ext>
              </a:extLst>
            </p:cNvPr>
            <p:cNvSpPr/>
            <p:nvPr/>
          </p:nvSpPr>
          <p:spPr>
            <a:xfrm>
              <a:off x="7587274" y="4944699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4AE2B7E0-7346-2E7C-56F9-29A442314EDD}"/>
                </a:ext>
              </a:extLst>
            </p:cNvPr>
            <p:cNvSpPr/>
            <p:nvPr/>
          </p:nvSpPr>
          <p:spPr>
            <a:xfrm>
              <a:off x="6283497" y="4944699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6F85269A-4E34-D431-A333-F2864C8B5241}"/>
                </a:ext>
              </a:extLst>
            </p:cNvPr>
            <p:cNvSpPr/>
            <p:nvPr/>
          </p:nvSpPr>
          <p:spPr>
            <a:xfrm>
              <a:off x="8036566" y="4944699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2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3AF2337-9AF4-7DCA-DB04-F0EDFF002A34}"/>
                </a:ext>
              </a:extLst>
            </p:cNvPr>
            <p:cNvSpPr/>
            <p:nvPr/>
          </p:nvSpPr>
          <p:spPr>
            <a:xfrm>
              <a:off x="7996817" y="4889731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99EF5F4-F34C-F9A6-D2BE-2DD3292D3DD1}"/>
                </a:ext>
              </a:extLst>
            </p:cNvPr>
            <p:cNvSpPr/>
            <p:nvPr/>
          </p:nvSpPr>
          <p:spPr>
            <a:xfrm>
              <a:off x="5518806" y="4889731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2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7D9C03E-60D5-F825-8A6B-8F1AE8BE3A44}"/>
              </a:ext>
            </a:extLst>
          </p:cNvPr>
          <p:cNvGrpSpPr/>
          <p:nvPr/>
        </p:nvGrpSpPr>
        <p:grpSpPr>
          <a:xfrm>
            <a:off x="6099208" y="2257914"/>
            <a:ext cx="2934624" cy="338536"/>
            <a:chOff x="8554005" y="4889731"/>
            <a:chExt cx="2934624" cy="33853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C428F19-F6B2-BDFF-2E62-5D7A25F24BD2}"/>
                </a:ext>
              </a:extLst>
            </p:cNvPr>
            <p:cNvSpPr/>
            <p:nvPr/>
          </p:nvSpPr>
          <p:spPr>
            <a:xfrm>
              <a:off x="9275975" y="4889732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09052211-6E7C-5E92-0E76-4277040EFE9F}"/>
                </a:ext>
              </a:extLst>
            </p:cNvPr>
            <p:cNvSpPr/>
            <p:nvPr/>
          </p:nvSpPr>
          <p:spPr>
            <a:xfrm>
              <a:off x="9753288" y="4944699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6EA699F3-D70D-D3E5-CBD9-9C0B823682D8}"/>
                </a:ext>
              </a:extLst>
            </p:cNvPr>
            <p:cNvSpPr/>
            <p:nvPr/>
          </p:nvSpPr>
          <p:spPr>
            <a:xfrm>
              <a:off x="10187880" y="4944699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ED2D41C8-325B-7FD6-066F-7607BB0B8342}"/>
                </a:ext>
              </a:extLst>
            </p:cNvPr>
            <p:cNvSpPr/>
            <p:nvPr/>
          </p:nvSpPr>
          <p:spPr>
            <a:xfrm>
              <a:off x="10622473" y="4944699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9E23DCAC-89A0-9CA9-8E51-4FBAB70A1F80}"/>
                </a:ext>
              </a:extLst>
            </p:cNvPr>
            <p:cNvSpPr/>
            <p:nvPr/>
          </p:nvSpPr>
          <p:spPr>
            <a:xfrm>
              <a:off x="9318696" y="4944699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A803B17C-F390-E4F4-7F12-906346CF9764}"/>
                </a:ext>
              </a:extLst>
            </p:cNvPr>
            <p:cNvSpPr/>
            <p:nvPr/>
          </p:nvSpPr>
          <p:spPr>
            <a:xfrm>
              <a:off x="11071765" y="4944699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3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231E990-24C7-6D9E-4818-B5194E279056}"/>
                </a:ext>
              </a:extLst>
            </p:cNvPr>
            <p:cNvSpPr/>
            <p:nvPr/>
          </p:nvSpPr>
          <p:spPr>
            <a:xfrm>
              <a:off x="11032016" y="4889731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A5CE7A7-B202-7E8F-EA3C-E4D960DBB242}"/>
                </a:ext>
              </a:extLst>
            </p:cNvPr>
            <p:cNvSpPr/>
            <p:nvPr/>
          </p:nvSpPr>
          <p:spPr>
            <a:xfrm>
              <a:off x="8554005" y="4889731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3</a:t>
              </a: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80E9C0AF-2DEB-E916-C5B9-91CA9279B8BC}"/>
              </a:ext>
            </a:extLst>
          </p:cNvPr>
          <p:cNvSpPr/>
          <p:nvPr/>
        </p:nvSpPr>
        <p:spPr>
          <a:xfrm>
            <a:off x="9033832" y="2257914"/>
            <a:ext cx="2268430" cy="3385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Berkeley Mono" pitchFamily="49" charset="77"/>
              </a:rPr>
              <a:t>...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CBC26CE-87F1-66AB-5EF9-B1263E1FE891}"/>
              </a:ext>
            </a:extLst>
          </p:cNvPr>
          <p:cNvSpPr/>
          <p:nvPr/>
        </p:nvSpPr>
        <p:spPr>
          <a:xfrm>
            <a:off x="11302262" y="2258755"/>
            <a:ext cx="719302" cy="3385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Berkeley Mono" pitchFamily="49" charset="77"/>
              </a:rPr>
              <a:t>Frame N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CA8CB36E-AC1E-0B82-D771-85BF3DC81D42}"/>
              </a:ext>
            </a:extLst>
          </p:cNvPr>
          <p:cNvCxnSpPr>
            <a:cxnSpLocks/>
            <a:stCxn id="13" idx="2"/>
            <a:endCxn id="25" idx="3"/>
          </p:cNvCxnSpPr>
          <p:nvPr/>
        </p:nvCxnSpPr>
        <p:spPr>
          <a:xfrm rot="5400000">
            <a:off x="4487741" y="493363"/>
            <a:ext cx="709069" cy="255929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EB2A2D7-D1A1-09D9-EB4F-F058F4EE836A}"/>
              </a:ext>
            </a:extLst>
          </p:cNvPr>
          <p:cNvGrpSpPr/>
          <p:nvPr/>
        </p:nvGrpSpPr>
        <p:grpSpPr>
          <a:xfrm>
            <a:off x="223250" y="2257914"/>
            <a:ext cx="2934624" cy="338536"/>
            <a:chOff x="2486275" y="4894546"/>
            <a:chExt cx="2934624" cy="338536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5E26D5C-41EA-9030-3F62-FBEC7F701FB4}"/>
                </a:ext>
              </a:extLst>
            </p:cNvPr>
            <p:cNvSpPr/>
            <p:nvPr/>
          </p:nvSpPr>
          <p:spPr>
            <a:xfrm>
              <a:off x="3208245" y="4894547"/>
              <a:ext cx="1757244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1B7D43FD-1985-88EF-2FD5-C586293EE5BE}"/>
                </a:ext>
              </a:extLst>
            </p:cNvPr>
            <p:cNvSpPr/>
            <p:nvPr/>
          </p:nvSpPr>
          <p:spPr>
            <a:xfrm>
              <a:off x="3685558" y="4949514"/>
              <a:ext cx="365760" cy="2286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ADB76414-E2C2-F642-E40C-EAEF30018E81}"/>
                </a:ext>
              </a:extLst>
            </p:cNvPr>
            <p:cNvSpPr/>
            <p:nvPr/>
          </p:nvSpPr>
          <p:spPr>
            <a:xfrm>
              <a:off x="4120150" y="4949514"/>
              <a:ext cx="365760" cy="228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11100401-0027-232E-BE1A-A8E1215000ED}"/>
                </a:ext>
              </a:extLst>
            </p:cNvPr>
            <p:cNvSpPr/>
            <p:nvPr/>
          </p:nvSpPr>
          <p:spPr>
            <a:xfrm>
              <a:off x="4554743" y="4949514"/>
              <a:ext cx="365760" cy="228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5F3943BA-4028-CBB7-7C70-A5A94188CF07}"/>
                </a:ext>
              </a:extLst>
            </p:cNvPr>
            <p:cNvSpPr/>
            <p:nvPr/>
          </p:nvSpPr>
          <p:spPr>
            <a:xfrm>
              <a:off x="3250966" y="4949514"/>
              <a:ext cx="365760" cy="2286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m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9072D29B-3D12-3833-404A-75A0B49251C1}"/>
                </a:ext>
              </a:extLst>
            </p:cNvPr>
            <p:cNvSpPr/>
            <p:nvPr/>
          </p:nvSpPr>
          <p:spPr>
            <a:xfrm>
              <a:off x="5004035" y="4949514"/>
              <a:ext cx="365760" cy="2286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Berkeley Mono" pitchFamily="49" charset="77"/>
                </a:rPr>
                <a:t>P</a:t>
              </a:r>
              <a:r>
                <a:rPr lang="en-US" sz="1000" baseline="30000" dirty="0">
                  <a:latin typeface="Berkeley Mono" pitchFamily="49" charset="77"/>
                </a:rPr>
                <a:t>1</a:t>
              </a:r>
              <a:endParaRPr lang="en-US" sz="1000" dirty="0">
                <a:latin typeface="Berkeley Mono" pitchFamily="49" charset="77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FA78E0F-B471-0E2E-4F65-6EAB4538DDF1}"/>
                </a:ext>
              </a:extLst>
            </p:cNvPr>
            <p:cNvSpPr/>
            <p:nvPr/>
          </p:nvSpPr>
          <p:spPr>
            <a:xfrm>
              <a:off x="4964286" y="4894546"/>
              <a:ext cx="456613" cy="33853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F165DDA-2A1E-1B98-2CD0-0BCDAA8B98A0}"/>
                </a:ext>
              </a:extLst>
            </p:cNvPr>
            <p:cNvSpPr/>
            <p:nvPr/>
          </p:nvSpPr>
          <p:spPr>
            <a:xfrm>
              <a:off x="2486275" y="4894546"/>
              <a:ext cx="719302" cy="3385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Frame 1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F48E8118-245A-D7E7-95C2-93B3FE6BF4C5}"/>
              </a:ext>
            </a:extLst>
          </p:cNvPr>
          <p:cNvSpPr txBox="1"/>
          <p:nvPr/>
        </p:nvSpPr>
        <p:spPr>
          <a:xfrm>
            <a:off x="222930" y="4598741"/>
            <a:ext cx="11798633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Key Points // DeFT turns flaky system-level tests into deterministic, reproducible module-level tests.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9F3DCD5-BD8F-AA8D-3F14-BE234605F7C9}"/>
              </a:ext>
            </a:extLst>
          </p:cNvPr>
          <p:cNvSpPr txBox="1"/>
          <p:nvPr/>
        </p:nvSpPr>
        <p:spPr>
          <a:xfrm>
            <a:off x="222929" y="4844962"/>
            <a:ext cx="11798633" cy="7386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erkeley Mono" pitchFamily="49" charset="77"/>
              </a:rPr>
              <a:t>* </a:t>
            </a:r>
            <a:r>
              <a:rPr lang="en-US" sz="1400" b="1" dirty="0">
                <a:solidFill>
                  <a:srgbClr val="C00000"/>
                </a:solidFill>
                <a:latin typeface="Berkeley Mono" pitchFamily="49" charset="77"/>
              </a:rPr>
              <a:t>Non-determinism</a:t>
            </a:r>
            <a:r>
              <a:rPr lang="en-US" sz="1400" dirty="0">
                <a:latin typeface="Berkeley Mono" pitchFamily="49" charset="77"/>
              </a:rPr>
              <a:t> of system-level testing </a:t>
            </a:r>
            <a:r>
              <a:rPr lang="en-US" sz="1400" b="1" dirty="0">
                <a:solidFill>
                  <a:srgbClr val="C00000"/>
                </a:solidFill>
                <a:latin typeface="Berkeley Mono" pitchFamily="49" charset="77"/>
              </a:rPr>
              <a:t>arises from real-time communication</a:t>
            </a:r>
            <a:r>
              <a:rPr lang="en-US" sz="1400" dirty="0">
                <a:latin typeface="Berkeley Mono" pitchFamily="49" charset="77"/>
              </a:rPr>
              <a:t> between modules.</a:t>
            </a:r>
          </a:p>
          <a:p>
            <a:r>
              <a:rPr lang="en-US" sz="1400" dirty="0">
                <a:latin typeface="Berkeley Mono" pitchFamily="49" charset="77"/>
              </a:rPr>
              <a:t>* DeFT </a:t>
            </a:r>
            <a:r>
              <a:rPr lang="en-US" sz="1400" b="1" dirty="0">
                <a:solidFill>
                  <a:srgbClr val="C00000"/>
                </a:solidFill>
                <a:latin typeface="Berkeley Mono" pitchFamily="49" charset="77"/>
              </a:rPr>
              <a:t>extract module-level tests </a:t>
            </a:r>
            <a:r>
              <a:rPr lang="en-US" sz="1400" dirty="0">
                <a:latin typeface="Berkeley Mono" pitchFamily="49" charset="77"/>
              </a:rPr>
              <a:t>that </a:t>
            </a:r>
            <a:r>
              <a:rPr lang="en-US" sz="1400" b="1" dirty="0">
                <a:solidFill>
                  <a:srgbClr val="C00000"/>
                </a:solidFill>
                <a:latin typeface="Berkeley Mono" pitchFamily="49" charset="77"/>
              </a:rPr>
              <a:t>deterministically reproduces </a:t>
            </a:r>
            <a:r>
              <a:rPr lang="en-US" sz="1400" dirty="0">
                <a:latin typeface="Berkeley Mono" pitchFamily="49" charset="77"/>
              </a:rPr>
              <a:t>the planning module’s behavior.</a:t>
            </a:r>
          </a:p>
          <a:p>
            <a:r>
              <a:rPr lang="en-US" sz="1400" dirty="0">
                <a:latin typeface="Berkeley Mono" pitchFamily="49" charset="77"/>
              </a:rPr>
              <a:t>* The planning module’s outputs can be used to both </a:t>
            </a:r>
            <a:r>
              <a:rPr lang="en-US" sz="1400" b="1" dirty="0">
                <a:solidFill>
                  <a:srgbClr val="C00000"/>
                </a:solidFill>
                <a:latin typeface="Berkeley Mono" pitchFamily="49" charset="77"/>
              </a:rPr>
              <a:t>infer and validate</a:t>
            </a:r>
            <a:r>
              <a:rPr lang="en-US" sz="1400" dirty="0">
                <a:latin typeface="Berkeley Mono" pitchFamily="49" charset="77"/>
              </a:rPr>
              <a:t> its </a:t>
            </a:r>
            <a:r>
              <a:rPr lang="en-US" sz="1400" b="1" dirty="0">
                <a:solidFill>
                  <a:srgbClr val="C00000"/>
                </a:solidFill>
                <a:latin typeface="Berkeley Mono" pitchFamily="49" charset="77"/>
              </a:rPr>
              <a:t>reconstructed inputs</a:t>
            </a:r>
            <a:r>
              <a:rPr lang="en-US" sz="1400" dirty="0">
                <a:latin typeface="Berkeley Mono" pitchFamily="49" charset="77"/>
              </a:rPr>
              <a:t>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4FA1A73-C7DE-CC96-2D50-D98A32DACA86}"/>
              </a:ext>
            </a:extLst>
          </p:cNvPr>
          <p:cNvSpPr txBox="1"/>
          <p:nvPr/>
        </p:nvSpPr>
        <p:spPr>
          <a:xfrm>
            <a:off x="222930" y="5578860"/>
            <a:ext cx="5539977" cy="24622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erkeley Mono" pitchFamily="49" charset="77"/>
              </a:rPr>
              <a:t>Future Work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30D56A7-005A-0C3A-4874-E60872AD0126}"/>
              </a:ext>
            </a:extLst>
          </p:cNvPr>
          <p:cNvSpPr txBox="1"/>
          <p:nvPr/>
        </p:nvSpPr>
        <p:spPr>
          <a:xfrm>
            <a:off x="222930" y="5829257"/>
            <a:ext cx="5539977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erkeley Mono" pitchFamily="49" charset="77"/>
              </a:rPr>
              <a:t>* Differential Testing // measure output change</a:t>
            </a:r>
            <a:br>
              <a:rPr lang="en-US" sz="1400" dirty="0">
                <a:latin typeface="Berkeley Mono" pitchFamily="49" charset="77"/>
              </a:rPr>
            </a:br>
            <a:r>
              <a:rPr lang="en-US" sz="1400" dirty="0">
                <a:latin typeface="Berkeley Mono" pitchFamily="49" charset="77"/>
              </a:rPr>
              <a:t>* Mutation Testing // mutant killing capability</a:t>
            </a:r>
          </a:p>
        </p:txBody>
      </p:sp>
      <p:pic>
        <p:nvPicPr>
          <p:cNvPr id="109" name="Picture 16" descr="Profile photo for Yuqi Huai">
            <a:extLst>
              <a:ext uri="{FF2B5EF4-FFF2-40B4-BE49-F238E27FC236}">
                <a16:creationId xmlns:a16="http://schemas.microsoft.com/office/drawing/2014/main" id="{C74432CB-47C8-7089-415D-F18F10AE1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6" y="5612193"/>
            <a:ext cx="708480" cy="70848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03D82D51-0788-21E2-798A-26FAA70F0BEF}"/>
              </a:ext>
            </a:extLst>
          </p:cNvPr>
          <p:cNvSpPr txBox="1"/>
          <p:nvPr/>
        </p:nvSpPr>
        <p:spPr>
          <a:xfrm>
            <a:off x="6530300" y="5609820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keley Mono" pitchFamily="49" charset="77"/>
              </a:rPr>
              <a:t>Yuqi Huai &lt;</a:t>
            </a:r>
            <a:r>
              <a:rPr lang="en-US" sz="2000" dirty="0" err="1">
                <a:latin typeface="Berkeley Mono" pitchFamily="49" charset="77"/>
              </a:rPr>
              <a:t>yhuai@uci.edu</a:t>
            </a:r>
            <a:r>
              <a:rPr lang="en-US" sz="2000" dirty="0">
                <a:latin typeface="Berkeley Mono" pitchFamily="49" charset="77"/>
              </a:rPr>
              <a:t>&gt;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76E744E-7BE3-72DE-0818-64095B1ED806}"/>
              </a:ext>
            </a:extLst>
          </p:cNvPr>
          <p:cNvSpPr txBox="1"/>
          <p:nvPr/>
        </p:nvSpPr>
        <p:spPr>
          <a:xfrm>
            <a:off x="6527427" y="6009930"/>
            <a:ext cx="387798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Berkeley Mono" pitchFamily="49" charset="77"/>
              </a:rPr>
              <a:t>University of California, Irvine</a:t>
            </a:r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B9BE405E-F6D1-E5EA-6C93-EF18B58B2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3188" y="5649546"/>
            <a:ext cx="643258" cy="639854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814CA4B3-DDF8-BADD-AFAF-A17C7CB24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2262" y="5649433"/>
            <a:ext cx="643485" cy="640080"/>
          </a:xfrm>
          <a:prstGeom prst="rect">
            <a:avLst/>
          </a:prstGeom>
        </p:spPr>
      </p:pic>
      <p:sp>
        <p:nvSpPr>
          <p:cNvPr id="125" name="Rectangle 124">
            <a:extLst>
              <a:ext uri="{FF2B5EF4-FFF2-40B4-BE49-F238E27FC236}">
                <a16:creationId xmlns:a16="http://schemas.microsoft.com/office/drawing/2014/main" id="{BED8A20B-BDA5-9D37-86B9-8630B167A54D}"/>
              </a:ext>
            </a:extLst>
          </p:cNvPr>
          <p:cNvSpPr/>
          <p:nvPr/>
        </p:nvSpPr>
        <p:spPr>
          <a:xfrm>
            <a:off x="10507373" y="5586647"/>
            <a:ext cx="1514190" cy="76583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BC65511-B7BE-6C3C-07E3-C0663D8D92D3}"/>
              </a:ext>
            </a:extLst>
          </p:cNvPr>
          <p:cNvGrpSpPr/>
          <p:nvPr/>
        </p:nvGrpSpPr>
        <p:grpSpPr>
          <a:xfrm>
            <a:off x="224590" y="2774245"/>
            <a:ext cx="3657600" cy="1680092"/>
            <a:chOff x="224590" y="2774245"/>
            <a:chExt cx="3657600" cy="1680092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FFB4E16-4A96-2D3F-2527-A6CBDC0FB3EA}"/>
                </a:ext>
              </a:extLst>
            </p:cNvPr>
            <p:cNvSpPr/>
            <p:nvPr/>
          </p:nvSpPr>
          <p:spPr>
            <a:xfrm>
              <a:off x="224590" y="3174177"/>
              <a:ext cx="3657600" cy="1280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Module-tests can accurately reproduce planning behaviors.</a:t>
              </a:r>
            </a:p>
            <a:p>
              <a:pPr algn="ctr"/>
              <a:endParaRPr lang="en-US" sz="1000" dirty="0">
                <a:solidFill>
                  <a:schemeClr val="tx1"/>
                </a:solidFill>
                <a:latin typeface="Berkeley Mono" pitchFamily="49" charset="77"/>
              </a:endParaRPr>
            </a:p>
            <a:p>
              <a:pPr algn="ctr"/>
              <a:r>
                <a:rPr lang="en-US" sz="2000" strike="sngStrike" dirty="0">
                  <a:solidFill>
                    <a:schemeClr val="bg1">
                      <a:lumMod val="75000"/>
                    </a:schemeClr>
                  </a:solidFill>
                  <a:latin typeface="Berkeley Mono" pitchFamily="49" charset="77"/>
                </a:rPr>
                <a:t>0.005%</a:t>
              </a:r>
              <a: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  <a:t> -&gt; 97.16%</a:t>
              </a:r>
              <a:b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</a:br>
              <a: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  <a:t>Planning Reproduction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A3BC4C11-883E-C85D-7342-7888842F5763}"/>
                </a:ext>
              </a:extLst>
            </p:cNvPr>
            <p:cNvSpPr/>
            <p:nvPr/>
          </p:nvSpPr>
          <p:spPr>
            <a:xfrm>
              <a:off x="224590" y="2774245"/>
              <a:ext cx="3657600" cy="402336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Berkeley Mono" pitchFamily="49" charset="77"/>
                </a:rPr>
                <a:t>Realistic</a:t>
              </a: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C889D2D-0BD7-005B-49C7-E9FECB44F1CA}"/>
              </a:ext>
            </a:extLst>
          </p:cNvPr>
          <p:cNvGrpSpPr/>
          <p:nvPr/>
        </p:nvGrpSpPr>
        <p:grpSpPr>
          <a:xfrm>
            <a:off x="4291679" y="2774245"/>
            <a:ext cx="3657600" cy="1683487"/>
            <a:chOff x="4291679" y="2774245"/>
            <a:chExt cx="3657600" cy="1683487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10728113-61A7-6B36-6C6E-80732D259BA4}"/>
                </a:ext>
              </a:extLst>
            </p:cNvPr>
            <p:cNvSpPr/>
            <p:nvPr/>
          </p:nvSpPr>
          <p:spPr>
            <a:xfrm>
              <a:off x="4291679" y="3177572"/>
              <a:ext cx="3657600" cy="1280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Module-tests yield predictable results when the module-under-test is deterministic.</a:t>
              </a:r>
            </a:p>
            <a:p>
              <a:pPr algn="ctr"/>
              <a:endParaRPr lang="en-US" sz="1000" dirty="0">
                <a:solidFill>
                  <a:schemeClr val="tx1"/>
                </a:solidFill>
                <a:latin typeface="Berkeley Mono" pitchFamily="49" charset="77"/>
              </a:endParaRPr>
            </a:p>
            <a:p>
              <a:pPr algn="ctr"/>
              <a:r>
                <a:rPr lang="en-US" sz="2000" strike="sngStrike" dirty="0">
                  <a:solidFill>
                    <a:schemeClr val="bg1">
                      <a:lumMod val="75000"/>
                    </a:schemeClr>
                  </a:solidFill>
                  <a:latin typeface="Berkeley Mono" pitchFamily="49" charset="77"/>
                </a:rPr>
                <a:t>71.58%</a:t>
              </a:r>
              <a: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  <a:t> -&gt; 100% </a:t>
              </a:r>
              <a:b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</a:br>
              <a: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  <a:t>Failure Reproduction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CB2EF597-AD48-6A25-2797-3F06AC7C284C}"/>
                </a:ext>
              </a:extLst>
            </p:cNvPr>
            <p:cNvSpPr/>
            <p:nvPr/>
          </p:nvSpPr>
          <p:spPr>
            <a:xfrm>
              <a:off x="4291679" y="2774245"/>
              <a:ext cx="3657600" cy="402336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Berkeley Mono" pitchFamily="49" charset="77"/>
                </a:rPr>
                <a:t>Deterministic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96C0B089-D6C3-6228-5826-ACD7757A5B43}"/>
              </a:ext>
            </a:extLst>
          </p:cNvPr>
          <p:cNvGrpSpPr/>
          <p:nvPr/>
        </p:nvGrpSpPr>
        <p:grpSpPr>
          <a:xfrm>
            <a:off x="8365622" y="2774245"/>
            <a:ext cx="3657600" cy="1686261"/>
            <a:chOff x="8365622" y="2774245"/>
            <a:chExt cx="3657600" cy="1686261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BFF59033-5F6F-61E6-50C1-9310B370BC79}"/>
                </a:ext>
              </a:extLst>
            </p:cNvPr>
            <p:cNvSpPr/>
            <p:nvPr/>
          </p:nvSpPr>
          <p:spPr>
            <a:xfrm>
              <a:off x="8365622" y="3180346"/>
              <a:ext cx="3657600" cy="1280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Berkeley Mono" pitchFamily="49" charset="77"/>
                </a:rPr>
                <a:t>Module-tests are faster to execute comparing to simulation.</a:t>
              </a:r>
            </a:p>
            <a:p>
              <a:pPr algn="ctr"/>
              <a:endParaRPr lang="en-US" sz="1000" dirty="0">
                <a:solidFill>
                  <a:schemeClr val="tx1"/>
                </a:solidFill>
                <a:latin typeface="Berkeley Mono" pitchFamily="49" charset="77"/>
              </a:endParaRP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  <a:t>5.67% – 12.86%</a:t>
              </a:r>
              <a:b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</a:br>
              <a:r>
                <a:rPr lang="en-US" sz="2000" dirty="0">
                  <a:solidFill>
                    <a:schemeClr val="tx1"/>
                  </a:solidFill>
                  <a:latin typeface="Berkeley Mono" pitchFamily="49" charset="77"/>
                </a:rPr>
                <a:t>Time Saving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4C1EF74F-E35E-4904-63C9-A294AE3008FB}"/>
                </a:ext>
              </a:extLst>
            </p:cNvPr>
            <p:cNvSpPr/>
            <p:nvPr/>
          </p:nvSpPr>
          <p:spPr>
            <a:xfrm>
              <a:off x="8365622" y="2774245"/>
              <a:ext cx="3657600" cy="402336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Berkeley Mono" pitchFamily="49" charset="77"/>
                </a:rPr>
                <a:t>Efficient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50918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2" grpId="0" animBg="1"/>
      <p:bldP spid="13" grpId="0" animBg="1"/>
      <p:bldP spid="14" grpId="0"/>
      <p:bldP spid="16" grpId="0" animBg="1"/>
      <p:bldP spid="18" grpId="0" animBg="1"/>
      <p:bldP spid="24" grpId="0"/>
      <p:bldP spid="25" grpId="0" animBg="1"/>
      <p:bldP spid="71" grpId="0" animBg="1"/>
      <p:bldP spid="72" grpId="0" animBg="1"/>
      <p:bldP spid="97" grpId="0" animBg="1"/>
      <p:bldP spid="98" grpId="0" animBg="1"/>
      <p:bldP spid="103" grpId="0" animBg="1"/>
      <p:bldP spid="104" grpId="0" animBg="1"/>
      <p:bldP spid="112" grpId="0"/>
      <p:bldP spid="114" grpId="0"/>
      <p:bldP spid="1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24088</TotalTime>
  <Words>4109</Words>
  <Application>Microsoft Macintosh PowerPoint</Application>
  <PresentationFormat>Widescreen</PresentationFormat>
  <Paragraphs>1534</Paragraphs>
  <Slides>51</Slides>
  <Notes>27</Notes>
  <HiddenSlides>7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Aptos</vt:lpstr>
      <vt:lpstr>Arial</vt:lpstr>
      <vt:lpstr>Berkeley Mono</vt:lpstr>
      <vt:lpstr>Cambria Math</vt:lpstr>
      <vt:lpstr>Office Theme</vt:lpstr>
      <vt:lpstr>Deterministic Frame-based Testing</vt:lpstr>
      <vt:lpstr>// Motivation</vt:lpstr>
      <vt:lpstr>// Motivation</vt:lpstr>
      <vt:lpstr>// Motivation</vt:lpstr>
      <vt:lpstr>// Motivation</vt:lpstr>
      <vt:lpstr>// Motivation</vt:lpstr>
      <vt:lpstr>// Motivation</vt:lpstr>
      <vt:lpstr>// Motivation</vt:lpstr>
      <vt:lpstr>// Motivation</vt:lpstr>
      <vt:lpstr>// Motivation</vt:lpstr>
      <vt:lpstr>// Motivation</vt:lpstr>
      <vt:lpstr>// Motivation</vt:lpstr>
      <vt:lpstr>// Preliminary Studies</vt:lpstr>
      <vt:lpstr>// Preliminary Studies</vt:lpstr>
      <vt:lpstr>// Preliminary Studies</vt:lpstr>
      <vt:lpstr>// Preliminary Studies</vt:lpstr>
      <vt:lpstr>// Preliminary Studies</vt:lpstr>
      <vt:lpstr>// Preliminary Studies</vt:lpstr>
      <vt:lpstr>// Preliminary Studies</vt:lpstr>
      <vt:lpstr>// Preliminary Studies</vt:lpstr>
      <vt:lpstr>// Preliminary Studies</vt:lpstr>
      <vt:lpstr>// Preliminary Studies</vt:lpstr>
      <vt:lpstr>// Preliminary Studies</vt:lpstr>
      <vt:lpstr>PowerPoint Presentation</vt:lpstr>
      <vt:lpstr>PowerPoint Presentation</vt:lpstr>
      <vt:lpstr>//</vt:lpstr>
      <vt:lpstr>//</vt:lpstr>
      <vt:lpstr>//</vt:lpstr>
      <vt:lpstr>//</vt:lpstr>
      <vt:lpstr>//</vt:lpstr>
      <vt:lpstr>//</vt:lpstr>
      <vt:lpstr>//</vt:lpstr>
      <vt:lpstr>//</vt:lpstr>
      <vt:lpstr>//</vt:lpstr>
      <vt:lpstr>// Evaluation</vt:lpstr>
      <vt:lpstr>// Evaluation</vt:lpstr>
      <vt:lpstr>// Evaluation</vt:lpstr>
      <vt:lpstr>// Evaluation</vt:lpstr>
      <vt:lpstr>// Evaluation</vt:lpstr>
      <vt:lpstr>// Evaluation</vt:lpstr>
      <vt:lpstr>// Evaluation</vt:lpstr>
      <vt:lpstr>// Evaluation</vt:lpstr>
      <vt:lpstr>// Evaluation</vt:lpstr>
      <vt:lpstr>// Evaluation</vt:lpstr>
      <vt:lpstr>// Evaluation</vt:lpstr>
      <vt:lpstr>// Evaluation</vt:lpstr>
      <vt:lpstr>// Evaluation</vt:lpstr>
      <vt:lpstr>// DeFT</vt:lpstr>
      <vt:lpstr>// DeFT In Action</vt:lpstr>
      <vt:lpstr>// DeFT In Action</vt:lpstr>
      <vt:lpstr>//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Yuqi Huai</dc:creator>
  <cp:lastModifiedBy>Yuqi Huai</cp:lastModifiedBy>
  <cp:revision>4464</cp:revision>
  <dcterms:created xsi:type="dcterms:W3CDTF">2026-03-06T22:33:28Z</dcterms:created>
  <dcterms:modified xsi:type="dcterms:W3CDTF">2026-04-15T18:17:28Z</dcterms:modified>
</cp:coreProperties>
</file>